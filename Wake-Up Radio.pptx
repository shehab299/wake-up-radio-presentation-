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6858000" cx="12192000"/>
  <p:notesSz cx="6858000" cy="12192000"/>
  <p:embeddedFontLst>
    <p:embeddedFont>
      <p:font typeface="Quattrocento Sans"/>
      <p:regular r:id="rId21"/>
      <p:bold r:id="rId22"/>
      <p:italic r:id="rId23"/>
      <p:boldItalic r:id="rId24"/>
    </p:embeddedFont>
    <p:embeddedFont>
      <p:font typeface="Coda"/>
      <p:regular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QuattrocentoSans-bold.fntdata"/><Relationship Id="rId21" Type="http://schemas.openxmlformats.org/officeDocument/2006/relationships/font" Target="fonts/QuattrocentoSans-regular.fntdata"/><Relationship Id="rId24" Type="http://schemas.openxmlformats.org/officeDocument/2006/relationships/font" Target="fonts/QuattrocentoSans-boldItalic.fntdata"/><Relationship Id="rId23" Type="http://schemas.openxmlformats.org/officeDocument/2006/relationships/font" Target="fonts/QuattrocentoSans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schemas.openxmlformats.org/officeDocument/2006/relationships/font" Target="fonts/Coda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" name="Google Shape;1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2" name="Google Shape;37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9" name="Google Shape;41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d6e8eb01c1_1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0" name="Google Shape;450;g3d6e8eb01c1_1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g3d6e8eb01c1_1_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7" name="Google Shape;47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d6e8eb01c1_1_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3" name="Google Shape;503;g3d6e8eb01c1_1_7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g3d6e8eb01c1_1_7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PTIST_MASTER">
  <p:cSld name="PPTIST_MASTER">
    <p:bg>
      <p:bgPr>
        <a:solidFill>
          <a:srgbClr val="FFFFF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5F5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 rot="720000">
            <a:off x="10111740" y="281940"/>
            <a:ext cx="1190625" cy="1190625"/>
          </a:xfrm>
          <a:custGeom>
            <a:rect b="b" l="l" r="r" t="t"/>
            <a:pathLst>
              <a:path extrusionOk="0" h="1190625" w="1190625">
                <a:moveTo>
                  <a:pt x="0" y="0"/>
                </a:moveTo>
                <a:lnTo>
                  <a:pt x="1190625" y="0"/>
                </a:lnTo>
                <a:lnTo>
                  <a:pt x="1190625" y="1190625"/>
                </a:lnTo>
                <a:lnTo>
                  <a:pt x="0" y="1190625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cap="flat" cmpd="sng" w="381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7150">
              <a:srgbClr val="2D3436"/>
            </a:outerShdw>
          </a:effectLst>
        </p:spPr>
      </p:sp>
      <p:sp>
        <p:nvSpPr>
          <p:cNvPr id="18" name="Google Shape;18;p4"/>
          <p:cNvSpPr/>
          <p:nvPr/>
        </p:nvSpPr>
        <p:spPr>
          <a:xfrm rot="-720000">
            <a:off x="538797" y="4653597"/>
            <a:ext cx="885825" cy="885825"/>
          </a:xfrm>
          <a:custGeom>
            <a:rect b="b" l="l" r="r" t="t"/>
            <a:pathLst>
              <a:path extrusionOk="0" h="885825" w="885825">
                <a:moveTo>
                  <a:pt x="0" y="0"/>
                </a:moveTo>
                <a:lnTo>
                  <a:pt x="885825" y="0"/>
                </a:lnTo>
                <a:lnTo>
                  <a:pt x="885825" y="885825"/>
                </a:lnTo>
                <a:lnTo>
                  <a:pt x="0" y="885825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cap="flat" cmpd="sng" w="381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7150">
              <a:srgbClr val="2D3436"/>
            </a:outerShdw>
          </a:effectLst>
        </p:spPr>
      </p:sp>
      <p:sp>
        <p:nvSpPr>
          <p:cNvPr id="19" name="Google Shape;19;p4"/>
          <p:cNvSpPr/>
          <p:nvPr/>
        </p:nvSpPr>
        <p:spPr>
          <a:xfrm rot="2700000">
            <a:off x="1380490" y="1380490"/>
            <a:ext cx="733425" cy="733425"/>
          </a:xfrm>
          <a:custGeom>
            <a:rect b="b" l="l" r="r" t="t"/>
            <a:pathLst>
              <a:path extrusionOk="0" h="733425" w="733425">
                <a:moveTo>
                  <a:pt x="0" y="0"/>
                </a:moveTo>
                <a:lnTo>
                  <a:pt x="733425" y="0"/>
                </a:lnTo>
                <a:lnTo>
                  <a:pt x="733425" y="733425"/>
                </a:lnTo>
                <a:lnTo>
                  <a:pt x="0" y="733425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cap="flat" cmpd="sng" w="381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7150">
              <a:srgbClr val="2D3436"/>
            </a:outerShdw>
          </a:effectLst>
        </p:spPr>
      </p:sp>
      <p:sp>
        <p:nvSpPr>
          <p:cNvPr id="20" name="Google Shape;20;p4"/>
          <p:cNvSpPr/>
          <p:nvPr/>
        </p:nvSpPr>
        <p:spPr>
          <a:xfrm rot="-360000">
            <a:off x="10042525" y="5470525"/>
            <a:ext cx="581025" cy="581025"/>
          </a:xfrm>
          <a:custGeom>
            <a:rect b="b" l="l" r="r" t="t"/>
            <a:pathLst>
              <a:path extrusionOk="0" h="581025" w="581025">
                <a:moveTo>
                  <a:pt x="0" y="0"/>
                </a:moveTo>
                <a:lnTo>
                  <a:pt x="581025" y="0"/>
                </a:lnTo>
                <a:lnTo>
                  <a:pt x="581025" y="581025"/>
                </a:lnTo>
                <a:lnTo>
                  <a:pt x="0" y="581025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cap="flat" cmpd="sng" w="381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7150">
              <a:srgbClr val="2D3436"/>
            </a:outerShdw>
          </a:effectLst>
        </p:spPr>
      </p:sp>
      <p:sp>
        <p:nvSpPr>
          <p:cNvPr id="21" name="Google Shape;21;p4"/>
          <p:cNvSpPr/>
          <p:nvPr/>
        </p:nvSpPr>
        <p:spPr>
          <a:xfrm>
            <a:off x="8534400" y="0"/>
            <a:ext cx="3657600" cy="6858000"/>
          </a:xfrm>
          <a:custGeom>
            <a:rect b="b" l="l" r="r" t="t"/>
            <a:pathLst>
              <a:path extrusionOk="0" h="6858000" w="3657600">
                <a:moveTo>
                  <a:pt x="0" y="0"/>
                </a:moveTo>
                <a:lnTo>
                  <a:pt x="3657600" y="0"/>
                </a:lnTo>
                <a:lnTo>
                  <a:pt x="36576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>
              <a:alpha val="20000"/>
            </a:srgbClr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0" y="6248400"/>
            <a:ext cx="12192000" cy="609600"/>
          </a:xfrm>
          <a:custGeom>
            <a:rect b="b" l="l" r="r" t="t"/>
            <a:pathLst>
              <a:path extrusionOk="0" h="609600" w="12192000">
                <a:moveTo>
                  <a:pt x="0" y="0"/>
                </a:moveTo>
                <a:lnTo>
                  <a:pt x="12192000" y="0"/>
                </a:lnTo>
                <a:lnTo>
                  <a:pt x="121920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2D3436"/>
          </a:solidFill>
          <a:ln>
            <a:noFill/>
          </a:ln>
        </p:spPr>
      </p:sp>
      <p:sp>
        <p:nvSpPr>
          <p:cNvPr id="23" name="Google Shape;23;p4"/>
          <p:cNvSpPr/>
          <p:nvPr/>
        </p:nvSpPr>
        <p:spPr>
          <a:xfrm>
            <a:off x="400050" y="1524000"/>
            <a:ext cx="1638300" cy="457200"/>
          </a:xfrm>
          <a:custGeom>
            <a:rect b="b" l="l" r="r" t="t"/>
            <a:pathLst>
              <a:path extrusionOk="0" h="457200" w="1638300">
                <a:moveTo>
                  <a:pt x="0" y="0"/>
                </a:moveTo>
                <a:lnTo>
                  <a:pt x="1638300" y="0"/>
                </a:lnTo>
                <a:lnTo>
                  <a:pt x="16383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cap="flat" cmpd="sng" w="508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7150">
              <a:srgbClr val="2D3436"/>
            </a:outerShdw>
          </a:effectLst>
        </p:spPr>
      </p:sp>
      <p:sp>
        <p:nvSpPr>
          <p:cNvPr id="24" name="Google Shape;24;p4"/>
          <p:cNvSpPr/>
          <p:nvPr/>
        </p:nvSpPr>
        <p:spPr>
          <a:xfrm>
            <a:off x="597035" y="1642455"/>
            <a:ext cx="1227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IEEE 802.11ba</a:t>
            </a:r>
            <a:endParaRPr b="0" i="0" sz="1800" u="none" cap="none" strike="noStrike"/>
          </a:p>
        </p:txBody>
      </p:sp>
      <p:sp>
        <p:nvSpPr>
          <p:cNvPr id="25" name="Google Shape;25;p4"/>
          <p:cNvSpPr/>
          <p:nvPr/>
        </p:nvSpPr>
        <p:spPr>
          <a:xfrm>
            <a:off x="381000" y="2381250"/>
            <a:ext cx="117729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2D3436"/>
                </a:solidFill>
                <a:latin typeface="Coda"/>
                <a:ea typeface="Coda"/>
                <a:cs typeface="Coda"/>
                <a:sym typeface="Coda"/>
              </a:rPr>
              <a:t>Wake-Up Radio</a:t>
            </a:r>
            <a:endParaRPr b="0" i="0" sz="1600" u="none" cap="none" strike="noStrike"/>
          </a:p>
        </p:txBody>
      </p:sp>
      <p:sp>
        <p:nvSpPr>
          <p:cNvPr id="26" name="Google Shape;26;p4"/>
          <p:cNvSpPr/>
          <p:nvPr/>
        </p:nvSpPr>
        <p:spPr>
          <a:xfrm>
            <a:off x="381000" y="3467100"/>
            <a:ext cx="1165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4ECDC4"/>
                </a:solidFill>
                <a:latin typeface="Coda"/>
                <a:ea typeface="Coda"/>
                <a:cs typeface="Coda"/>
                <a:sym typeface="Coda"/>
              </a:rPr>
              <a:t>Solving IoT's Power Paradox</a:t>
            </a:r>
            <a:endParaRPr b="0" i="0" sz="1600" u="none" cap="none" strike="noStrike"/>
          </a:p>
        </p:txBody>
      </p:sp>
      <p:sp>
        <p:nvSpPr>
          <p:cNvPr id="27" name="Google Shape;27;p4"/>
          <p:cNvSpPr/>
          <p:nvPr/>
        </p:nvSpPr>
        <p:spPr>
          <a:xfrm>
            <a:off x="390525" y="5286375"/>
            <a:ext cx="742950" cy="57150"/>
          </a:xfrm>
          <a:custGeom>
            <a:rect b="b" l="l" r="r" t="t"/>
            <a:pathLst>
              <a:path extrusionOk="0" h="57150" w="742950">
                <a:moveTo>
                  <a:pt x="0" y="0"/>
                </a:moveTo>
                <a:lnTo>
                  <a:pt x="742950" y="0"/>
                </a:lnTo>
                <a:lnTo>
                  <a:pt x="74295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cap="flat" cmpd="sng" w="254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4"/>
          <p:cNvSpPr/>
          <p:nvPr/>
        </p:nvSpPr>
        <p:spPr>
          <a:xfrm>
            <a:off x="1304925" y="5286375"/>
            <a:ext cx="590550" cy="57150"/>
          </a:xfrm>
          <a:custGeom>
            <a:rect b="b" l="l" r="r" t="t"/>
            <a:pathLst>
              <a:path extrusionOk="0" h="57150" w="590550">
                <a:moveTo>
                  <a:pt x="0" y="0"/>
                </a:moveTo>
                <a:lnTo>
                  <a:pt x="590550" y="0"/>
                </a:lnTo>
                <a:lnTo>
                  <a:pt x="59055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cap="flat" cmpd="sng" w="254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4"/>
          <p:cNvSpPr/>
          <p:nvPr/>
        </p:nvSpPr>
        <p:spPr>
          <a:xfrm>
            <a:off x="2066925" y="5286375"/>
            <a:ext cx="438150" cy="57150"/>
          </a:xfrm>
          <a:custGeom>
            <a:rect b="b" l="l" r="r" t="t"/>
            <a:pathLst>
              <a:path extrusionOk="0" h="57150" w="438150">
                <a:moveTo>
                  <a:pt x="0" y="0"/>
                </a:moveTo>
                <a:lnTo>
                  <a:pt x="438150" y="0"/>
                </a:lnTo>
                <a:lnTo>
                  <a:pt x="43815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cap="flat" cmpd="sng" w="254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5F5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/>
          <p:nvPr/>
        </p:nvSpPr>
        <p:spPr>
          <a:xfrm rot="720000">
            <a:off x="10622311" y="214506"/>
            <a:ext cx="1012902" cy="1012902"/>
          </a:xfrm>
          <a:custGeom>
            <a:rect b="b" l="l" r="r" t="t"/>
            <a:pathLst>
              <a:path extrusionOk="0" h="1012902" w="1012902">
                <a:moveTo>
                  <a:pt x="0" y="0"/>
                </a:moveTo>
                <a:lnTo>
                  <a:pt x="1012902" y="0"/>
                </a:lnTo>
                <a:lnTo>
                  <a:pt x="1012902" y="1012902"/>
                </a:lnTo>
                <a:lnTo>
                  <a:pt x="0" y="1012902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cap="flat" cmpd="sng" w="381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5756">
              <a:srgbClr val="2D3436"/>
            </a:outerShdw>
          </a:effectLst>
        </p:spPr>
      </p:sp>
      <p:sp>
        <p:nvSpPr>
          <p:cNvPr id="36" name="Google Shape;36;p5"/>
          <p:cNvSpPr/>
          <p:nvPr/>
        </p:nvSpPr>
        <p:spPr>
          <a:xfrm rot="2700000">
            <a:off x="9703884" y="1080274"/>
            <a:ext cx="566854" cy="566854"/>
          </a:xfrm>
          <a:custGeom>
            <a:rect b="b" l="l" r="r" t="t"/>
            <a:pathLst>
              <a:path extrusionOk="0" h="566854" w="566854">
                <a:moveTo>
                  <a:pt x="0" y="0"/>
                </a:moveTo>
                <a:lnTo>
                  <a:pt x="566854" y="0"/>
                </a:lnTo>
                <a:lnTo>
                  <a:pt x="566854" y="566854"/>
                </a:lnTo>
                <a:lnTo>
                  <a:pt x="0" y="566854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cap="flat" cmpd="sng" w="381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5756">
              <a:srgbClr val="2D3436"/>
            </a:outerShdw>
          </a:effectLst>
        </p:spPr>
      </p:sp>
      <p:sp>
        <p:nvSpPr>
          <p:cNvPr id="37" name="Google Shape;37;p5"/>
          <p:cNvSpPr/>
          <p:nvPr/>
        </p:nvSpPr>
        <p:spPr>
          <a:xfrm>
            <a:off x="306659" y="6421244"/>
            <a:ext cx="1170878" cy="130098"/>
          </a:xfrm>
          <a:custGeom>
            <a:rect b="b" l="l" r="r" t="t"/>
            <a:pathLst>
              <a:path extrusionOk="0" h="130098" w="1170878">
                <a:moveTo>
                  <a:pt x="0" y="0"/>
                </a:moveTo>
                <a:lnTo>
                  <a:pt x="1170878" y="0"/>
                </a:lnTo>
                <a:lnTo>
                  <a:pt x="1170878" y="130098"/>
                </a:lnTo>
                <a:lnTo>
                  <a:pt x="0" y="130098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cap="flat" cmpd="sng" w="254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p5"/>
          <p:cNvSpPr/>
          <p:nvPr/>
        </p:nvSpPr>
        <p:spPr>
          <a:xfrm>
            <a:off x="385646" y="385646"/>
            <a:ext cx="1291683" cy="399585"/>
          </a:xfrm>
          <a:custGeom>
            <a:rect b="b" l="l" r="r" t="t"/>
            <a:pathLst>
              <a:path extrusionOk="0" h="399585" w="1291683">
                <a:moveTo>
                  <a:pt x="0" y="0"/>
                </a:moveTo>
                <a:lnTo>
                  <a:pt x="1291683" y="0"/>
                </a:lnTo>
                <a:lnTo>
                  <a:pt x="1291683" y="399585"/>
                </a:lnTo>
                <a:lnTo>
                  <a:pt x="0" y="399585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cap="flat" cmpd="sng" w="381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5756">
              <a:srgbClr val="2D3436"/>
            </a:outerShdw>
          </a:effectLst>
        </p:spPr>
      </p:sp>
      <p:sp>
        <p:nvSpPr>
          <p:cNvPr id="39" name="Google Shape;39;p5"/>
          <p:cNvSpPr/>
          <p:nvPr/>
        </p:nvSpPr>
        <p:spPr>
          <a:xfrm>
            <a:off x="548268" y="497159"/>
            <a:ext cx="1043723" cy="176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71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PROBLEM</a:t>
            </a:r>
            <a:endParaRPr b="0" i="0" sz="1600" u="none" cap="none" strike="noStrike"/>
          </a:p>
        </p:txBody>
      </p:sp>
      <p:sp>
        <p:nvSpPr>
          <p:cNvPr id="40" name="Google Shape;40;p5"/>
          <p:cNvSpPr/>
          <p:nvPr/>
        </p:nvSpPr>
        <p:spPr>
          <a:xfrm>
            <a:off x="371707" y="910683"/>
            <a:ext cx="11671610" cy="44604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12" u="none" cap="none" strike="noStrike">
                <a:solidFill>
                  <a:srgbClr val="2D3436"/>
                </a:solidFill>
                <a:latin typeface="Coda"/>
                <a:ea typeface="Coda"/>
                <a:cs typeface="Coda"/>
                <a:sym typeface="Coda"/>
              </a:rPr>
              <a:t>A $120 Smart Smoke Detector</a:t>
            </a:r>
            <a:endParaRPr b="0" i="0" sz="1600" u="none" cap="none" strike="noStrike"/>
          </a:p>
        </p:txBody>
      </p:sp>
      <p:sp>
        <p:nvSpPr>
          <p:cNvPr id="41" name="Google Shape;41;p5"/>
          <p:cNvSpPr/>
          <p:nvPr/>
        </p:nvSpPr>
        <p:spPr>
          <a:xfrm>
            <a:off x="1691268" y="2601951"/>
            <a:ext cx="2936488" cy="2936488"/>
          </a:xfrm>
          <a:custGeom>
            <a:rect b="b" l="l" r="r" t="t"/>
            <a:pathLst>
              <a:path extrusionOk="0" h="2936488" w="2936488">
                <a:moveTo>
                  <a:pt x="0" y="0"/>
                </a:moveTo>
                <a:lnTo>
                  <a:pt x="2936488" y="0"/>
                </a:lnTo>
                <a:lnTo>
                  <a:pt x="2936488" y="2936488"/>
                </a:lnTo>
                <a:lnTo>
                  <a:pt x="0" y="293648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flat" cmpd="sng" w="508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5756">
              <a:srgbClr val="2D3436"/>
            </a:outerShdw>
          </a:effectLst>
        </p:spPr>
      </p:sp>
      <p:pic>
        <p:nvPicPr>
          <p:cNvPr descr="https://kimi-web-img.moonshot.cn/img/www.lupus-electronics.de/e0a29d342a3223a517f21f2766be61226b83b7ae.jpg" id="42" name="Google Shape;4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09854" y="2620537"/>
            <a:ext cx="2899317" cy="2899317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43" name="Google Shape;43;p5"/>
          <p:cNvSpPr/>
          <p:nvPr/>
        </p:nvSpPr>
        <p:spPr>
          <a:xfrm rot="360000">
            <a:off x="4046034" y="2411142"/>
            <a:ext cx="715537" cy="436756"/>
          </a:xfrm>
          <a:custGeom>
            <a:rect b="b" l="l" r="r" t="t"/>
            <a:pathLst>
              <a:path extrusionOk="0" h="436756" w="715537">
                <a:moveTo>
                  <a:pt x="0" y="0"/>
                </a:moveTo>
                <a:lnTo>
                  <a:pt x="715537" y="0"/>
                </a:lnTo>
                <a:lnTo>
                  <a:pt x="715537" y="436756"/>
                </a:lnTo>
                <a:lnTo>
                  <a:pt x="0" y="436756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cap="flat" cmpd="sng" w="381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5756">
              <a:srgbClr val="2D3436"/>
            </a:outerShdw>
          </a:effectLst>
        </p:spPr>
      </p:sp>
      <p:sp>
        <p:nvSpPr>
          <p:cNvPr id="44" name="Google Shape;44;p5"/>
          <p:cNvSpPr/>
          <p:nvPr/>
        </p:nvSpPr>
        <p:spPr>
          <a:xfrm rot="360000">
            <a:off x="4032095" y="2397203"/>
            <a:ext cx="780585" cy="408878"/>
          </a:xfrm>
          <a:prstGeom prst="rect">
            <a:avLst/>
          </a:prstGeom>
          <a:noFill/>
          <a:ln>
            <a:noFill/>
          </a:ln>
        </p:spPr>
        <p:txBody>
          <a:bodyPr anchorCtr="0" anchor="ctr" bIns="74325" lIns="148675" spcFirstLastPara="1" rIns="148675" wrap="square" tIns="7432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63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$120</a:t>
            </a:r>
            <a:endParaRPr b="0" i="0" sz="1600" u="none" cap="none" strike="noStrike"/>
          </a:p>
        </p:txBody>
      </p:sp>
      <p:sp>
        <p:nvSpPr>
          <p:cNvPr id="45" name="Google Shape;45;p5"/>
          <p:cNvSpPr/>
          <p:nvPr/>
        </p:nvSpPr>
        <p:spPr>
          <a:xfrm>
            <a:off x="6263268" y="2341756"/>
            <a:ext cx="5538439" cy="1226634"/>
          </a:xfrm>
          <a:custGeom>
            <a:rect b="b" l="l" r="r" t="t"/>
            <a:pathLst>
              <a:path extrusionOk="0" h="1226634" w="5538439">
                <a:moveTo>
                  <a:pt x="0" y="0"/>
                </a:moveTo>
                <a:lnTo>
                  <a:pt x="5538439" y="0"/>
                </a:lnTo>
                <a:lnTo>
                  <a:pt x="5538439" y="1226634"/>
                </a:lnTo>
                <a:lnTo>
                  <a:pt x="0" y="122663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flat" cmpd="sng" w="508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5756">
              <a:srgbClr val="2D3436"/>
            </a:outerShdw>
          </a:effectLst>
        </p:spPr>
      </p:sp>
      <p:sp>
        <p:nvSpPr>
          <p:cNvPr id="46" name="Google Shape;46;p5"/>
          <p:cNvSpPr/>
          <p:nvPr/>
        </p:nvSpPr>
        <p:spPr>
          <a:xfrm>
            <a:off x="6481646" y="2560134"/>
            <a:ext cx="418171" cy="418171"/>
          </a:xfrm>
          <a:custGeom>
            <a:rect b="b" l="l" r="r" t="t"/>
            <a:pathLst>
              <a:path extrusionOk="0" h="418171" w="418171">
                <a:moveTo>
                  <a:pt x="0" y="0"/>
                </a:moveTo>
                <a:lnTo>
                  <a:pt x="418171" y="0"/>
                </a:lnTo>
                <a:lnTo>
                  <a:pt x="418171" y="418171"/>
                </a:lnTo>
                <a:lnTo>
                  <a:pt x="0" y="418171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cap="flat" cmpd="sng" w="381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5756">
              <a:srgbClr val="2D3436"/>
            </a:outerShdw>
          </a:effectLst>
        </p:spPr>
      </p:sp>
      <p:sp>
        <p:nvSpPr>
          <p:cNvPr id="47" name="Google Shape;47;p5"/>
          <p:cNvSpPr/>
          <p:nvPr/>
        </p:nvSpPr>
        <p:spPr>
          <a:xfrm>
            <a:off x="6586189" y="2676293"/>
            <a:ext cx="209085" cy="185854"/>
          </a:xfrm>
          <a:custGeom>
            <a:rect b="b" l="l" r="r" t="t"/>
            <a:pathLst>
              <a:path extrusionOk="0" h="185854" w="209085">
                <a:moveTo>
                  <a:pt x="104543" y="34848"/>
                </a:moveTo>
                <a:cubicBezTo>
                  <a:pt x="71546" y="34848"/>
                  <a:pt x="41672" y="47915"/>
                  <a:pt x="19711" y="69187"/>
                </a:cubicBezTo>
                <a:cubicBezTo>
                  <a:pt x="15101" y="73652"/>
                  <a:pt x="7732" y="73543"/>
                  <a:pt x="3303" y="68933"/>
                </a:cubicBezTo>
                <a:cubicBezTo>
                  <a:pt x="-1125" y="64323"/>
                  <a:pt x="-1053" y="56954"/>
                  <a:pt x="3557" y="52525"/>
                </a:cubicBezTo>
                <a:cubicBezTo>
                  <a:pt x="29657" y="27188"/>
                  <a:pt x="65303" y="11616"/>
                  <a:pt x="104543" y="11616"/>
                </a:cubicBezTo>
                <a:cubicBezTo>
                  <a:pt x="143782" y="11616"/>
                  <a:pt x="179429" y="27188"/>
                  <a:pt x="205564" y="52525"/>
                </a:cubicBezTo>
                <a:cubicBezTo>
                  <a:pt x="210174" y="56990"/>
                  <a:pt x="210283" y="64359"/>
                  <a:pt x="205818" y="68933"/>
                </a:cubicBezTo>
                <a:cubicBezTo>
                  <a:pt x="201354" y="73507"/>
                  <a:pt x="193985" y="73652"/>
                  <a:pt x="189411" y="69187"/>
                </a:cubicBezTo>
                <a:cubicBezTo>
                  <a:pt x="167413" y="47915"/>
                  <a:pt x="137539" y="34848"/>
                  <a:pt x="104543" y="34848"/>
                </a:cubicBezTo>
                <a:close/>
                <a:moveTo>
                  <a:pt x="87119" y="156814"/>
                </a:moveTo>
                <a:cubicBezTo>
                  <a:pt x="87119" y="147198"/>
                  <a:pt x="94926" y="139390"/>
                  <a:pt x="104543" y="139390"/>
                </a:cubicBezTo>
                <a:cubicBezTo>
                  <a:pt x="114159" y="139390"/>
                  <a:pt x="121966" y="147198"/>
                  <a:pt x="121966" y="156814"/>
                </a:cubicBezTo>
                <a:cubicBezTo>
                  <a:pt x="121966" y="166430"/>
                  <a:pt x="114159" y="174238"/>
                  <a:pt x="104543" y="174238"/>
                </a:cubicBezTo>
                <a:cubicBezTo>
                  <a:pt x="94926" y="174238"/>
                  <a:pt x="87119" y="166430"/>
                  <a:pt x="87119" y="156814"/>
                </a:cubicBezTo>
                <a:close/>
                <a:moveTo>
                  <a:pt x="60983" y="118409"/>
                </a:moveTo>
                <a:cubicBezTo>
                  <a:pt x="56736" y="123237"/>
                  <a:pt x="49404" y="123673"/>
                  <a:pt x="44576" y="119425"/>
                </a:cubicBezTo>
                <a:cubicBezTo>
                  <a:pt x="39748" y="115178"/>
                  <a:pt x="39312" y="107846"/>
                  <a:pt x="43559" y="103018"/>
                </a:cubicBezTo>
                <a:cubicBezTo>
                  <a:pt x="58442" y="86175"/>
                  <a:pt x="80258" y="75503"/>
                  <a:pt x="104543" y="75503"/>
                </a:cubicBezTo>
                <a:cubicBezTo>
                  <a:pt x="128827" y="75503"/>
                  <a:pt x="150643" y="86175"/>
                  <a:pt x="165526" y="103018"/>
                </a:cubicBezTo>
                <a:cubicBezTo>
                  <a:pt x="169773" y="107846"/>
                  <a:pt x="169301" y="115178"/>
                  <a:pt x="164510" y="119425"/>
                </a:cubicBezTo>
                <a:cubicBezTo>
                  <a:pt x="159718" y="123673"/>
                  <a:pt x="152349" y="123201"/>
                  <a:pt x="148102" y="118409"/>
                </a:cubicBezTo>
                <a:cubicBezTo>
                  <a:pt x="137430" y="106321"/>
                  <a:pt x="121894" y="98735"/>
                  <a:pt x="104543" y="98735"/>
                </a:cubicBezTo>
                <a:cubicBezTo>
                  <a:pt x="87192" y="98735"/>
                  <a:pt x="71655" y="106321"/>
                  <a:pt x="60983" y="11840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5"/>
          <p:cNvSpPr/>
          <p:nvPr/>
        </p:nvSpPr>
        <p:spPr>
          <a:xfrm>
            <a:off x="6983075" y="2559450"/>
            <a:ext cx="4578900" cy="2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63">
                <a:solidFill>
                  <a:srgbClr val="2D3436"/>
                </a:solidFill>
                <a:latin typeface="Coda"/>
                <a:ea typeface="Coda"/>
                <a:cs typeface="Coda"/>
                <a:sym typeface="Coda"/>
              </a:rPr>
              <a:t> </a:t>
            </a:r>
            <a:r>
              <a:rPr b="1" i="0" lang="en-US" sz="1463" u="none" cap="none" strike="noStrike">
                <a:solidFill>
                  <a:srgbClr val="2D3436"/>
                </a:solidFill>
                <a:latin typeface="Coda"/>
                <a:ea typeface="Coda"/>
                <a:cs typeface="Coda"/>
                <a:sym typeface="Coda"/>
              </a:rPr>
              <a:t> Features</a:t>
            </a:r>
            <a:endParaRPr b="0" i="0" sz="1600" u="none" cap="none" strike="noStrike"/>
          </a:p>
        </p:txBody>
      </p:sp>
      <p:sp>
        <p:nvSpPr>
          <p:cNvPr id="49" name="Google Shape;49;p5"/>
          <p:cNvSpPr/>
          <p:nvPr/>
        </p:nvSpPr>
        <p:spPr>
          <a:xfrm>
            <a:off x="7062439" y="2880732"/>
            <a:ext cx="46092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1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Connects to WiFi, detects smoke, sends notifications to your phone—everything you'd expect from a modern IoT device.</a:t>
            </a:r>
            <a:endParaRPr b="0" i="0" sz="1600" u="none" cap="none" strike="noStrike"/>
          </a:p>
        </p:txBody>
      </p:sp>
      <p:sp>
        <p:nvSpPr>
          <p:cNvPr id="50" name="Google Shape;50;p5"/>
          <p:cNvSpPr/>
          <p:nvPr/>
        </p:nvSpPr>
        <p:spPr>
          <a:xfrm>
            <a:off x="6263275" y="3791423"/>
            <a:ext cx="5538439" cy="1021173"/>
          </a:xfrm>
          <a:custGeom>
            <a:rect b="b" l="l" r="r" t="t"/>
            <a:pathLst>
              <a:path extrusionOk="0" h="1226634" w="5538439">
                <a:moveTo>
                  <a:pt x="0" y="0"/>
                </a:moveTo>
                <a:lnTo>
                  <a:pt x="5538439" y="0"/>
                </a:lnTo>
                <a:lnTo>
                  <a:pt x="5538439" y="1226634"/>
                </a:lnTo>
                <a:lnTo>
                  <a:pt x="0" y="1226634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cap="flat" cmpd="sng" w="508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5756">
              <a:srgbClr val="2D3436"/>
            </a:outerShdw>
          </a:effectLst>
        </p:spPr>
      </p:sp>
      <p:sp>
        <p:nvSpPr>
          <p:cNvPr id="51" name="Google Shape;51;p5"/>
          <p:cNvSpPr/>
          <p:nvPr/>
        </p:nvSpPr>
        <p:spPr>
          <a:xfrm>
            <a:off x="6481646" y="4009793"/>
            <a:ext cx="418171" cy="418171"/>
          </a:xfrm>
          <a:custGeom>
            <a:rect b="b" l="l" r="r" t="t"/>
            <a:pathLst>
              <a:path extrusionOk="0" h="418171" w="418171">
                <a:moveTo>
                  <a:pt x="0" y="0"/>
                </a:moveTo>
                <a:lnTo>
                  <a:pt x="418171" y="0"/>
                </a:lnTo>
                <a:lnTo>
                  <a:pt x="418171" y="418171"/>
                </a:lnTo>
                <a:lnTo>
                  <a:pt x="0" y="41817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flat" cmpd="sng" w="381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5756">
              <a:srgbClr val="2D3436"/>
            </a:outerShdw>
          </a:effectLst>
        </p:spPr>
      </p:sp>
      <p:sp>
        <p:nvSpPr>
          <p:cNvPr id="52" name="Google Shape;52;p5"/>
          <p:cNvSpPr/>
          <p:nvPr/>
        </p:nvSpPr>
        <p:spPr>
          <a:xfrm>
            <a:off x="6574573" y="4125951"/>
            <a:ext cx="232317" cy="185854"/>
          </a:xfrm>
          <a:custGeom>
            <a:rect b="b" l="l" r="r" t="t"/>
            <a:pathLst>
              <a:path extrusionOk="0" h="185854" w="232317">
                <a:moveTo>
                  <a:pt x="191662" y="46463"/>
                </a:moveTo>
                <a:cubicBezTo>
                  <a:pt x="194856" y="46463"/>
                  <a:pt x="197470" y="49077"/>
                  <a:pt x="197470" y="52271"/>
                </a:cubicBezTo>
                <a:lnTo>
                  <a:pt x="197470" y="133582"/>
                </a:lnTo>
                <a:cubicBezTo>
                  <a:pt x="197470" y="136777"/>
                  <a:pt x="194856" y="139390"/>
                  <a:pt x="191662" y="139390"/>
                </a:cubicBezTo>
                <a:lnTo>
                  <a:pt x="40655" y="139390"/>
                </a:lnTo>
                <a:cubicBezTo>
                  <a:pt x="37461" y="139390"/>
                  <a:pt x="34848" y="136777"/>
                  <a:pt x="34848" y="133582"/>
                </a:cubicBezTo>
                <a:lnTo>
                  <a:pt x="34848" y="52271"/>
                </a:lnTo>
                <a:cubicBezTo>
                  <a:pt x="34848" y="49077"/>
                  <a:pt x="37461" y="46463"/>
                  <a:pt x="40655" y="46463"/>
                </a:cubicBezTo>
                <a:lnTo>
                  <a:pt x="191662" y="46463"/>
                </a:lnTo>
                <a:close/>
                <a:moveTo>
                  <a:pt x="40655" y="23232"/>
                </a:moveTo>
                <a:cubicBezTo>
                  <a:pt x="24611" y="23232"/>
                  <a:pt x="11616" y="36227"/>
                  <a:pt x="11616" y="52271"/>
                </a:cubicBezTo>
                <a:lnTo>
                  <a:pt x="11616" y="133582"/>
                </a:lnTo>
                <a:cubicBezTo>
                  <a:pt x="11616" y="149627"/>
                  <a:pt x="24611" y="162622"/>
                  <a:pt x="40655" y="162622"/>
                </a:cubicBezTo>
                <a:lnTo>
                  <a:pt x="191662" y="162622"/>
                </a:lnTo>
                <a:cubicBezTo>
                  <a:pt x="207706" y="162622"/>
                  <a:pt x="220701" y="149627"/>
                  <a:pt x="220701" y="133582"/>
                </a:cubicBezTo>
                <a:lnTo>
                  <a:pt x="220701" y="116159"/>
                </a:lnTo>
                <a:cubicBezTo>
                  <a:pt x="227126" y="116159"/>
                  <a:pt x="232317" y="110968"/>
                  <a:pt x="232317" y="104543"/>
                </a:cubicBezTo>
                <a:lnTo>
                  <a:pt x="232317" y="81311"/>
                </a:lnTo>
                <a:cubicBezTo>
                  <a:pt x="232317" y="74886"/>
                  <a:pt x="227126" y="69695"/>
                  <a:pt x="220701" y="69695"/>
                </a:cubicBezTo>
                <a:lnTo>
                  <a:pt x="220701" y="52271"/>
                </a:lnTo>
                <a:cubicBezTo>
                  <a:pt x="220701" y="36227"/>
                  <a:pt x="207706" y="23232"/>
                  <a:pt x="191662" y="23232"/>
                </a:cubicBezTo>
                <a:lnTo>
                  <a:pt x="40655" y="23232"/>
                </a:lnTo>
                <a:close/>
                <a:moveTo>
                  <a:pt x="60983" y="63887"/>
                </a:moveTo>
                <a:cubicBezTo>
                  <a:pt x="56155" y="63887"/>
                  <a:pt x="52271" y="67771"/>
                  <a:pt x="52271" y="72599"/>
                </a:cubicBezTo>
                <a:lnTo>
                  <a:pt x="52271" y="113255"/>
                </a:lnTo>
                <a:cubicBezTo>
                  <a:pt x="52271" y="118082"/>
                  <a:pt x="56155" y="121966"/>
                  <a:pt x="60983" y="121966"/>
                </a:cubicBezTo>
                <a:lnTo>
                  <a:pt x="84215" y="121966"/>
                </a:lnTo>
                <a:cubicBezTo>
                  <a:pt x="89043" y="121966"/>
                  <a:pt x="92927" y="118082"/>
                  <a:pt x="92927" y="113255"/>
                </a:cubicBezTo>
                <a:lnTo>
                  <a:pt x="92927" y="72599"/>
                </a:lnTo>
                <a:cubicBezTo>
                  <a:pt x="92927" y="67771"/>
                  <a:pt x="89043" y="63887"/>
                  <a:pt x="84215" y="63887"/>
                </a:cubicBezTo>
                <a:lnTo>
                  <a:pt x="60983" y="63887"/>
                </a:lnTo>
                <a:close/>
              </a:path>
            </a:pathLst>
          </a:custGeom>
          <a:solidFill>
            <a:srgbClr val="FF6B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5"/>
          <p:cNvSpPr/>
          <p:nvPr/>
        </p:nvSpPr>
        <p:spPr>
          <a:xfrm>
            <a:off x="7062439" y="3995854"/>
            <a:ext cx="4627756" cy="26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63" u="none" cap="none" strike="noStrike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rPr>
              <a:t>The Fatal Flaw</a:t>
            </a:r>
            <a:endParaRPr b="0" i="0" sz="1600" u="none" cap="none" strike="noStrike">
              <a:solidFill>
                <a:schemeClr val="dk1"/>
              </a:solidFill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7050225" y="4138700"/>
            <a:ext cx="37935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71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When the battery dies, you cannot replace OR recharge it.</a:t>
            </a:r>
            <a:endParaRPr b="0" i="0" sz="1600" u="none" cap="none" strike="noStrike"/>
          </a:p>
        </p:txBody>
      </p:sp>
      <p:sp>
        <p:nvSpPr>
          <p:cNvPr id="55" name="Google Shape;55;p5"/>
          <p:cNvSpPr/>
          <p:nvPr/>
        </p:nvSpPr>
        <p:spPr>
          <a:xfrm>
            <a:off x="3326780" y="5993786"/>
            <a:ext cx="5538439" cy="557561"/>
          </a:xfrm>
          <a:custGeom>
            <a:rect b="b" l="l" r="r" t="t"/>
            <a:pathLst>
              <a:path extrusionOk="0" h="557561" w="5538439">
                <a:moveTo>
                  <a:pt x="0" y="0"/>
                </a:moveTo>
                <a:lnTo>
                  <a:pt x="5538439" y="0"/>
                </a:lnTo>
                <a:lnTo>
                  <a:pt x="5538439" y="557561"/>
                </a:lnTo>
                <a:lnTo>
                  <a:pt x="0" y="557561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cap="flat" cmpd="sng" w="508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5756">
              <a:srgbClr val="2D3436"/>
            </a:outerShdw>
          </a:effectLst>
        </p:spPr>
      </p:sp>
      <p:sp>
        <p:nvSpPr>
          <p:cNvPr id="56" name="Google Shape;56;p5"/>
          <p:cNvSpPr/>
          <p:nvPr/>
        </p:nvSpPr>
        <p:spPr>
          <a:xfrm>
            <a:off x="3577041" y="6161104"/>
            <a:ext cx="5037900" cy="2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71" u="none" cap="none" strike="noStrike">
                <a:solidFill>
                  <a:srgbClr val="2D3436"/>
                </a:solidFill>
                <a:latin typeface="Coda"/>
                <a:ea typeface="Coda"/>
                <a:cs typeface="Coda"/>
                <a:sym typeface="Coda"/>
              </a:rPr>
              <a:t>The real power drainer? The Radio Device (WIFI).</a:t>
            </a:r>
            <a:endParaRPr b="0" i="0" sz="1600" u="none" cap="none" strike="noStrike"/>
          </a:p>
        </p:txBody>
      </p:sp>
      <p:sp>
        <p:nvSpPr>
          <p:cNvPr id="57" name="Google Shape;57;p5"/>
          <p:cNvSpPr txBox="1"/>
          <p:nvPr/>
        </p:nvSpPr>
        <p:spPr>
          <a:xfrm>
            <a:off x="7633225" y="7540625"/>
            <a:ext cx="7315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5F5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6"/>
          <p:cNvSpPr/>
          <p:nvPr/>
        </p:nvSpPr>
        <p:spPr>
          <a:xfrm rot="721836">
            <a:off x="207155" y="124389"/>
            <a:ext cx="523453" cy="675712"/>
          </a:xfrm>
          <a:custGeom>
            <a:rect b="b" l="l" r="r" t="t"/>
            <a:pathLst>
              <a:path extrusionOk="0" h="839272" w="839272">
                <a:moveTo>
                  <a:pt x="0" y="0"/>
                </a:moveTo>
                <a:lnTo>
                  <a:pt x="839272" y="0"/>
                </a:lnTo>
                <a:lnTo>
                  <a:pt x="839272" y="839272"/>
                </a:lnTo>
                <a:lnTo>
                  <a:pt x="0" y="839272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cap="flat" cmpd="sng" w="381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4147">
              <a:srgbClr val="2D3436"/>
            </a:outerShdw>
          </a:effectLst>
        </p:spPr>
      </p:sp>
      <p:sp>
        <p:nvSpPr>
          <p:cNvPr id="64" name="Google Shape;64;p6"/>
          <p:cNvSpPr/>
          <p:nvPr/>
        </p:nvSpPr>
        <p:spPr>
          <a:xfrm rot="-720000">
            <a:off x="812650" y="5360961"/>
            <a:ext cx="694881" cy="694881"/>
          </a:xfrm>
          <a:custGeom>
            <a:rect b="b" l="l" r="r" t="t"/>
            <a:pathLst>
              <a:path extrusionOk="0" h="694881" w="694881">
                <a:moveTo>
                  <a:pt x="0" y="0"/>
                </a:moveTo>
                <a:lnTo>
                  <a:pt x="694881" y="0"/>
                </a:lnTo>
                <a:lnTo>
                  <a:pt x="694881" y="694881"/>
                </a:lnTo>
                <a:lnTo>
                  <a:pt x="0" y="694881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cap="flat" cmpd="sng" w="381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4147">
              <a:srgbClr val="2D3436"/>
            </a:outerShdw>
          </a:effectLst>
        </p:spPr>
      </p:sp>
      <p:sp>
        <p:nvSpPr>
          <p:cNvPr id="65" name="Google Shape;65;p6"/>
          <p:cNvSpPr/>
          <p:nvPr/>
        </p:nvSpPr>
        <p:spPr>
          <a:xfrm>
            <a:off x="374514" y="310156"/>
            <a:ext cx="1416835" cy="388050"/>
          </a:xfrm>
          <a:custGeom>
            <a:rect b="b" l="l" r="r" t="t"/>
            <a:pathLst>
              <a:path extrusionOk="0" h="388050" w="1416835">
                <a:moveTo>
                  <a:pt x="0" y="0"/>
                </a:moveTo>
                <a:lnTo>
                  <a:pt x="1416835" y="0"/>
                </a:lnTo>
                <a:lnTo>
                  <a:pt x="1416835" y="388050"/>
                </a:lnTo>
                <a:lnTo>
                  <a:pt x="0" y="38805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cap="flat" cmpd="sng" w="381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4147">
              <a:srgbClr val="2D3436"/>
            </a:outerShdw>
          </a:effectLst>
        </p:spPr>
      </p:sp>
      <p:sp>
        <p:nvSpPr>
          <p:cNvPr id="66" name="Google Shape;66;p6"/>
          <p:cNvSpPr/>
          <p:nvPr/>
        </p:nvSpPr>
        <p:spPr>
          <a:xfrm>
            <a:off x="532441" y="418449"/>
            <a:ext cx="11772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37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CHALLENGE</a:t>
            </a:r>
            <a:endParaRPr b="0" i="0" sz="1600" u="none" cap="none" strike="noStrike"/>
          </a:p>
        </p:txBody>
      </p:sp>
      <p:sp>
        <p:nvSpPr>
          <p:cNvPr id="67" name="Google Shape;67;p6"/>
          <p:cNvSpPr/>
          <p:nvPr/>
        </p:nvSpPr>
        <p:spPr>
          <a:xfrm>
            <a:off x="360976" y="987375"/>
            <a:ext cx="51801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11" u="none" cap="none" strike="noStrike">
                <a:solidFill>
                  <a:srgbClr val="2D3436"/>
                </a:solidFill>
                <a:latin typeface="Coda"/>
                <a:ea typeface="Coda"/>
                <a:cs typeface="Coda"/>
                <a:sym typeface="Coda"/>
              </a:rPr>
              <a:t>The Engineering Tradeoff</a:t>
            </a:r>
            <a:endParaRPr b="1" i="0" sz="1600" u="none" cap="none" strike="noStrike"/>
          </a:p>
        </p:txBody>
      </p:sp>
      <p:sp>
        <p:nvSpPr>
          <p:cNvPr id="68" name="Google Shape;68;p6"/>
          <p:cNvSpPr/>
          <p:nvPr/>
        </p:nvSpPr>
        <p:spPr>
          <a:xfrm>
            <a:off x="379026" y="1552201"/>
            <a:ext cx="11433948" cy="2698303"/>
          </a:xfrm>
          <a:custGeom>
            <a:rect b="b" l="l" r="r" t="t"/>
            <a:pathLst>
              <a:path extrusionOk="0" h="2698303" w="11433948">
                <a:moveTo>
                  <a:pt x="0" y="0"/>
                </a:moveTo>
                <a:lnTo>
                  <a:pt x="11433948" y="0"/>
                </a:lnTo>
                <a:lnTo>
                  <a:pt x="11433948" y="2698303"/>
                </a:lnTo>
                <a:lnTo>
                  <a:pt x="0" y="269830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flat" cmpd="sng" w="508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4147">
              <a:srgbClr val="2D3436"/>
            </a:outerShdw>
          </a:effectLst>
        </p:spPr>
      </p:sp>
      <p:sp>
        <p:nvSpPr>
          <p:cNvPr id="69" name="Google Shape;69;p6"/>
          <p:cNvSpPr/>
          <p:nvPr/>
        </p:nvSpPr>
        <p:spPr>
          <a:xfrm>
            <a:off x="627198" y="1800373"/>
            <a:ext cx="478295" cy="478295"/>
          </a:xfrm>
          <a:custGeom>
            <a:rect b="b" l="l" r="r" t="t"/>
            <a:pathLst>
              <a:path extrusionOk="0" h="478295" w="478295">
                <a:moveTo>
                  <a:pt x="0" y="0"/>
                </a:moveTo>
                <a:lnTo>
                  <a:pt x="478295" y="0"/>
                </a:lnTo>
                <a:lnTo>
                  <a:pt x="478295" y="478295"/>
                </a:lnTo>
                <a:lnTo>
                  <a:pt x="0" y="478295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cap="flat" cmpd="sng" w="381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4147">
              <a:srgbClr val="2D3436"/>
            </a:outerShdw>
          </a:effectLst>
        </p:spPr>
      </p:sp>
      <p:sp>
        <p:nvSpPr>
          <p:cNvPr id="70" name="Google Shape;70;p6"/>
          <p:cNvSpPr/>
          <p:nvPr/>
        </p:nvSpPr>
        <p:spPr>
          <a:xfrm>
            <a:off x="744515" y="1931227"/>
            <a:ext cx="243660" cy="216586"/>
          </a:xfrm>
          <a:custGeom>
            <a:rect b="b" l="l" r="r" t="t"/>
            <a:pathLst>
              <a:path extrusionOk="0" h="216586" w="243660">
                <a:moveTo>
                  <a:pt x="37183" y="4865"/>
                </a:moveTo>
                <a:cubicBezTo>
                  <a:pt x="32403" y="1946"/>
                  <a:pt x="26143" y="3511"/>
                  <a:pt x="23224" y="8291"/>
                </a:cubicBezTo>
                <a:cubicBezTo>
                  <a:pt x="12733" y="25635"/>
                  <a:pt x="6726" y="45982"/>
                  <a:pt x="6726" y="67683"/>
                </a:cubicBezTo>
                <a:cubicBezTo>
                  <a:pt x="6726" y="89384"/>
                  <a:pt x="12733" y="109731"/>
                  <a:pt x="23224" y="127075"/>
                </a:cubicBezTo>
                <a:cubicBezTo>
                  <a:pt x="26143" y="131855"/>
                  <a:pt x="32361" y="133421"/>
                  <a:pt x="37183" y="130502"/>
                </a:cubicBezTo>
                <a:cubicBezTo>
                  <a:pt x="42006" y="127583"/>
                  <a:pt x="43529" y="121364"/>
                  <a:pt x="40610" y="116542"/>
                </a:cubicBezTo>
                <a:cubicBezTo>
                  <a:pt x="32023" y="102329"/>
                  <a:pt x="27073" y="85577"/>
                  <a:pt x="27073" y="67683"/>
                </a:cubicBezTo>
                <a:cubicBezTo>
                  <a:pt x="27073" y="49789"/>
                  <a:pt x="32023" y="33038"/>
                  <a:pt x="40652" y="18782"/>
                </a:cubicBezTo>
                <a:cubicBezTo>
                  <a:pt x="43571" y="14002"/>
                  <a:pt x="42006" y="7741"/>
                  <a:pt x="37226" y="4822"/>
                </a:cubicBezTo>
                <a:close/>
                <a:moveTo>
                  <a:pt x="206434" y="4865"/>
                </a:moveTo>
                <a:cubicBezTo>
                  <a:pt x="201654" y="7784"/>
                  <a:pt x="200088" y="14002"/>
                  <a:pt x="203007" y="18824"/>
                </a:cubicBezTo>
                <a:cubicBezTo>
                  <a:pt x="211637" y="33080"/>
                  <a:pt x="216586" y="49832"/>
                  <a:pt x="216586" y="67725"/>
                </a:cubicBezTo>
                <a:cubicBezTo>
                  <a:pt x="216586" y="85619"/>
                  <a:pt x="211637" y="102371"/>
                  <a:pt x="203007" y="116627"/>
                </a:cubicBezTo>
                <a:cubicBezTo>
                  <a:pt x="200088" y="121407"/>
                  <a:pt x="201654" y="127667"/>
                  <a:pt x="206434" y="130586"/>
                </a:cubicBezTo>
                <a:cubicBezTo>
                  <a:pt x="211214" y="133505"/>
                  <a:pt x="217475" y="131940"/>
                  <a:pt x="220393" y="127160"/>
                </a:cubicBezTo>
                <a:cubicBezTo>
                  <a:pt x="230884" y="109816"/>
                  <a:pt x="236891" y="89469"/>
                  <a:pt x="236891" y="67768"/>
                </a:cubicBezTo>
                <a:cubicBezTo>
                  <a:pt x="236891" y="46067"/>
                  <a:pt x="230884" y="25635"/>
                  <a:pt x="220393" y="8291"/>
                </a:cubicBezTo>
                <a:cubicBezTo>
                  <a:pt x="217475" y="3511"/>
                  <a:pt x="211256" y="1946"/>
                  <a:pt x="206434" y="4865"/>
                </a:cubicBezTo>
                <a:close/>
                <a:moveTo>
                  <a:pt x="135366" y="91119"/>
                </a:moveTo>
                <a:cubicBezTo>
                  <a:pt x="143446" y="86423"/>
                  <a:pt x="148903" y="77709"/>
                  <a:pt x="148903" y="67683"/>
                </a:cubicBezTo>
                <a:cubicBezTo>
                  <a:pt x="148903" y="52751"/>
                  <a:pt x="136762" y="40610"/>
                  <a:pt x="121830" y="40610"/>
                </a:cubicBezTo>
                <a:cubicBezTo>
                  <a:pt x="106897" y="40610"/>
                  <a:pt x="94756" y="52751"/>
                  <a:pt x="94756" y="67683"/>
                </a:cubicBezTo>
                <a:cubicBezTo>
                  <a:pt x="94756" y="77709"/>
                  <a:pt x="100213" y="86465"/>
                  <a:pt x="108293" y="91119"/>
                </a:cubicBezTo>
                <a:lnTo>
                  <a:pt x="108293" y="203050"/>
                </a:lnTo>
                <a:cubicBezTo>
                  <a:pt x="108293" y="210537"/>
                  <a:pt x="114342" y="216586"/>
                  <a:pt x="121830" y="216586"/>
                </a:cubicBezTo>
                <a:cubicBezTo>
                  <a:pt x="129317" y="216586"/>
                  <a:pt x="135366" y="210537"/>
                  <a:pt x="135366" y="203050"/>
                </a:cubicBezTo>
                <a:lnTo>
                  <a:pt x="135366" y="91119"/>
                </a:lnTo>
                <a:close/>
                <a:moveTo>
                  <a:pt x="76228" y="38495"/>
                </a:moveTo>
                <a:cubicBezTo>
                  <a:pt x="79274" y="33757"/>
                  <a:pt x="77878" y="27496"/>
                  <a:pt x="73182" y="24451"/>
                </a:cubicBezTo>
                <a:cubicBezTo>
                  <a:pt x="68487" y="21405"/>
                  <a:pt x="62184" y="22801"/>
                  <a:pt x="59138" y="27496"/>
                </a:cubicBezTo>
                <a:cubicBezTo>
                  <a:pt x="51693" y="39087"/>
                  <a:pt x="47378" y="52877"/>
                  <a:pt x="47378" y="67683"/>
                </a:cubicBezTo>
                <a:cubicBezTo>
                  <a:pt x="47378" y="82489"/>
                  <a:pt x="51693" y="96279"/>
                  <a:pt x="59138" y="107870"/>
                </a:cubicBezTo>
                <a:cubicBezTo>
                  <a:pt x="62184" y="112608"/>
                  <a:pt x="68445" y="113962"/>
                  <a:pt x="73182" y="110916"/>
                </a:cubicBezTo>
                <a:cubicBezTo>
                  <a:pt x="77920" y="107870"/>
                  <a:pt x="79274" y="101609"/>
                  <a:pt x="76228" y="96872"/>
                </a:cubicBezTo>
                <a:cubicBezTo>
                  <a:pt x="70814" y="88453"/>
                  <a:pt x="67683" y="78428"/>
                  <a:pt x="67683" y="67683"/>
                </a:cubicBezTo>
                <a:cubicBezTo>
                  <a:pt x="67683" y="56938"/>
                  <a:pt x="70814" y="46913"/>
                  <a:pt x="76228" y="38495"/>
                </a:cubicBezTo>
                <a:close/>
                <a:moveTo>
                  <a:pt x="184521" y="27496"/>
                </a:moveTo>
                <a:cubicBezTo>
                  <a:pt x="181476" y="22758"/>
                  <a:pt x="175215" y="21405"/>
                  <a:pt x="170477" y="24451"/>
                </a:cubicBezTo>
                <a:cubicBezTo>
                  <a:pt x="165739" y="27496"/>
                  <a:pt x="164386" y="33757"/>
                  <a:pt x="167431" y="38495"/>
                </a:cubicBezTo>
                <a:cubicBezTo>
                  <a:pt x="172846" y="46913"/>
                  <a:pt x="175976" y="56938"/>
                  <a:pt x="175976" y="67683"/>
                </a:cubicBezTo>
                <a:cubicBezTo>
                  <a:pt x="175976" y="78428"/>
                  <a:pt x="172846" y="88453"/>
                  <a:pt x="167431" y="96872"/>
                </a:cubicBezTo>
                <a:cubicBezTo>
                  <a:pt x="164386" y="101609"/>
                  <a:pt x="165782" y="107870"/>
                  <a:pt x="170477" y="110916"/>
                </a:cubicBezTo>
                <a:cubicBezTo>
                  <a:pt x="175173" y="113962"/>
                  <a:pt x="181476" y="112566"/>
                  <a:pt x="184521" y="107870"/>
                </a:cubicBezTo>
                <a:cubicBezTo>
                  <a:pt x="191966" y="96279"/>
                  <a:pt x="196281" y="82489"/>
                  <a:pt x="196281" y="67683"/>
                </a:cubicBezTo>
                <a:cubicBezTo>
                  <a:pt x="196281" y="52877"/>
                  <a:pt x="191966" y="39087"/>
                  <a:pt x="184521" y="2749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6"/>
          <p:cNvSpPr/>
          <p:nvPr/>
        </p:nvSpPr>
        <p:spPr>
          <a:xfrm>
            <a:off x="1263420" y="1877081"/>
            <a:ext cx="2969036" cy="32487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2" u="none" cap="none" strike="noStrike">
                <a:solidFill>
                  <a:srgbClr val="2D3436"/>
                </a:solidFill>
                <a:latin typeface="Coda"/>
                <a:ea typeface="Coda"/>
                <a:cs typeface="Coda"/>
                <a:sym typeface="Coda"/>
              </a:rPr>
              <a:t>IEEE 802.15.4 Standard</a:t>
            </a:r>
            <a:endParaRPr b="0" i="0" sz="1600" u="none" cap="none" strike="noStrike"/>
          </a:p>
        </p:txBody>
      </p:sp>
      <p:sp>
        <p:nvSpPr>
          <p:cNvPr id="72" name="Google Shape;72;p6"/>
          <p:cNvSpPr/>
          <p:nvPr/>
        </p:nvSpPr>
        <p:spPr>
          <a:xfrm>
            <a:off x="676034" y="2463463"/>
            <a:ext cx="11046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79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low-power wireless standard designed for IoT devices. </a:t>
            </a:r>
            <a:endParaRPr b="1" i="0" sz="1800" u="none" cap="none" strike="noStrike"/>
          </a:p>
        </p:txBody>
      </p:sp>
      <p:sp>
        <p:nvSpPr>
          <p:cNvPr id="73" name="Google Shape;73;p6"/>
          <p:cNvSpPr/>
          <p:nvPr/>
        </p:nvSpPr>
        <p:spPr>
          <a:xfrm>
            <a:off x="627198" y="2858487"/>
            <a:ext cx="5387583" cy="1146102"/>
          </a:xfrm>
          <a:custGeom>
            <a:rect b="b" l="l" r="r" t="t"/>
            <a:pathLst>
              <a:path extrusionOk="0" h="1146102" w="5387583">
                <a:moveTo>
                  <a:pt x="0" y="0"/>
                </a:moveTo>
                <a:lnTo>
                  <a:pt x="5387583" y="0"/>
                </a:lnTo>
                <a:lnTo>
                  <a:pt x="5387583" y="1146102"/>
                </a:lnTo>
                <a:lnTo>
                  <a:pt x="0" y="1146102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cap="flat" cmpd="sng" w="381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4147">
              <a:srgbClr val="2D3436"/>
            </a:outerShdw>
          </a:effectLst>
        </p:spPr>
      </p:sp>
      <p:sp>
        <p:nvSpPr>
          <p:cNvPr id="74" name="Google Shape;74;p6"/>
          <p:cNvSpPr/>
          <p:nvPr/>
        </p:nvSpPr>
        <p:spPr>
          <a:xfrm>
            <a:off x="807686" y="3052512"/>
            <a:ext cx="180489" cy="180489"/>
          </a:xfrm>
          <a:custGeom>
            <a:rect b="b" l="l" r="r" t="t"/>
            <a:pathLst>
              <a:path extrusionOk="0" h="180489" w="180489">
                <a:moveTo>
                  <a:pt x="0" y="90244"/>
                </a:moveTo>
                <a:cubicBezTo>
                  <a:pt x="0" y="40437"/>
                  <a:pt x="40437" y="0"/>
                  <a:pt x="90244" y="0"/>
                </a:cubicBezTo>
                <a:cubicBezTo>
                  <a:pt x="140051" y="0"/>
                  <a:pt x="180489" y="40437"/>
                  <a:pt x="180489" y="90244"/>
                </a:cubicBezTo>
                <a:cubicBezTo>
                  <a:pt x="180489" y="140051"/>
                  <a:pt x="140051" y="180489"/>
                  <a:pt x="90244" y="180489"/>
                </a:cubicBezTo>
                <a:cubicBezTo>
                  <a:pt x="40437" y="180489"/>
                  <a:pt x="0" y="140051"/>
                  <a:pt x="0" y="90244"/>
                </a:cubicBezTo>
                <a:close/>
                <a:moveTo>
                  <a:pt x="101525" y="33842"/>
                </a:moveTo>
                <a:cubicBezTo>
                  <a:pt x="101525" y="27616"/>
                  <a:pt x="96470" y="22561"/>
                  <a:pt x="90244" y="22561"/>
                </a:cubicBezTo>
                <a:cubicBezTo>
                  <a:pt x="84018" y="22561"/>
                  <a:pt x="78964" y="27616"/>
                  <a:pt x="78964" y="33842"/>
                </a:cubicBezTo>
                <a:cubicBezTo>
                  <a:pt x="78964" y="40067"/>
                  <a:pt x="84018" y="45122"/>
                  <a:pt x="90244" y="45122"/>
                </a:cubicBezTo>
                <a:cubicBezTo>
                  <a:pt x="96470" y="45122"/>
                  <a:pt x="101525" y="40067"/>
                  <a:pt x="101525" y="33842"/>
                </a:cubicBezTo>
                <a:close/>
                <a:moveTo>
                  <a:pt x="90244" y="146647"/>
                </a:moveTo>
                <a:cubicBezTo>
                  <a:pt x="102688" y="146647"/>
                  <a:pt x="112805" y="136530"/>
                  <a:pt x="112805" y="124086"/>
                </a:cubicBezTo>
                <a:cubicBezTo>
                  <a:pt x="112805" y="118375"/>
                  <a:pt x="110690" y="113123"/>
                  <a:pt x="107165" y="109174"/>
                </a:cubicBezTo>
                <a:lnTo>
                  <a:pt x="131665" y="60210"/>
                </a:lnTo>
                <a:cubicBezTo>
                  <a:pt x="133745" y="56015"/>
                  <a:pt x="132053" y="50939"/>
                  <a:pt x="127893" y="48859"/>
                </a:cubicBezTo>
                <a:cubicBezTo>
                  <a:pt x="123733" y="46779"/>
                  <a:pt x="118622" y="48471"/>
                  <a:pt x="116542" y="52631"/>
                </a:cubicBezTo>
                <a:lnTo>
                  <a:pt x="92042" y="101595"/>
                </a:lnTo>
                <a:cubicBezTo>
                  <a:pt x="91443" y="101560"/>
                  <a:pt x="90844" y="101525"/>
                  <a:pt x="90244" y="101525"/>
                </a:cubicBezTo>
                <a:cubicBezTo>
                  <a:pt x="77800" y="101525"/>
                  <a:pt x="67683" y="111642"/>
                  <a:pt x="67683" y="124086"/>
                </a:cubicBezTo>
                <a:cubicBezTo>
                  <a:pt x="67683" y="136530"/>
                  <a:pt x="77800" y="146647"/>
                  <a:pt x="90244" y="146647"/>
                </a:cubicBezTo>
                <a:close/>
                <a:moveTo>
                  <a:pt x="62043" y="50762"/>
                </a:moveTo>
                <a:cubicBezTo>
                  <a:pt x="62043" y="44537"/>
                  <a:pt x="56988" y="39482"/>
                  <a:pt x="50762" y="39482"/>
                </a:cubicBezTo>
                <a:cubicBezTo>
                  <a:pt x="44537" y="39482"/>
                  <a:pt x="39482" y="44537"/>
                  <a:pt x="39482" y="50762"/>
                </a:cubicBezTo>
                <a:cubicBezTo>
                  <a:pt x="39482" y="56988"/>
                  <a:pt x="44537" y="62043"/>
                  <a:pt x="50762" y="62043"/>
                </a:cubicBezTo>
                <a:cubicBezTo>
                  <a:pt x="56988" y="62043"/>
                  <a:pt x="62043" y="56988"/>
                  <a:pt x="62043" y="50762"/>
                </a:cubicBezTo>
                <a:close/>
                <a:moveTo>
                  <a:pt x="33842" y="101525"/>
                </a:moveTo>
                <a:cubicBezTo>
                  <a:pt x="40067" y="101525"/>
                  <a:pt x="45122" y="96470"/>
                  <a:pt x="45122" y="90244"/>
                </a:cubicBezTo>
                <a:cubicBezTo>
                  <a:pt x="45122" y="84018"/>
                  <a:pt x="40067" y="78964"/>
                  <a:pt x="33842" y="78964"/>
                </a:cubicBezTo>
                <a:cubicBezTo>
                  <a:pt x="27616" y="78964"/>
                  <a:pt x="22561" y="84018"/>
                  <a:pt x="22561" y="90244"/>
                </a:cubicBezTo>
                <a:cubicBezTo>
                  <a:pt x="22561" y="96470"/>
                  <a:pt x="27616" y="101525"/>
                  <a:pt x="33842" y="101525"/>
                </a:cubicBezTo>
                <a:close/>
                <a:moveTo>
                  <a:pt x="157927" y="90244"/>
                </a:moveTo>
                <a:cubicBezTo>
                  <a:pt x="157927" y="84018"/>
                  <a:pt x="152873" y="78964"/>
                  <a:pt x="146647" y="78964"/>
                </a:cubicBezTo>
                <a:cubicBezTo>
                  <a:pt x="140421" y="78964"/>
                  <a:pt x="135366" y="84018"/>
                  <a:pt x="135366" y="90244"/>
                </a:cubicBezTo>
                <a:cubicBezTo>
                  <a:pt x="135366" y="96470"/>
                  <a:pt x="140421" y="101525"/>
                  <a:pt x="146647" y="101525"/>
                </a:cubicBezTo>
                <a:cubicBezTo>
                  <a:pt x="152873" y="101525"/>
                  <a:pt x="157927" y="96470"/>
                  <a:pt x="157927" y="90244"/>
                </a:cubicBezTo>
                <a:close/>
              </a:path>
            </a:pathLst>
          </a:custGeom>
          <a:solidFill>
            <a:srgbClr val="2D34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6"/>
          <p:cNvSpPr/>
          <p:nvPr/>
        </p:nvSpPr>
        <p:spPr>
          <a:xfrm>
            <a:off x="1082931" y="3016415"/>
            <a:ext cx="821223" cy="2526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9" u="none" cap="none" strike="noStrike">
                <a:solidFill>
                  <a:srgbClr val="2D3436"/>
                </a:solidFill>
                <a:latin typeface="Coda"/>
                <a:ea typeface="Coda"/>
                <a:cs typeface="Coda"/>
                <a:sym typeface="Coda"/>
              </a:rPr>
              <a:t>Data Rate</a:t>
            </a:r>
            <a:endParaRPr b="0" i="0" sz="1600" u="none" cap="none" strike="noStrike"/>
          </a:p>
        </p:txBody>
      </p:sp>
      <p:sp>
        <p:nvSpPr>
          <p:cNvPr id="76" name="Google Shape;76;p6"/>
          <p:cNvSpPr/>
          <p:nvPr/>
        </p:nvSpPr>
        <p:spPr>
          <a:xfrm>
            <a:off x="785125" y="3341294"/>
            <a:ext cx="5180021" cy="28878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5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250 kbps</a:t>
            </a:r>
            <a:endParaRPr b="0" i="0" sz="1600" u="none" cap="none" strike="noStrike"/>
          </a:p>
        </p:txBody>
      </p:sp>
      <p:sp>
        <p:nvSpPr>
          <p:cNvPr id="77" name="Google Shape;77;p6"/>
          <p:cNvSpPr/>
          <p:nvPr/>
        </p:nvSpPr>
        <p:spPr>
          <a:xfrm>
            <a:off x="785125" y="3630075"/>
            <a:ext cx="5143923" cy="2165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37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Maximum speed</a:t>
            </a:r>
            <a:endParaRPr b="0" i="0" sz="1600" u="none" cap="none" strike="noStrike"/>
          </a:p>
        </p:txBody>
      </p:sp>
      <p:sp>
        <p:nvSpPr>
          <p:cNvPr id="78" name="Google Shape;78;p6"/>
          <p:cNvSpPr/>
          <p:nvPr/>
        </p:nvSpPr>
        <p:spPr>
          <a:xfrm>
            <a:off x="6182334" y="2858487"/>
            <a:ext cx="5387583" cy="1146102"/>
          </a:xfrm>
          <a:custGeom>
            <a:rect b="b" l="l" r="r" t="t"/>
            <a:pathLst>
              <a:path extrusionOk="0" h="1146102" w="5387583">
                <a:moveTo>
                  <a:pt x="0" y="0"/>
                </a:moveTo>
                <a:lnTo>
                  <a:pt x="5387583" y="0"/>
                </a:lnTo>
                <a:lnTo>
                  <a:pt x="5387583" y="1146102"/>
                </a:lnTo>
                <a:lnTo>
                  <a:pt x="0" y="1146102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cap="flat" cmpd="sng" w="381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4147">
              <a:srgbClr val="2D3436"/>
            </a:outerShdw>
          </a:effectLst>
        </p:spPr>
      </p:sp>
      <p:sp>
        <p:nvSpPr>
          <p:cNvPr id="79" name="Google Shape;79;p6"/>
          <p:cNvSpPr/>
          <p:nvPr/>
        </p:nvSpPr>
        <p:spPr>
          <a:xfrm>
            <a:off x="6362822" y="3052512"/>
            <a:ext cx="180489" cy="180489"/>
          </a:xfrm>
          <a:custGeom>
            <a:rect b="b" l="l" r="r" t="t"/>
            <a:pathLst>
              <a:path extrusionOk="0" h="180489" w="180489">
                <a:moveTo>
                  <a:pt x="180489" y="33842"/>
                </a:moveTo>
                <a:cubicBezTo>
                  <a:pt x="180489" y="51538"/>
                  <a:pt x="159655" y="77941"/>
                  <a:pt x="150666" y="88482"/>
                </a:cubicBezTo>
                <a:cubicBezTo>
                  <a:pt x="149326" y="90033"/>
                  <a:pt x="147352" y="90632"/>
                  <a:pt x="145554" y="90244"/>
                </a:cubicBezTo>
                <a:lnTo>
                  <a:pt x="112805" y="90244"/>
                </a:lnTo>
                <a:cubicBezTo>
                  <a:pt x="106566" y="90244"/>
                  <a:pt x="101525" y="95285"/>
                  <a:pt x="101525" y="101525"/>
                </a:cubicBezTo>
                <a:cubicBezTo>
                  <a:pt x="101525" y="107764"/>
                  <a:pt x="106566" y="112805"/>
                  <a:pt x="112805" y="112805"/>
                </a:cubicBezTo>
                <a:lnTo>
                  <a:pt x="146647" y="112805"/>
                </a:lnTo>
                <a:cubicBezTo>
                  <a:pt x="165330" y="112805"/>
                  <a:pt x="180489" y="127964"/>
                  <a:pt x="180489" y="146647"/>
                </a:cubicBezTo>
                <a:cubicBezTo>
                  <a:pt x="180489" y="165330"/>
                  <a:pt x="165330" y="180489"/>
                  <a:pt x="146647" y="180489"/>
                </a:cubicBezTo>
                <a:lnTo>
                  <a:pt x="49211" y="180489"/>
                </a:lnTo>
                <a:cubicBezTo>
                  <a:pt x="52278" y="176999"/>
                  <a:pt x="56015" y="172522"/>
                  <a:pt x="59787" y="167516"/>
                </a:cubicBezTo>
                <a:cubicBezTo>
                  <a:pt x="62008" y="164555"/>
                  <a:pt x="64299" y="161312"/>
                  <a:pt x="66485" y="157927"/>
                </a:cubicBezTo>
                <a:lnTo>
                  <a:pt x="146647" y="157927"/>
                </a:lnTo>
                <a:cubicBezTo>
                  <a:pt x="152886" y="157927"/>
                  <a:pt x="157927" y="152886"/>
                  <a:pt x="157927" y="146647"/>
                </a:cubicBezTo>
                <a:cubicBezTo>
                  <a:pt x="157927" y="140407"/>
                  <a:pt x="152886" y="135366"/>
                  <a:pt x="146647" y="135366"/>
                </a:cubicBezTo>
                <a:lnTo>
                  <a:pt x="112805" y="135366"/>
                </a:lnTo>
                <a:cubicBezTo>
                  <a:pt x="94122" y="135366"/>
                  <a:pt x="78964" y="120208"/>
                  <a:pt x="78964" y="101525"/>
                </a:cubicBezTo>
                <a:cubicBezTo>
                  <a:pt x="78964" y="82841"/>
                  <a:pt x="94122" y="67683"/>
                  <a:pt x="112805" y="67683"/>
                </a:cubicBezTo>
                <a:lnTo>
                  <a:pt x="126835" y="67683"/>
                </a:lnTo>
                <a:cubicBezTo>
                  <a:pt x="119433" y="56579"/>
                  <a:pt x="112805" y="43818"/>
                  <a:pt x="112805" y="33842"/>
                </a:cubicBezTo>
                <a:cubicBezTo>
                  <a:pt x="112805" y="15158"/>
                  <a:pt x="127964" y="0"/>
                  <a:pt x="146647" y="0"/>
                </a:cubicBezTo>
                <a:cubicBezTo>
                  <a:pt x="165330" y="0"/>
                  <a:pt x="180489" y="15158"/>
                  <a:pt x="180489" y="33842"/>
                </a:cubicBezTo>
                <a:close/>
                <a:moveTo>
                  <a:pt x="41280" y="172416"/>
                </a:moveTo>
                <a:cubicBezTo>
                  <a:pt x="39940" y="173932"/>
                  <a:pt x="38742" y="175271"/>
                  <a:pt x="37719" y="176399"/>
                </a:cubicBezTo>
                <a:lnTo>
                  <a:pt x="37085" y="177104"/>
                </a:lnTo>
                <a:lnTo>
                  <a:pt x="37014" y="177034"/>
                </a:lnTo>
                <a:cubicBezTo>
                  <a:pt x="34899" y="178655"/>
                  <a:pt x="31868" y="178444"/>
                  <a:pt x="29964" y="176399"/>
                </a:cubicBezTo>
                <a:cubicBezTo>
                  <a:pt x="21080" y="166740"/>
                  <a:pt x="0" y="141888"/>
                  <a:pt x="0" y="124086"/>
                </a:cubicBezTo>
                <a:cubicBezTo>
                  <a:pt x="0" y="105402"/>
                  <a:pt x="15158" y="90244"/>
                  <a:pt x="33842" y="90244"/>
                </a:cubicBezTo>
                <a:cubicBezTo>
                  <a:pt x="52525" y="90244"/>
                  <a:pt x="67683" y="105402"/>
                  <a:pt x="67683" y="124086"/>
                </a:cubicBezTo>
                <a:cubicBezTo>
                  <a:pt x="67683" y="134661"/>
                  <a:pt x="60245" y="147704"/>
                  <a:pt x="52349" y="158597"/>
                </a:cubicBezTo>
                <a:cubicBezTo>
                  <a:pt x="48577" y="163779"/>
                  <a:pt x="44699" y="168468"/>
                  <a:pt x="41491" y="172169"/>
                </a:cubicBezTo>
                <a:lnTo>
                  <a:pt x="41280" y="172416"/>
                </a:lnTo>
                <a:close/>
                <a:moveTo>
                  <a:pt x="45122" y="124086"/>
                </a:moveTo>
                <a:cubicBezTo>
                  <a:pt x="45122" y="117860"/>
                  <a:pt x="40067" y="112805"/>
                  <a:pt x="33842" y="112805"/>
                </a:cubicBezTo>
                <a:cubicBezTo>
                  <a:pt x="27616" y="112805"/>
                  <a:pt x="22561" y="117860"/>
                  <a:pt x="22561" y="124086"/>
                </a:cubicBezTo>
                <a:cubicBezTo>
                  <a:pt x="22561" y="130312"/>
                  <a:pt x="27616" y="135366"/>
                  <a:pt x="33842" y="135366"/>
                </a:cubicBezTo>
                <a:cubicBezTo>
                  <a:pt x="40067" y="135366"/>
                  <a:pt x="45122" y="130312"/>
                  <a:pt x="45122" y="124086"/>
                </a:cubicBezTo>
                <a:close/>
                <a:moveTo>
                  <a:pt x="146647" y="45122"/>
                </a:moveTo>
                <a:cubicBezTo>
                  <a:pt x="152873" y="45122"/>
                  <a:pt x="157927" y="40067"/>
                  <a:pt x="157927" y="33842"/>
                </a:cubicBezTo>
                <a:cubicBezTo>
                  <a:pt x="157927" y="27616"/>
                  <a:pt x="152873" y="22561"/>
                  <a:pt x="146647" y="22561"/>
                </a:cubicBezTo>
                <a:cubicBezTo>
                  <a:pt x="140421" y="22561"/>
                  <a:pt x="135366" y="27616"/>
                  <a:pt x="135366" y="33842"/>
                </a:cubicBezTo>
                <a:cubicBezTo>
                  <a:pt x="135366" y="40067"/>
                  <a:pt x="140421" y="45122"/>
                  <a:pt x="146647" y="4512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6"/>
          <p:cNvSpPr/>
          <p:nvPr/>
        </p:nvSpPr>
        <p:spPr>
          <a:xfrm>
            <a:off x="6638067" y="3016415"/>
            <a:ext cx="568539" cy="2526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9" u="none" cap="none" strike="noStrike">
                <a:solidFill>
                  <a:srgbClr val="FFFFFF"/>
                </a:solidFill>
                <a:latin typeface="Coda"/>
                <a:ea typeface="Coda"/>
                <a:cs typeface="Coda"/>
                <a:sym typeface="Coda"/>
              </a:rPr>
              <a:t>Range</a:t>
            </a:r>
            <a:endParaRPr b="0" i="0" sz="1600" u="none" cap="none" strike="noStrike"/>
          </a:p>
        </p:txBody>
      </p:sp>
      <p:sp>
        <p:nvSpPr>
          <p:cNvPr id="81" name="Google Shape;81;p6"/>
          <p:cNvSpPr/>
          <p:nvPr/>
        </p:nvSpPr>
        <p:spPr>
          <a:xfrm>
            <a:off x="6340261" y="3341294"/>
            <a:ext cx="5180021" cy="28878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5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ّّ~ </a:t>
            </a:r>
            <a:r>
              <a:rPr b="1" i="0" lang="en-US" sz="1705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 meters</a:t>
            </a:r>
            <a:endParaRPr b="0" i="0" sz="1600" u="none" cap="none" strike="noStrike"/>
          </a:p>
        </p:txBody>
      </p:sp>
      <p:sp>
        <p:nvSpPr>
          <p:cNvPr id="82" name="Google Shape;82;p6"/>
          <p:cNvSpPr/>
          <p:nvPr/>
        </p:nvSpPr>
        <p:spPr>
          <a:xfrm>
            <a:off x="6340261" y="3630075"/>
            <a:ext cx="5143923" cy="2165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37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Not enough for a house</a:t>
            </a:r>
            <a:endParaRPr b="0" i="0" sz="1600" u="none" cap="none" strike="noStrike"/>
          </a:p>
        </p:txBody>
      </p:sp>
      <p:sp>
        <p:nvSpPr>
          <p:cNvPr id="83" name="Google Shape;83;p6"/>
          <p:cNvSpPr/>
          <p:nvPr/>
        </p:nvSpPr>
        <p:spPr>
          <a:xfrm>
            <a:off x="379026" y="4469347"/>
            <a:ext cx="11433948" cy="2012447"/>
          </a:xfrm>
          <a:custGeom>
            <a:rect b="b" l="l" r="r" t="t"/>
            <a:pathLst>
              <a:path extrusionOk="0" h="2012447" w="11433948">
                <a:moveTo>
                  <a:pt x="0" y="0"/>
                </a:moveTo>
                <a:lnTo>
                  <a:pt x="11433948" y="0"/>
                </a:lnTo>
                <a:lnTo>
                  <a:pt x="11433948" y="2012447"/>
                </a:lnTo>
                <a:lnTo>
                  <a:pt x="0" y="2012447"/>
                </a:lnTo>
                <a:lnTo>
                  <a:pt x="0" y="0"/>
                </a:lnTo>
                <a:close/>
              </a:path>
            </a:pathLst>
          </a:custGeom>
          <a:solidFill>
            <a:srgbClr val="2D3436"/>
          </a:solidFill>
          <a:ln cap="flat" cmpd="sng" w="508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4147">
              <a:srgbClr val="2D3436"/>
            </a:outerShdw>
          </a:effectLst>
        </p:spPr>
      </p:sp>
      <p:sp>
        <p:nvSpPr>
          <p:cNvPr id="84" name="Google Shape;84;p6"/>
          <p:cNvSpPr/>
          <p:nvPr/>
        </p:nvSpPr>
        <p:spPr>
          <a:xfrm>
            <a:off x="627198" y="4717519"/>
            <a:ext cx="550490" cy="550490"/>
          </a:xfrm>
          <a:custGeom>
            <a:rect b="b" l="l" r="r" t="t"/>
            <a:pathLst>
              <a:path extrusionOk="0" h="550490" w="550490">
                <a:moveTo>
                  <a:pt x="0" y="0"/>
                </a:moveTo>
                <a:lnTo>
                  <a:pt x="550490" y="0"/>
                </a:lnTo>
                <a:lnTo>
                  <a:pt x="550490" y="550490"/>
                </a:lnTo>
                <a:lnTo>
                  <a:pt x="0" y="550490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4147">
              <a:srgbClr val="2D3436"/>
            </a:outerShdw>
          </a:effectLst>
        </p:spPr>
      </p:sp>
      <p:sp>
        <p:nvSpPr>
          <p:cNvPr id="85" name="Google Shape;85;p6"/>
          <p:cNvSpPr/>
          <p:nvPr/>
        </p:nvSpPr>
        <p:spPr>
          <a:xfrm>
            <a:off x="767076" y="4884471"/>
            <a:ext cx="270733" cy="216586"/>
          </a:xfrm>
          <a:custGeom>
            <a:rect b="b" l="l" r="r" t="t"/>
            <a:pathLst>
              <a:path extrusionOk="0" h="216586" w="270733">
                <a:moveTo>
                  <a:pt x="162440" y="13537"/>
                </a:moveTo>
                <a:lnTo>
                  <a:pt x="216586" y="13537"/>
                </a:lnTo>
                <a:cubicBezTo>
                  <a:pt x="224074" y="13537"/>
                  <a:pt x="230123" y="19586"/>
                  <a:pt x="230123" y="27073"/>
                </a:cubicBezTo>
                <a:cubicBezTo>
                  <a:pt x="230123" y="34561"/>
                  <a:pt x="224074" y="40610"/>
                  <a:pt x="216586" y="40610"/>
                </a:cubicBezTo>
                <a:lnTo>
                  <a:pt x="168531" y="40610"/>
                </a:lnTo>
                <a:cubicBezTo>
                  <a:pt x="166331" y="51524"/>
                  <a:pt x="158844" y="60534"/>
                  <a:pt x="148903" y="64849"/>
                </a:cubicBezTo>
                <a:lnTo>
                  <a:pt x="148903" y="189513"/>
                </a:lnTo>
                <a:lnTo>
                  <a:pt x="216586" y="189513"/>
                </a:lnTo>
                <a:cubicBezTo>
                  <a:pt x="224074" y="189513"/>
                  <a:pt x="230123" y="195562"/>
                  <a:pt x="230123" y="203050"/>
                </a:cubicBezTo>
                <a:cubicBezTo>
                  <a:pt x="230123" y="210537"/>
                  <a:pt x="224074" y="216586"/>
                  <a:pt x="216586" y="216586"/>
                </a:cubicBezTo>
                <a:lnTo>
                  <a:pt x="54147" y="216586"/>
                </a:lnTo>
                <a:cubicBezTo>
                  <a:pt x="46659" y="216586"/>
                  <a:pt x="40610" y="210537"/>
                  <a:pt x="40610" y="203050"/>
                </a:cubicBezTo>
                <a:cubicBezTo>
                  <a:pt x="40610" y="195562"/>
                  <a:pt x="46659" y="189513"/>
                  <a:pt x="54147" y="189513"/>
                </a:cubicBezTo>
                <a:lnTo>
                  <a:pt x="121830" y="189513"/>
                </a:lnTo>
                <a:lnTo>
                  <a:pt x="121830" y="64849"/>
                </a:lnTo>
                <a:cubicBezTo>
                  <a:pt x="111889" y="60492"/>
                  <a:pt x="104401" y="51482"/>
                  <a:pt x="102202" y="40610"/>
                </a:cubicBezTo>
                <a:lnTo>
                  <a:pt x="54147" y="40610"/>
                </a:lnTo>
                <a:cubicBezTo>
                  <a:pt x="46659" y="40610"/>
                  <a:pt x="40610" y="34561"/>
                  <a:pt x="40610" y="27073"/>
                </a:cubicBezTo>
                <a:cubicBezTo>
                  <a:pt x="40610" y="19586"/>
                  <a:pt x="46659" y="13537"/>
                  <a:pt x="54147" y="13537"/>
                </a:cubicBezTo>
                <a:lnTo>
                  <a:pt x="108293" y="13537"/>
                </a:lnTo>
                <a:cubicBezTo>
                  <a:pt x="114469" y="5330"/>
                  <a:pt x="124283" y="0"/>
                  <a:pt x="135366" y="0"/>
                </a:cubicBezTo>
                <a:cubicBezTo>
                  <a:pt x="146450" y="0"/>
                  <a:pt x="156264" y="5330"/>
                  <a:pt x="162440" y="13537"/>
                </a:cubicBezTo>
                <a:close/>
                <a:moveTo>
                  <a:pt x="185960" y="135366"/>
                </a:moveTo>
                <a:lnTo>
                  <a:pt x="247213" y="135366"/>
                </a:lnTo>
                <a:lnTo>
                  <a:pt x="216586" y="82827"/>
                </a:lnTo>
                <a:lnTo>
                  <a:pt x="185960" y="135366"/>
                </a:lnTo>
                <a:close/>
                <a:moveTo>
                  <a:pt x="216586" y="175976"/>
                </a:moveTo>
                <a:cubicBezTo>
                  <a:pt x="189978" y="175976"/>
                  <a:pt x="167854" y="161594"/>
                  <a:pt x="163286" y="142600"/>
                </a:cubicBezTo>
                <a:cubicBezTo>
                  <a:pt x="162186" y="137947"/>
                  <a:pt x="163709" y="133167"/>
                  <a:pt x="166120" y="129021"/>
                </a:cubicBezTo>
                <a:lnTo>
                  <a:pt x="206391" y="59984"/>
                </a:lnTo>
                <a:cubicBezTo>
                  <a:pt x="208507" y="56346"/>
                  <a:pt x="212398" y="54147"/>
                  <a:pt x="216586" y="54147"/>
                </a:cubicBezTo>
                <a:cubicBezTo>
                  <a:pt x="220774" y="54147"/>
                  <a:pt x="224666" y="56389"/>
                  <a:pt x="226781" y="59984"/>
                </a:cubicBezTo>
                <a:lnTo>
                  <a:pt x="267053" y="129021"/>
                </a:lnTo>
                <a:cubicBezTo>
                  <a:pt x="269464" y="133167"/>
                  <a:pt x="270987" y="137947"/>
                  <a:pt x="269887" y="142600"/>
                </a:cubicBezTo>
                <a:cubicBezTo>
                  <a:pt x="265318" y="161551"/>
                  <a:pt x="243194" y="175976"/>
                  <a:pt x="216586" y="175976"/>
                </a:cubicBezTo>
                <a:close/>
                <a:moveTo>
                  <a:pt x="53639" y="82827"/>
                </a:moveTo>
                <a:lnTo>
                  <a:pt x="23012" y="135366"/>
                </a:lnTo>
                <a:lnTo>
                  <a:pt x="84308" y="135366"/>
                </a:lnTo>
                <a:lnTo>
                  <a:pt x="53639" y="82827"/>
                </a:lnTo>
                <a:close/>
                <a:moveTo>
                  <a:pt x="381" y="142600"/>
                </a:moveTo>
                <a:cubicBezTo>
                  <a:pt x="-719" y="137947"/>
                  <a:pt x="804" y="133167"/>
                  <a:pt x="3215" y="129021"/>
                </a:cubicBezTo>
                <a:lnTo>
                  <a:pt x="43486" y="59984"/>
                </a:lnTo>
                <a:cubicBezTo>
                  <a:pt x="45602" y="56346"/>
                  <a:pt x="49493" y="54147"/>
                  <a:pt x="53681" y="54147"/>
                </a:cubicBezTo>
                <a:cubicBezTo>
                  <a:pt x="57869" y="54147"/>
                  <a:pt x="61761" y="56389"/>
                  <a:pt x="63876" y="59984"/>
                </a:cubicBezTo>
                <a:lnTo>
                  <a:pt x="104148" y="129021"/>
                </a:lnTo>
                <a:cubicBezTo>
                  <a:pt x="106559" y="133167"/>
                  <a:pt x="108082" y="137947"/>
                  <a:pt x="106982" y="142600"/>
                </a:cubicBezTo>
                <a:cubicBezTo>
                  <a:pt x="102413" y="161551"/>
                  <a:pt x="80289" y="175976"/>
                  <a:pt x="53681" y="175976"/>
                </a:cubicBezTo>
                <a:cubicBezTo>
                  <a:pt x="27073" y="175976"/>
                  <a:pt x="4949" y="161594"/>
                  <a:pt x="381" y="14260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1335615" y="4703982"/>
            <a:ext cx="10351017" cy="28878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5" u="none" cap="none" strike="noStrike">
                <a:solidFill>
                  <a:srgbClr val="FF6B6B"/>
                </a:solidFill>
                <a:latin typeface="Coda"/>
                <a:ea typeface="Coda"/>
                <a:cs typeface="Coda"/>
                <a:sym typeface="Coda"/>
              </a:rPr>
              <a:t>The Fundamental Tradeoff</a:t>
            </a:r>
            <a:endParaRPr b="0" i="0" sz="1600" u="none" cap="none" strike="noStrike"/>
          </a:p>
        </p:txBody>
      </p:sp>
      <p:sp>
        <p:nvSpPr>
          <p:cNvPr id="87" name="Google Shape;87;p6"/>
          <p:cNvSpPr/>
          <p:nvPr/>
        </p:nvSpPr>
        <p:spPr>
          <a:xfrm>
            <a:off x="1335615" y="5101057"/>
            <a:ext cx="10323944" cy="5324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9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"The more transmission power you use, the longer your range. But more power drains your battery faster. You cannot have both high energy efficiency AND high data rates </a:t>
            </a:r>
            <a:r>
              <a:rPr b="1" i="0" lang="en-US" sz="1279" u="none" cap="none" strike="noStrike">
                <a:solidFill>
                  <a:srgbClr val="FFE66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with a single radio</a:t>
            </a:r>
            <a:r>
              <a:rPr b="0" i="0" lang="en-US" sz="1279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."</a:t>
            </a:r>
            <a:endParaRPr b="0" i="0" sz="1600" u="none" cap="none" strike="noStrike"/>
          </a:p>
        </p:txBody>
      </p:sp>
      <p:sp>
        <p:nvSpPr>
          <p:cNvPr id="88" name="Google Shape;88;p6"/>
          <p:cNvSpPr/>
          <p:nvPr/>
        </p:nvSpPr>
        <p:spPr>
          <a:xfrm>
            <a:off x="1344640" y="5800450"/>
            <a:ext cx="4909288" cy="90244"/>
          </a:xfrm>
          <a:custGeom>
            <a:rect b="b" l="l" r="r" t="t"/>
            <a:pathLst>
              <a:path extrusionOk="0" h="90244" w="4909288">
                <a:moveTo>
                  <a:pt x="0" y="0"/>
                </a:moveTo>
                <a:lnTo>
                  <a:pt x="4909288" y="0"/>
                </a:lnTo>
                <a:lnTo>
                  <a:pt x="4909288" y="90244"/>
                </a:lnTo>
                <a:lnTo>
                  <a:pt x="0" y="90244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6"/>
          <p:cNvSpPr/>
          <p:nvPr/>
        </p:nvSpPr>
        <p:spPr>
          <a:xfrm>
            <a:off x="6368237" y="5737279"/>
            <a:ext cx="252684" cy="2165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37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VS</a:t>
            </a:r>
            <a:endParaRPr b="0" i="0" sz="1600" u="none" cap="none" strike="noStrike"/>
          </a:p>
        </p:txBody>
      </p:sp>
      <p:sp>
        <p:nvSpPr>
          <p:cNvPr id="90" name="Google Shape;90;p6"/>
          <p:cNvSpPr/>
          <p:nvPr/>
        </p:nvSpPr>
        <p:spPr>
          <a:xfrm>
            <a:off x="6664088" y="5800450"/>
            <a:ext cx="4909288" cy="90244"/>
          </a:xfrm>
          <a:custGeom>
            <a:rect b="b" l="l" r="r" t="t"/>
            <a:pathLst>
              <a:path extrusionOk="0" h="90244" w="4909288">
                <a:moveTo>
                  <a:pt x="0" y="0"/>
                </a:moveTo>
                <a:lnTo>
                  <a:pt x="4909288" y="0"/>
                </a:lnTo>
                <a:lnTo>
                  <a:pt x="4909288" y="90244"/>
                </a:lnTo>
                <a:lnTo>
                  <a:pt x="0" y="90244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6"/>
          <p:cNvSpPr/>
          <p:nvPr/>
        </p:nvSpPr>
        <p:spPr>
          <a:xfrm>
            <a:off x="1335615" y="6026061"/>
            <a:ext cx="1137078" cy="2165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37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Energy Efficiency</a:t>
            </a:r>
            <a:endParaRPr b="0" i="0" sz="1600" u="none" cap="none" strike="noStrike"/>
          </a:p>
        </p:txBody>
      </p:sp>
      <p:sp>
        <p:nvSpPr>
          <p:cNvPr id="92" name="Google Shape;92;p6"/>
          <p:cNvSpPr/>
          <p:nvPr/>
        </p:nvSpPr>
        <p:spPr>
          <a:xfrm>
            <a:off x="10457956" y="6026061"/>
            <a:ext cx="1191224" cy="2165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37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High Performance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5F5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7"/>
          <p:cNvSpPr/>
          <p:nvPr/>
        </p:nvSpPr>
        <p:spPr>
          <a:xfrm rot="-720000">
            <a:off x="9654540" y="1424941"/>
            <a:ext cx="1190625" cy="1190625"/>
          </a:xfrm>
          <a:custGeom>
            <a:rect b="b" l="l" r="r" t="t"/>
            <a:pathLst>
              <a:path extrusionOk="0" h="1190625" w="1190625">
                <a:moveTo>
                  <a:pt x="0" y="0"/>
                </a:moveTo>
                <a:lnTo>
                  <a:pt x="1190625" y="0"/>
                </a:lnTo>
                <a:lnTo>
                  <a:pt x="1190625" y="1190625"/>
                </a:lnTo>
                <a:lnTo>
                  <a:pt x="0" y="1190625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cap="flat" cmpd="sng" w="381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7"/>
          <p:cNvSpPr/>
          <p:nvPr/>
        </p:nvSpPr>
        <p:spPr>
          <a:xfrm rot="2700000">
            <a:off x="1348653" y="4549401"/>
            <a:ext cx="886318" cy="886318"/>
          </a:xfrm>
          <a:custGeom>
            <a:rect b="b" l="l" r="r" t="t"/>
            <a:pathLst>
              <a:path extrusionOk="0" h="885825" w="885825">
                <a:moveTo>
                  <a:pt x="0" y="0"/>
                </a:moveTo>
                <a:lnTo>
                  <a:pt x="885825" y="0"/>
                </a:lnTo>
                <a:lnTo>
                  <a:pt x="885825" y="885825"/>
                </a:lnTo>
                <a:lnTo>
                  <a:pt x="0" y="885825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cap="flat" cmpd="sng" w="381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7"/>
          <p:cNvSpPr/>
          <p:nvPr/>
        </p:nvSpPr>
        <p:spPr>
          <a:xfrm rot="719078">
            <a:off x="10992504" y="5658202"/>
            <a:ext cx="732898" cy="732898"/>
          </a:xfrm>
          <a:custGeom>
            <a:rect b="b" l="l" r="r" t="t"/>
            <a:pathLst>
              <a:path extrusionOk="0" h="733425" w="733425">
                <a:moveTo>
                  <a:pt x="0" y="0"/>
                </a:moveTo>
                <a:lnTo>
                  <a:pt x="733425" y="0"/>
                </a:lnTo>
                <a:lnTo>
                  <a:pt x="733425" y="733425"/>
                </a:lnTo>
                <a:lnTo>
                  <a:pt x="0" y="733425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cap="flat" cmpd="sng" w="381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7150">
              <a:srgbClr val="2D3436"/>
            </a:outerShdw>
          </a:effectLst>
        </p:spPr>
      </p:sp>
      <p:sp>
        <p:nvSpPr>
          <p:cNvPr id="101" name="Google Shape;101;p7"/>
          <p:cNvSpPr/>
          <p:nvPr/>
        </p:nvSpPr>
        <p:spPr>
          <a:xfrm>
            <a:off x="395288" y="395288"/>
            <a:ext cx="1838325" cy="409575"/>
          </a:xfrm>
          <a:custGeom>
            <a:rect b="b" l="l" r="r" t="t"/>
            <a:pathLst>
              <a:path extrusionOk="0" h="409575" w="1838325">
                <a:moveTo>
                  <a:pt x="0" y="0"/>
                </a:moveTo>
                <a:lnTo>
                  <a:pt x="1838325" y="0"/>
                </a:lnTo>
                <a:lnTo>
                  <a:pt x="1838325" y="409575"/>
                </a:lnTo>
                <a:lnTo>
                  <a:pt x="0" y="409575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cap="flat" cmpd="sng" w="381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7150">
              <a:srgbClr val="2D3436"/>
            </a:outerShdw>
          </a:effectLst>
        </p:spPr>
      </p:sp>
      <p:sp>
        <p:nvSpPr>
          <p:cNvPr id="102" name="Google Shape;102;p7"/>
          <p:cNvSpPr/>
          <p:nvPr/>
        </p:nvSpPr>
        <p:spPr>
          <a:xfrm>
            <a:off x="561975" y="509587"/>
            <a:ext cx="1585119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BREAKTHROUGH</a:t>
            </a:r>
            <a:endParaRPr b="0" i="0" sz="1600" u="none" cap="none" strike="noStrike"/>
          </a:p>
        </p:txBody>
      </p:sp>
      <p:sp>
        <p:nvSpPr>
          <p:cNvPr id="103" name="Google Shape;103;p7"/>
          <p:cNvSpPr/>
          <p:nvPr/>
        </p:nvSpPr>
        <p:spPr>
          <a:xfrm>
            <a:off x="381000" y="933450"/>
            <a:ext cx="1165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2D3436"/>
                </a:solidFill>
                <a:latin typeface="Coda"/>
                <a:ea typeface="Coda"/>
                <a:cs typeface="Coda"/>
                <a:sym typeface="Coda"/>
              </a:rPr>
              <a:t>Let There Be No Signle</a:t>
            </a:r>
            <a:r>
              <a:rPr b="1" i="0" lang="en-US" sz="3600" u="none" cap="none" strike="noStrike">
                <a:solidFill>
                  <a:srgbClr val="2D3436"/>
                </a:solidFill>
                <a:latin typeface="Coda"/>
                <a:ea typeface="Coda"/>
                <a:cs typeface="Coda"/>
                <a:sym typeface="Coda"/>
              </a:rPr>
              <a:t> Radios</a:t>
            </a:r>
            <a:endParaRPr b="0" i="0" sz="1600" u="none" cap="none" strike="noStrike"/>
          </a:p>
        </p:txBody>
      </p:sp>
      <p:sp>
        <p:nvSpPr>
          <p:cNvPr id="104" name="Google Shape;104;p7"/>
          <p:cNvSpPr/>
          <p:nvPr/>
        </p:nvSpPr>
        <p:spPr>
          <a:xfrm>
            <a:off x="3642114" y="2266950"/>
            <a:ext cx="4343400" cy="2324100"/>
          </a:xfrm>
          <a:custGeom>
            <a:rect b="b" l="l" r="r" t="t"/>
            <a:pathLst>
              <a:path extrusionOk="0" h="2324100" w="4343400">
                <a:moveTo>
                  <a:pt x="0" y="0"/>
                </a:moveTo>
                <a:lnTo>
                  <a:pt x="4343400" y="0"/>
                </a:lnTo>
                <a:lnTo>
                  <a:pt x="4343400" y="2324100"/>
                </a:lnTo>
                <a:lnTo>
                  <a:pt x="0" y="2324100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cap="flat" cmpd="sng" w="508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7150">
              <a:srgbClr val="2D3436"/>
            </a:outerShdw>
          </a:effectLst>
        </p:spPr>
      </p:sp>
      <p:sp>
        <p:nvSpPr>
          <p:cNvPr id="105" name="Google Shape;105;p7"/>
          <p:cNvSpPr/>
          <p:nvPr/>
        </p:nvSpPr>
        <p:spPr>
          <a:xfrm>
            <a:off x="3880239" y="2514600"/>
            <a:ext cx="38673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Coda"/>
                <a:ea typeface="Coda"/>
                <a:cs typeface="Coda"/>
                <a:sym typeface="Coda"/>
              </a:rPr>
              <a:t>If one radio can't do it...</a:t>
            </a:r>
            <a:endParaRPr b="0" i="0" sz="1600" u="none" cap="none" strike="noStrike"/>
          </a:p>
        </p:txBody>
      </p:sp>
      <p:sp>
        <p:nvSpPr>
          <p:cNvPr id="106" name="Google Shape;106;p7"/>
          <p:cNvSpPr/>
          <p:nvPr/>
        </p:nvSpPr>
        <p:spPr>
          <a:xfrm>
            <a:off x="4801147" y="3067050"/>
            <a:ext cx="723900" cy="723900"/>
          </a:xfrm>
          <a:custGeom>
            <a:rect b="b" l="l" r="r" t="t"/>
            <a:pathLst>
              <a:path extrusionOk="0" h="723900" w="723900">
                <a:moveTo>
                  <a:pt x="0" y="0"/>
                </a:moveTo>
                <a:lnTo>
                  <a:pt x="723900" y="0"/>
                </a:lnTo>
                <a:lnTo>
                  <a:pt x="723900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flat" cmpd="sng" w="508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7150">
              <a:srgbClr val="2D3436"/>
            </a:outerShdw>
          </a:effectLst>
        </p:spPr>
      </p:sp>
      <p:sp>
        <p:nvSpPr>
          <p:cNvPr id="107" name="Google Shape;107;p7"/>
          <p:cNvSpPr/>
          <p:nvPr/>
        </p:nvSpPr>
        <p:spPr>
          <a:xfrm>
            <a:off x="5004744" y="3286125"/>
            <a:ext cx="321469" cy="285750"/>
          </a:xfrm>
          <a:custGeom>
            <a:rect b="b" l="l" r="r" t="t"/>
            <a:pathLst>
              <a:path extrusionOk="0" h="285750" w="321469">
                <a:moveTo>
                  <a:pt x="49057" y="6418"/>
                </a:moveTo>
                <a:cubicBezTo>
                  <a:pt x="42751" y="2567"/>
                  <a:pt x="34491" y="4632"/>
                  <a:pt x="30640" y="10939"/>
                </a:cubicBezTo>
                <a:cubicBezTo>
                  <a:pt x="16799" y="33821"/>
                  <a:pt x="8874" y="60666"/>
                  <a:pt x="8874" y="89297"/>
                </a:cubicBezTo>
                <a:cubicBezTo>
                  <a:pt x="8874" y="117928"/>
                  <a:pt x="16799" y="144773"/>
                  <a:pt x="30640" y="167655"/>
                </a:cubicBezTo>
                <a:cubicBezTo>
                  <a:pt x="34491" y="173961"/>
                  <a:pt x="42695" y="176026"/>
                  <a:pt x="49057" y="172176"/>
                </a:cubicBezTo>
                <a:cubicBezTo>
                  <a:pt x="55420" y="168325"/>
                  <a:pt x="57429" y="160120"/>
                  <a:pt x="53578" y="153758"/>
                </a:cubicBezTo>
                <a:cubicBezTo>
                  <a:pt x="42249" y="135006"/>
                  <a:pt x="35719" y="112905"/>
                  <a:pt x="35719" y="89297"/>
                </a:cubicBezTo>
                <a:cubicBezTo>
                  <a:pt x="35719" y="65689"/>
                  <a:pt x="42249" y="43588"/>
                  <a:pt x="53634" y="24780"/>
                </a:cubicBezTo>
                <a:cubicBezTo>
                  <a:pt x="57485" y="18473"/>
                  <a:pt x="55420" y="10213"/>
                  <a:pt x="49113" y="6362"/>
                </a:cubicBezTo>
                <a:close/>
                <a:moveTo>
                  <a:pt x="272355" y="6418"/>
                </a:moveTo>
                <a:cubicBezTo>
                  <a:pt x="266049" y="10269"/>
                  <a:pt x="263984" y="18473"/>
                  <a:pt x="267835" y="24836"/>
                </a:cubicBezTo>
                <a:cubicBezTo>
                  <a:pt x="279220" y="43644"/>
                  <a:pt x="285750" y="65745"/>
                  <a:pt x="285750" y="89353"/>
                </a:cubicBezTo>
                <a:cubicBezTo>
                  <a:pt x="285750" y="112961"/>
                  <a:pt x="279220" y="135062"/>
                  <a:pt x="267835" y="153870"/>
                </a:cubicBezTo>
                <a:cubicBezTo>
                  <a:pt x="263984" y="160176"/>
                  <a:pt x="266049" y="168436"/>
                  <a:pt x="272355" y="172287"/>
                </a:cubicBezTo>
                <a:cubicBezTo>
                  <a:pt x="278662" y="176138"/>
                  <a:pt x="286922" y="174073"/>
                  <a:pt x="290773" y="167767"/>
                </a:cubicBezTo>
                <a:cubicBezTo>
                  <a:pt x="304614" y="144884"/>
                  <a:pt x="312539" y="118039"/>
                  <a:pt x="312539" y="89408"/>
                </a:cubicBezTo>
                <a:cubicBezTo>
                  <a:pt x="312539" y="60778"/>
                  <a:pt x="304614" y="33821"/>
                  <a:pt x="290773" y="10939"/>
                </a:cubicBezTo>
                <a:cubicBezTo>
                  <a:pt x="286922" y="4632"/>
                  <a:pt x="278718" y="2567"/>
                  <a:pt x="272355" y="6418"/>
                </a:cubicBezTo>
                <a:close/>
                <a:moveTo>
                  <a:pt x="178594" y="120216"/>
                </a:moveTo>
                <a:cubicBezTo>
                  <a:pt x="189254" y="114021"/>
                  <a:pt x="196453" y="102524"/>
                  <a:pt x="196453" y="89297"/>
                </a:cubicBezTo>
                <a:cubicBezTo>
                  <a:pt x="196453" y="69596"/>
                  <a:pt x="180435" y="53578"/>
                  <a:pt x="160734" y="53578"/>
                </a:cubicBezTo>
                <a:cubicBezTo>
                  <a:pt x="141033" y="53578"/>
                  <a:pt x="125016" y="69596"/>
                  <a:pt x="125016" y="89297"/>
                </a:cubicBezTo>
                <a:cubicBezTo>
                  <a:pt x="125016" y="102524"/>
                  <a:pt x="132215" y="114077"/>
                  <a:pt x="142875" y="120216"/>
                </a:cubicBezTo>
                <a:lnTo>
                  <a:pt x="142875" y="267891"/>
                </a:lnTo>
                <a:cubicBezTo>
                  <a:pt x="142875" y="277769"/>
                  <a:pt x="150856" y="285750"/>
                  <a:pt x="160734" y="285750"/>
                </a:cubicBezTo>
                <a:cubicBezTo>
                  <a:pt x="170613" y="285750"/>
                  <a:pt x="178594" y="277769"/>
                  <a:pt x="178594" y="267891"/>
                </a:cubicBezTo>
                <a:lnTo>
                  <a:pt x="178594" y="120216"/>
                </a:lnTo>
                <a:close/>
                <a:moveTo>
                  <a:pt x="100571" y="50788"/>
                </a:moveTo>
                <a:cubicBezTo>
                  <a:pt x="104589" y="44537"/>
                  <a:pt x="102747" y="36277"/>
                  <a:pt x="96552" y="32258"/>
                </a:cubicBezTo>
                <a:cubicBezTo>
                  <a:pt x="90357" y="28240"/>
                  <a:pt x="82042" y="30082"/>
                  <a:pt x="78023" y="36277"/>
                </a:cubicBezTo>
                <a:cubicBezTo>
                  <a:pt x="68200" y="51569"/>
                  <a:pt x="62508" y="69763"/>
                  <a:pt x="62508" y="89297"/>
                </a:cubicBezTo>
                <a:cubicBezTo>
                  <a:pt x="62508" y="108831"/>
                  <a:pt x="68200" y="127025"/>
                  <a:pt x="78023" y="142317"/>
                </a:cubicBezTo>
                <a:cubicBezTo>
                  <a:pt x="82042" y="148568"/>
                  <a:pt x="90301" y="150354"/>
                  <a:pt x="96552" y="146335"/>
                </a:cubicBezTo>
                <a:cubicBezTo>
                  <a:pt x="102803" y="142317"/>
                  <a:pt x="104589" y="134057"/>
                  <a:pt x="100571" y="127806"/>
                </a:cubicBezTo>
                <a:cubicBezTo>
                  <a:pt x="93427" y="116700"/>
                  <a:pt x="89297" y="103473"/>
                  <a:pt x="89297" y="89297"/>
                </a:cubicBezTo>
                <a:cubicBezTo>
                  <a:pt x="89297" y="75121"/>
                  <a:pt x="93427" y="61894"/>
                  <a:pt x="100571" y="50788"/>
                </a:cubicBezTo>
                <a:close/>
                <a:moveTo>
                  <a:pt x="243446" y="36277"/>
                </a:moveTo>
                <a:cubicBezTo>
                  <a:pt x="239427" y="30026"/>
                  <a:pt x="231167" y="28240"/>
                  <a:pt x="224917" y="32258"/>
                </a:cubicBezTo>
                <a:cubicBezTo>
                  <a:pt x="218666" y="36277"/>
                  <a:pt x="216880" y="44537"/>
                  <a:pt x="220898" y="50788"/>
                </a:cubicBezTo>
                <a:cubicBezTo>
                  <a:pt x="228042" y="61894"/>
                  <a:pt x="232172" y="75121"/>
                  <a:pt x="232172" y="89297"/>
                </a:cubicBezTo>
                <a:cubicBezTo>
                  <a:pt x="232172" y="103473"/>
                  <a:pt x="228042" y="116700"/>
                  <a:pt x="220898" y="127806"/>
                </a:cubicBezTo>
                <a:cubicBezTo>
                  <a:pt x="216880" y="134057"/>
                  <a:pt x="218722" y="142317"/>
                  <a:pt x="224917" y="146335"/>
                </a:cubicBezTo>
                <a:cubicBezTo>
                  <a:pt x="231111" y="150354"/>
                  <a:pt x="239427" y="148512"/>
                  <a:pt x="243446" y="142317"/>
                </a:cubicBezTo>
                <a:cubicBezTo>
                  <a:pt x="253268" y="127025"/>
                  <a:pt x="258961" y="108831"/>
                  <a:pt x="258961" y="89297"/>
                </a:cubicBezTo>
                <a:cubicBezTo>
                  <a:pt x="258961" y="69763"/>
                  <a:pt x="253268" y="51569"/>
                  <a:pt x="243446" y="36277"/>
                </a:cubicBezTo>
                <a:close/>
              </a:path>
            </a:pathLst>
          </a:custGeom>
          <a:solidFill>
            <a:srgbClr val="FF6B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7"/>
          <p:cNvSpPr/>
          <p:nvPr/>
        </p:nvSpPr>
        <p:spPr>
          <a:xfrm>
            <a:off x="5582197" y="3200400"/>
            <a:ext cx="466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</a:t>
            </a:r>
            <a:endParaRPr b="0" i="0" sz="1600" u="none" cap="none" strike="noStrike"/>
          </a:p>
        </p:txBody>
      </p:sp>
      <p:sp>
        <p:nvSpPr>
          <p:cNvPr id="109" name="Google Shape;109;p7"/>
          <p:cNvSpPr/>
          <p:nvPr/>
        </p:nvSpPr>
        <p:spPr>
          <a:xfrm>
            <a:off x="6104644" y="3067050"/>
            <a:ext cx="723900" cy="723900"/>
          </a:xfrm>
          <a:custGeom>
            <a:rect b="b" l="l" r="r" t="t"/>
            <a:pathLst>
              <a:path extrusionOk="0" h="723900" w="723900">
                <a:moveTo>
                  <a:pt x="0" y="0"/>
                </a:moveTo>
                <a:lnTo>
                  <a:pt x="723900" y="0"/>
                </a:lnTo>
                <a:lnTo>
                  <a:pt x="723900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flat" cmpd="sng" w="508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7150">
              <a:srgbClr val="2D3436"/>
            </a:outerShdw>
          </a:effectLst>
        </p:spPr>
      </p:sp>
      <p:sp>
        <p:nvSpPr>
          <p:cNvPr id="110" name="Google Shape;110;p7"/>
          <p:cNvSpPr/>
          <p:nvPr/>
        </p:nvSpPr>
        <p:spPr>
          <a:xfrm>
            <a:off x="6326100" y="3286125"/>
            <a:ext cx="285750" cy="285750"/>
          </a:xfrm>
          <a:custGeom>
            <a:rect b="b" l="l" r="r" t="t"/>
            <a:pathLst>
              <a:path extrusionOk="0" h="285750" w="285750">
                <a:moveTo>
                  <a:pt x="129480" y="0"/>
                </a:moveTo>
                <a:cubicBezTo>
                  <a:pt x="215764" y="0"/>
                  <a:pt x="285750" y="69986"/>
                  <a:pt x="285750" y="156270"/>
                </a:cubicBezTo>
                <a:cubicBezTo>
                  <a:pt x="285750" y="163692"/>
                  <a:pt x="279778" y="169664"/>
                  <a:pt x="272355" y="169664"/>
                </a:cubicBezTo>
                <a:cubicBezTo>
                  <a:pt x="264933" y="169664"/>
                  <a:pt x="258961" y="163692"/>
                  <a:pt x="258961" y="156270"/>
                </a:cubicBezTo>
                <a:cubicBezTo>
                  <a:pt x="258961" y="84776"/>
                  <a:pt x="200974" y="26789"/>
                  <a:pt x="129480" y="26789"/>
                </a:cubicBezTo>
                <a:cubicBezTo>
                  <a:pt x="122058" y="26789"/>
                  <a:pt x="116086" y="20817"/>
                  <a:pt x="116086" y="13395"/>
                </a:cubicBezTo>
                <a:cubicBezTo>
                  <a:pt x="116086" y="5972"/>
                  <a:pt x="122058" y="0"/>
                  <a:pt x="129480" y="0"/>
                </a:cubicBezTo>
                <a:close/>
                <a:moveTo>
                  <a:pt x="116086" y="66973"/>
                </a:moveTo>
                <a:cubicBezTo>
                  <a:pt x="116086" y="59550"/>
                  <a:pt x="122058" y="53578"/>
                  <a:pt x="129480" y="53578"/>
                </a:cubicBezTo>
                <a:cubicBezTo>
                  <a:pt x="186184" y="53578"/>
                  <a:pt x="232172" y="99566"/>
                  <a:pt x="232172" y="156270"/>
                </a:cubicBezTo>
                <a:cubicBezTo>
                  <a:pt x="232172" y="163692"/>
                  <a:pt x="226200" y="169664"/>
                  <a:pt x="218777" y="169664"/>
                </a:cubicBezTo>
                <a:cubicBezTo>
                  <a:pt x="211355" y="169664"/>
                  <a:pt x="205383" y="163692"/>
                  <a:pt x="205383" y="156270"/>
                </a:cubicBezTo>
                <a:cubicBezTo>
                  <a:pt x="205383" y="114356"/>
                  <a:pt x="171394" y="80367"/>
                  <a:pt x="129480" y="80367"/>
                </a:cubicBezTo>
                <a:cubicBezTo>
                  <a:pt x="122058" y="80367"/>
                  <a:pt x="116086" y="74395"/>
                  <a:pt x="116086" y="66973"/>
                </a:cubicBezTo>
                <a:close/>
                <a:moveTo>
                  <a:pt x="14734" y="79642"/>
                </a:moveTo>
                <a:cubicBezTo>
                  <a:pt x="19645" y="69652"/>
                  <a:pt x="32817" y="68535"/>
                  <a:pt x="40686" y="76405"/>
                </a:cubicBezTo>
                <a:lnTo>
                  <a:pt x="112402" y="148121"/>
                </a:lnTo>
                <a:lnTo>
                  <a:pt x="130262" y="130262"/>
                </a:lnTo>
                <a:cubicBezTo>
                  <a:pt x="137238" y="123285"/>
                  <a:pt x="148568" y="123285"/>
                  <a:pt x="155544" y="130262"/>
                </a:cubicBezTo>
                <a:cubicBezTo>
                  <a:pt x="162520" y="137238"/>
                  <a:pt x="162520" y="148568"/>
                  <a:pt x="155544" y="155544"/>
                </a:cubicBezTo>
                <a:lnTo>
                  <a:pt x="137685" y="173403"/>
                </a:lnTo>
                <a:lnTo>
                  <a:pt x="209401" y="245120"/>
                </a:lnTo>
                <a:cubicBezTo>
                  <a:pt x="217270" y="252989"/>
                  <a:pt x="216098" y="266105"/>
                  <a:pt x="206164" y="271072"/>
                </a:cubicBezTo>
                <a:cubicBezTo>
                  <a:pt x="187077" y="280504"/>
                  <a:pt x="165646" y="285806"/>
                  <a:pt x="142931" y="285806"/>
                </a:cubicBezTo>
                <a:cubicBezTo>
                  <a:pt x="64015" y="285806"/>
                  <a:pt x="56" y="221847"/>
                  <a:pt x="56" y="142931"/>
                </a:cubicBezTo>
                <a:cubicBezTo>
                  <a:pt x="56" y="120216"/>
                  <a:pt x="5358" y="98729"/>
                  <a:pt x="14790" y="79697"/>
                </a:cubicBezTo>
                <a:close/>
              </a:path>
            </a:pathLst>
          </a:custGeom>
          <a:solidFill>
            <a:srgbClr val="4ECD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7"/>
          <p:cNvSpPr/>
          <p:nvPr/>
        </p:nvSpPr>
        <p:spPr>
          <a:xfrm>
            <a:off x="3880239" y="3962400"/>
            <a:ext cx="38673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Coda"/>
                <a:ea typeface="Coda"/>
                <a:cs typeface="Coda"/>
                <a:sym typeface="Coda"/>
              </a:rPr>
              <a:t>Use TWO radios!</a:t>
            </a:r>
            <a:endParaRPr b="0" i="0" sz="1600" u="none" cap="none" strike="noStrike"/>
          </a:p>
        </p:txBody>
      </p:sp>
      <p:sp>
        <p:nvSpPr>
          <p:cNvPr id="112" name="Google Shape;112;p7"/>
          <p:cNvSpPr/>
          <p:nvPr/>
        </p:nvSpPr>
        <p:spPr>
          <a:xfrm>
            <a:off x="2682875" y="4895850"/>
            <a:ext cx="171450" cy="228600"/>
          </a:xfrm>
          <a:custGeom>
            <a:rect b="b" l="l" r="r" t="t"/>
            <a:pathLst>
              <a:path extrusionOk="0" h="228600" w="17145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7"/>
          <p:cNvSpPr/>
          <p:nvPr/>
        </p:nvSpPr>
        <p:spPr>
          <a:xfrm>
            <a:off x="9294812" y="4895850"/>
            <a:ext cx="257175" cy="228600"/>
          </a:xfrm>
          <a:custGeom>
            <a:rect b="b" l="l" r="r" t="t"/>
            <a:pathLst>
              <a:path extrusionOk="0" h="228600" w="257175">
                <a:moveTo>
                  <a:pt x="120060" y="38040"/>
                </a:moveTo>
                <a:lnTo>
                  <a:pt x="68000" y="95905"/>
                </a:lnTo>
                <a:cubicBezTo>
                  <a:pt x="65946" y="98182"/>
                  <a:pt x="66035" y="101709"/>
                  <a:pt x="68223" y="103897"/>
                </a:cubicBezTo>
                <a:cubicBezTo>
                  <a:pt x="81841" y="117515"/>
                  <a:pt x="103942" y="117515"/>
                  <a:pt x="117559" y="103897"/>
                </a:cubicBezTo>
                <a:lnTo>
                  <a:pt x="131758" y="89699"/>
                </a:lnTo>
                <a:cubicBezTo>
                  <a:pt x="133633" y="87823"/>
                  <a:pt x="135999" y="86797"/>
                  <a:pt x="138410" y="86618"/>
                </a:cubicBezTo>
                <a:cubicBezTo>
                  <a:pt x="141446" y="86350"/>
                  <a:pt x="144572" y="87377"/>
                  <a:pt x="146893" y="89699"/>
                </a:cubicBezTo>
                <a:lnTo>
                  <a:pt x="225743" y="167878"/>
                </a:lnTo>
                <a:lnTo>
                  <a:pt x="257175" y="142875"/>
                </a:lnTo>
                <a:lnTo>
                  <a:pt x="257175" y="14288"/>
                </a:lnTo>
                <a:lnTo>
                  <a:pt x="207169" y="42863"/>
                </a:lnTo>
                <a:lnTo>
                  <a:pt x="196542" y="35763"/>
                </a:lnTo>
                <a:cubicBezTo>
                  <a:pt x="189488" y="31075"/>
                  <a:pt x="181228" y="28575"/>
                  <a:pt x="172745" y="28575"/>
                </a:cubicBezTo>
                <a:lnTo>
                  <a:pt x="141312" y="28575"/>
                </a:lnTo>
                <a:cubicBezTo>
                  <a:pt x="140821" y="28575"/>
                  <a:pt x="140285" y="28575"/>
                  <a:pt x="139794" y="28620"/>
                </a:cubicBezTo>
                <a:cubicBezTo>
                  <a:pt x="132249" y="29021"/>
                  <a:pt x="125150" y="32415"/>
                  <a:pt x="120060" y="38040"/>
                </a:cubicBezTo>
                <a:close/>
                <a:moveTo>
                  <a:pt x="52060" y="81573"/>
                </a:moveTo>
                <a:lnTo>
                  <a:pt x="99745" y="28575"/>
                </a:lnTo>
                <a:lnTo>
                  <a:pt x="82064" y="28575"/>
                </a:lnTo>
                <a:cubicBezTo>
                  <a:pt x="70678" y="28575"/>
                  <a:pt x="59784" y="33084"/>
                  <a:pt x="51748" y="41121"/>
                </a:cubicBezTo>
                <a:lnTo>
                  <a:pt x="50006" y="42863"/>
                </a:lnTo>
                <a:lnTo>
                  <a:pt x="0" y="14288"/>
                </a:lnTo>
                <a:lnTo>
                  <a:pt x="0" y="142875"/>
                </a:lnTo>
                <a:lnTo>
                  <a:pt x="69830" y="201052"/>
                </a:lnTo>
                <a:cubicBezTo>
                  <a:pt x="80099" y="209624"/>
                  <a:pt x="93047" y="214313"/>
                  <a:pt x="106397" y="214313"/>
                </a:cubicBezTo>
                <a:lnTo>
                  <a:pt x="113407" y="214313"/>
                </a:lnTo>
                <a:lnTo>
                  <a:pt x="110282" y="211187"/>
                </a:lnTo>
                <a:cubicBezTo>
                  <a:pt x="106085" y="206990"/>
                  <a:pt x="106085" y="200204"/>
                  <a:pt x="110282" y="196051"/>
                </a:cubicBezTo>
                <a:cubicBezTo>
                  <a:pt x="114479" y="191899"/>
                  <a:pt x="121265" y="191854"/>
                  <a:pt x="125417" y="196051"/>
                </a:cubicBezTo>
                <a:lnTo>
                  <a:pt x="143723" y="214357"/>
                </a:lnTo>
                <a:lnTo>
                  <a:pt x="147742" y="214357"/>
                </a:lnTo>
                <a:cubicBezTo>
                  <a:pt x="156270" y="214357"/>
                  <a:pt x="164619" y="212437"/>
                  <a:pt x="172209" y="208865"/>
                </a:cubicBezTo>
                <a:lnTo>
                  <a:pt x="160288" y="196900"/>
                </a:lnTo>
                <a:cubicBezTo>
                  <a:pt x="156091" y="192703"/>
                  <a:pt x="156091" y="185916"/>
                  <a:pt x="160288" y="181764"/>
                </a:cubicBezTo>
                <a:cubicBezTo>
                  <a:pt x="164485" y="177611"/>
                  <a:pt x="171271" y="177567"/>
                  <a:pt x="175424" y="181764"/>
                </a:cubicBezTo>
                <a:lnTo>
                  <a:pt x="189711" y="196051"/>
                </a:lnTo>
                <a:lnTo>
                  <a:pt x="197525" y="188238"/>
                </a:lnTo>
                <a:cubicBezTo>
                  <a:pt x="201498" y="184264"/>
                  <a:pt x="202659" y="178504"/>
                  <a:pt x="200918" y="173459"/>
                </a:cubicBezTo>
                <a:lnTo>
                  <a:pt x="139348" y="112380"/>
                </a:lnTo>
                <a:lnTo>
                  <a:pt x="132695" y="119033"/>
                </a:lnTo>
                <a:cubicBezTo>
                  <a:pt x="110683" y="141044"/>
                  <a:pt x="75054" y="141044"/>
                  <a:pt x="53042" y="119033"/>
                </a:cubicBezTo>
                <a:cubicBezTo>
                  <a:pt x="42773" y="108764"/>
                  <a:pt x="42371" y="92288"/>
                  <a:pt x="52060" y="8152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5F5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"/>
          <p:cNvSpPr/>
          <p:nvPr/>
        </p:nvSpPr>
        <p:spPr>
          <a:xfrm>
            <a:off x="8598250" y="0"/>
            <a:ext cx="3595688" cy="6858000"/>
          </a:xfrm>
          <a:custGeom>
            <a:rect b="b" l="l" r="r" t="t"/>
            <a:pathLst>
              <a:path extrusionOk="0" h="6858000" w="4762500">
                <a:moveTo>
                  <a:pt x="0" y="0"/>
                </a:moveTo>
                <a:lnTo>
                  <a:pt x="4762500" y="0"/>
                </a:lnTo>
                <a:lnTo>
                  <a:pt x="47625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6B6B">
              <a:alpha val="90196"/>
            </a:srgbClr>
          </a:solidFill>
          <a:ln>
            <a:noFill/>
          </a:ln>
        </p:spPr>
      </p:sp>
      <p:sp>
        <p:nvSpPr>
          <p:cNvPr id="120" name="Google Shape;120;p8"/>
          <p:cNvSpPr/>
          <p:nvPr/>
        </p:nvSpPr>
        <p:spPr>
          <a:xfrm rot="720000">
            <a:off x="10449560" y="1153160"/>
            <a:ext cx="876300" cy="876300"/>
          </a:xfrm>
          <a:custGeom>
            <a:rect b="b" l="l" r="r" t="t"/>
            <a:pathLst>
              <a:path extrusionOk="0" h="876300" w="876300">
                <a:moveTo>
                  <a:pt x="0" y="0"/>
                </a:moveTo>
                <a:lnTo>
                  <a:pt x="876300" y="0"/>
                </a:lnTo>
                <a:lnTo>
                  <a:pt x="876300" y="876300"/>
                </a:ln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flat" cmpd="sng" w="508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7150">
              <a:srgbClr val="2D3436"/>
            </a:outerShdw>
          </a:effectLst>
        </p:spPr>
      </p:sp>
      <p:sp>
        <p:nvSpPr>
          <p:cNvPr id="121" name="Google Shape;121;p8"/>
          <p:cNvSpPr/>
          <p:nvPr/>
        </p:nvSpPr>
        <p:spPr>
          <a:xfrm rot="-720000">
            <a:off x="10020777" y="4686777"/>
            <a:ext cx="571500" cy="571500"/>
          </a:xfrm>
          <a:custGeom>
            <a:rect b="b" l="l" r="r" t="t"/>
            <a:pathLst>
              <a:path extrusionOk="0" h="571500" w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cap="flat" cmpd="sng" w="508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7150">
              <a:srgbClr val="2D3436"/>
            </a:outerShdw>
          </a:effectLst>
        </p:spPr>
      </p:sp>
      <p:sp>
        <p:nvSpPr>
          <p:cNvPr id="122" name="Google Shape;122;p8"/>
          <p:cNvSpPr/>
          <p:nvPr/>
        </p:nvSpPr>
        <p:spPr>
          <a:xfrm rot="2700000">
            <a:off x="9005253" y="3290253"/>
            <a:ext cx="723900" cy="723900"/>
          </a:xfrm>
          <a:custGeom>
            <a:rect b="b" l="l" r="r" t="t"/>
            <a:pathLst>
              <a:path extrusionOk="0" h="723900" w="723900">
                <a:moveTo>
                  <a:pt x="0" y="0"/>
                </a:moveTo>
                <a:lnTo>
                  <a:pt x="723900" y="0"/>
                </a:lnTo>
                <a:lnTo>
                  <a:pt x="723900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cap="flat" cmpd="sng" w="508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7150">
              <a:srgbClr val="2D3436"/>
            </a:outerShdw>
          </a:effectLst>
        </p:spPr>
      </p:sp>
      <p:sp>
        <p:nvSpPr>
          <p:cNvPr id="123" name="Google Shape;123;p8"/>
          <p:cNvSpPr/>
          <p:nvPr/>
        </p:nvSpPr>
        <p:spPr>
          <a:xfrm rot="719078">
            <a:off x="634885" y="299607"/>
            <a:ext cx="1494350" cy="1494350"/>
          </a:xfrm>
          <a:custGeom>
            <a:rect b="b" l="l" r="r" t="t"/>
            <a:pathLst>
              <a:path extrusionOk="0" h="1495425" w="1495425">
                <a:moveTo>
                  <a:pt x="0" y="0"/>
                </a:moveTo>
                <a:lnTo>
                  <a:pt x="1495425" y="0"/>
                </a:lnTo>
                <a:lnTo>
                  <a:pt x="1495425" y="1495425"/>
                </a:lnTo>
                <a:lnTo>
                  <a:pt x="0" y="1495425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cap="flat" cmpd="sng" w="381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7150">
              <a:srgbClr val="2D3436"/>
            </a:outerShdw>
          </a:effectLst>
        </p:spPr>
      </p:sp>
      <p:sp>
        <p:nvSpPr>
          <p:cNvPr id="124" name="Google Shape;124;p8"/>
          <p:cNvSpPr/>
          <p:nvPr/>
        </p:nvSpPr>
        <p:spPr>
          <a:xfrm rot="2700000">
            <a:off x="2336653" y="955427"/>
            <a:ext cx="886318" cy="886318"/>
          </a:xfrm>
          <a:custGeom>
            <a:rect b="b" l="l" r="r" t="t"/>
            <a:pathLst>
              <a:path extrusionOk="0" h="885825" w="885825">
                <a:moveTo>
                  <a:pt x="0" y="0"/>
                </a:moveTo>
                <a:lnTo>
                  <a:pt x="885825" y="0"/>
                </a:lnTo>
                <a:lnTo>
                  <a:pt x="885825" y="885825"/>
                </a:lnTo>
                <a:lnTo>
                  <a:pt x="0" y="8858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flat" cmpd="sng" w="381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7150">
              <a:srgbClr val="2D3436"/>
            </a:outerShdw>
          </a:effectLst>
        </p:spPr>
      </p:sp>
      <p:sp>
        <p:nvSpPr>
          <p:cNvPr id="125" name="Google Shape;125;p8"/>
          <p:cNvSpPr/>
          <p:nvPr/>
        </p:nvSpPr>
        <p:spPr>
          <a:xfrm>
            <a:off x="400050" y="997551"/>
            <a:ext cx="1885950" cy="571500"/>
          </a:xfrm>
          <a:custGeom>
            <a:rect b="b" l="l" r="r" t="t"/>
            <a:pathLst>
              <a:path extrusionOk="0" h="571500" w="1885950">
                <a:moveTo>
                  <a:pt x="0" y="0"/>
                </a:moveTo>
                <a:lnTo>
                  <a:pt x="1885950" y="0"/>
                </a:lnTo>
                <a:lnTo>
                  <a:pt x="188595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2D3436"/>
          </a:solidFill>
          <a:ln cap="flat" cmpd="sng" w="5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7150">
              <a:srgbClr val="2D3436"/>
            </a:outerShdw>
          </a:effectLst>
        </p:spPr>
      </p:sp>
      <p:sp>
        <p:nvSpPr>
          <p:cNvPr id="126" name="Google Shape;126;p8"/>
          <p:cNvSpPr/>
          <p:nvPr/>
        </p:nvSpPr>
        <p:spPr>
          <a:xfrm>
            <a:off x="647700" y="1149951"/>
            <a:ext cx="15057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CHAPTER 01</a:t>
            </a:r>
            <a:endParaRPr b="0" i="0" sz="1600" u="none" cap="none" strike="noStrike"/>
          </a:p>
        </p:txBody>
      </p:sp>
      <p:sp>
        <p:nvSpPr>
          <p:cNvPr id="127" name="Google Shape;127;p8"/>
          <p:cNvSpPr/>
          <p:nvPr/>
        </p:nvSpPr>
        <p:spPr>
          <a:xfrm>
            <a:off x="292449" y="3096125"/>
            <a:ext cx="3749400" cy="10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2D3436"/>
                </a:solidFill>
                <a:latin typeface="Coda"/>
                <a:ea typeface="Coda"/>
                <a:cs typeface="Coda"/>
                <a:sym typeface="Coda"/>
              </a:rPr>
              <a:t>WUR Radio</a:t>
            </a:r>
            <a:endParaRPr b="0" i="0" sz="16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/>
          </a:p>
        </p:txBody>
      </p:sp>
      <p:sp>
        <p:nvSpPr>
          <p:cNvPr id="128" name="Google Shape;128;p8"/>
          <p:cNvSpPr/>
          <p:nvPr/>
        </p:nvSpPr>
        <p:spPr>
          <a:xfrm>
            <a:off x="381000" y="3952875"/>
            <a:ext cx="65722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4ECDC4"/>
                </a:solidFill>
                <a:latin typeface="Coda"/>
                <a:ea typeface="Coda"/>
                <a:cs typeface="Coda"/>
                <a:sym typeface="Coda"/>
              </a:rPr>
              <a:t>High-Level Architecture</a:t>
            </a:r>
            <a:endParaRPr b="0" i="0" sz="1600" u="none" cap="none" strike="noStrike"/>
          </a:p>
        </p:txBody>
      </p:sp>
      <p:sp>
        <p:nvSpPr>
          <p:cNvPr id="129" name="Google Shape;129;p8"/>
          <p:cNvSpPr/>
          <p:nvPr/>
        </p:nvSpPr>
        <p:spPr>
          <a:xfrm>
            <a:off x="390525" y="4648200"/>
            <a:ext cx="1200150" cy="57150"/>
          </a:xfrm>
          <a:custGeom>
            <a:rect b="b" l="l" r="r" t="t"/>
            <a:pathLst>
              <a:path extrusionOk="0" h="57150" w="1200150">
                <a:moveTo>
                  <a:pt x="0" y="0"/>
                </a:moveTo>
                <a:lnTo>
                  <a:pt x="1200150" y="0"/>
                </a:lnTo>
                <a:lnTo>
                  <a:pt x="120015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cap="flat" cmpd="sng" w="254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5F5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9"/>
          <p:cNvSpPr/>
          <p:nvPr/>
        </p:nvSpPr>
        <p:spPr>
          <a:xfrm rot="720000">
            <a:off x="10453059" y="216819"/>
            <a:ext cx="1023827" cy="1023827"/>
          </a:xfrm>
          <a:custGeom>
            <a:rect b="b" l="l" r="r" t="t"/>
            <a:pathLst>
              <a:path extrusionOk="0" h="1023827" w="1023827">
                <a:moveTo>
                  <a:pt x="0" y="0"/>
                </a:moveTo>
                <a:lnTo>
                  <a:pt x="1023827" y="0"/>
                </a:lnTo>
                <a:lnTo>
                  <a:pt x="1023827" y="1023827"/>
                </a:lnTo>
                <a:lnTo>
                  <a:pt x="0" y="1023827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cap="flat" cmpd="sng" w="381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6357">
              <a:srgbClr val="2D3436"/>
            </a:outerShdw>
          </a:effectLst>
        </p:spPr>
      </p:sp>
      <p:sp>
        <p:nvSpPr>
          <p:cNvPr id="136" name="Google Shape;136;p9"/>
          <p:cNvSpPr/>
          <p:nvPr/>
        </p:nvSpPr>
        <p:spPr>
          <a:xfrm rot="-720000">
            <a:off x="9879779" y="5298070"/>
            <a:ext cx="723254" cy="723254"/>
          </a:xfrm>
          <a:custGeom>
            <a:rect b="b" l="l" r="r" t="t"/>
            <a:pathLst>
              <a:path extrusionOk="0" h="723254" w="723254">
                <a:moveTo>
                  <a:pt x="0" y="0"/>
                </a:moveTo>
                <a:lnTo>
                  <a:pt x="723254" y="0"/>
                </a:lnTo>
                <a:lnTo>
                  <a:pt x="723254" y="723254"/>
                </a:lnTo>
                <a:lnTo>
                  <a:pt x="0" y="723254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cap="flat" cmpd="sng" w="381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6357">
              <a:srgbClr val="2D3436"/>
            </a:outerShdw>
          </a:effectLst>
        </p:spPr>
      </p:sp>
      <p:sp>
        <p:nvSpPr>
          <p:cNvPr id="137" name="Google Shape;137;p9"/>
          <p:cNvSpPr/>
          <p:nvPr/>
        </p:nvSpPr>
        <p:spPr>
          <a:xfrm>
            <a:off x="389806" y="389806"/>
            <a:ext cx="1455901" cy="403895"/>
          </a:xfrm>
          <a:custGeom>
            <a:rect b="b" l="l" r="r" t="t"/>
            <a:pathLst>
              <a:path extrusionOk="0" h="403895" w="1455901">
                <a:moveTo>
                  <a:pt x="0" y="0"/>
                </a:moveTo>
                <a:lnTo>
                  <a:pt x="1455901" y="0"/>
                </a:lnTo>
                <a:lnTo>
                  <a:pt x="1455901" y="403895"/>
                </a:lnTo>
                <a:lnTo>
                  <a:pt x="0" y="403895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cap="flat" cmpd="sng" w="381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6357">
              <a:srgbClr val="2D3436"/>
            </a:outerShdw>
          </a:effectLst>
        </p:spPr>
      </p:sp>
      <p:sp>
        <p:nvSpPr>
          <p:cNvPr id="138" name="Google Shape;138;p9"/>
          <p:cNvSpPr/>
          <p:nvPr/>
        </p:nvSpPr>
        <p:spPr>
          <a:xfrm>
            <a:off x="554182" y="502521"/>
            <a:ext cx="1206207" cy="1784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83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PRIMARY RADIO</a:t>
            </a:r>
            <a:endParaRPr b="0" i="0" sz="1600" u="none" cap="none" strike="noStrike"/>
          </a:p>
        </p:txBody>
      </p:sp>
      <p:sp>
        <p:nvSpPr>
          <p:cNvPr id="139" name="Google Shape;139;p9"/>
          <p:cNvSpPr/>
          <p:nvPr/>
        </p:nvSpPr>
        <p:spPr>
          <a:xfrm>
            <a:off x="375716" y="920505"/>
            <a:ext cx="11665997" cy="450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50" u="none" cap="none" strike="noStrike">
                <a:solidFill>
                  <a:srgbClr val="2D3436"/>
                </a:solidFill>
                <a:latin typeface="Coda"/>
                <a:ea typeface="Coda"/>
                <a:cs typeface="Coda"/>
                <a:sym typeface="Coda"/>
              </a:rPr>
              <a:t>PCR: Primary Connectivity Radio</a:t>
            </a:r>
            <a:endParaRPr b="0" i="0" sz="1600" u="none" cap="none" strike="noStrike"/>
          </a:p>
        </p:txBody>
      </p:sp>
      <p:sp>
        <p:nvSpPr>
          <p:cNvPr id="140" name="Google Shape;140;p9"/>
          <p:cNvSpPr/>
          <p:nvPr/>
        </p:nvSpPr>
        <p:spPr>
          <a:xfrm>
            <a:off x="1261938" y="2705159"/>
            <a:ext cx="2667587" cy="2667587"/>
          </a:xfrm>
          <a:custGeom>
            <a:rect b="b" l="l" r="r" t="t"/>
            <a:pathLst>
              <a:path extrusionOk="0" h="2667587" w="2667587">
                <a:moveTo>
                  <a:pt x="0" y="0"/>
                </a:moveTo>
                <a:lnTo>
                  <a:pt x="2667587" y="0"/>
                </a:lnTo>
                <a:lnTo>
                  <a:pt x="2667587" y="2667587"/>
                </a:lnTo>
                <a:lnTo>
                  <a:pt x="0" y="2667587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cap="flat" cmpd="sng" w="508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6357">
              <a:srgbClr val="2D3436"/>
            </a:outerShdw>
          </a:effectLst>
        </p:spPr>
      </p:sp>
      <p:sp>
        <p:nvSpPr>
          <p:cNvPr id="141" name="Google Shape;141;p9"/>
          <p:cNvSpPr/>
          <p:nvPr/>
        </p:nvSpPr>
        <p:spPr>
          <a:xfrm>
            <a:off x="1919442" y="3437806"/>
            <a:ext cx="1352579" cy="1202293"/>
          </a:xfrm>
          <a:custGeom>
            <a:rect b="b" l="l" r="r" t="t"/>
            <a:pathLst>
              <a:path extrusionOk="0" h="1202293" w="1352579">
                <a:moveTo>
                  <a:pt x="206409" y="27005"/>
                </a:moveTo>
                <a:cubicBezTo>
                  <a:pt x="179874" y="10802"/>
                  <a:pt x="145120" y="19490"/>
                  <a:pt x="128918" y="46025"/>
                </a:cubicBezTo>
                <a:cubicBezTo>
                  <a:pt x="70682" y="142303"/>
                  <a:pt x="37337" y="255252"/>
                  <a:pt x="37337" y="375716"/>
                </a:cubicBezTo>
                <a:cubicBezTo>
                  <a:pt x="37337" y="496181"/>
                  <a:pt x="70682" y="609130"/>
                  <a:pt x="128918" y="705408"/>
                </a:cubicBezTo>
                <a:cubicBezTo>
                  <a:pt x="145120" y="731943"/>
                  <a:pt x="179639" y="740631"/>
                  <a:pt x="206409" y="724428"/>
                </a:cubicBezTo>
                <a:cubicBezTo>
                  <a:pt x="233179" y="708226"/>
                  <a:pt x="241633" y="673707"/>
                  <a:pt x="225430" y="646937"/>
                </a:cubicBezTo>
                <a:cubicBezTo>
                  <a:pt x="177761" y="568036"/>
                  <a:pt x="150287" y="475047"/>
                  <a:pt x="150287" y="375716"/>
                </a:cubicBezTo>
                <a:cubicBezTo>
                  <a:pt x="150287" y="276386"/>
                  <a:pt x="177761" y="183397"/>
                  <a:pt x="225665" y="104261"/>
                </a:cubicBezTo>
                <a:cubicBezTo>
                  <a:pt x="241867" y="77726"/>
                  <a:pt x="233179" y="42973"/>
                  <a:pt x="206644" y="26770"/>
                </a:cubicBezTo>
                <a:close/>
                <a:moveTo>
                  <a:pt x="1145935" y="27005"/>
                </a:moveTo>
                <a:cubicBezTo>
                  <a:pt x="1119400" y="43207"/>
                  <a:pt x="1110712" y="77726"/>
                  <a:pt x="1126915" y="104496"/>
                </a:cubicBezTo>
                <a:cubicBezTo>
                  <a:pt x="1174818" y="183631"/>
                  <a:pt x="1202293" y="276621"/>
                  <a:pt x="1202293" y="375951"/>
                </a:cubicBezTo>
                <a:cubicBezTo>
                  <a:pt x="1202293" y="475281"/>
                  <a:pt x="1174818" y="568271"/>
                  <a:pt x="1126915" y="647406"/>
                </a:cubicBezTo>
                <a:cubicBezTo>
                  <a:pt x="1110712" y="673941"/>
                  <a:pt x="1119400" y="708695"/>
                  <a:pt x="1145935" y="724898"/>
                </a:cubicBezTo>
                <a:cubicBezTo>
                  <a:pt x="1172470" y="741101"/>
                  <a:pt x="1207224" y="732412"/>
                  <a:pt x="1223427" y="705877"/>
                </a:cubicBezTo>
                <a:cubicBezTo>
                  <a:pt x="1281663" y="609600"/>
                  <a:pt x="1315008" y="496650"/>
                  <a:pt x="1315008" y="376186"/>
                </a:cubicBezTo>
                <a:cubicBezTo>
                  <a:pt x="1315008" y="255722"/>
                  <a:pt x="1281663" y="142303"/>
                  <a:pt x="1223427" y="46025"/>
                </a:cubicBezTo>
                <a:cubicBezTo>
                  <a:pt x="1207224" y="19490"/>
                  <a:pt x="1172705" y="10802"/>
                  <a:pt x="1145935" y="27005"/>
                </a:cubicBezTo>
                <a:close/>
                <a:moveTo>
                  <a:pt x="751433" y="505808"/>
                </a:moveTo>
                <a:cubicBezTo>
                  <a:pt x="796284" y="479743"/>
                  <a:pt x="826576" y="431369"/>
                  <a:pt x="826576" y="375716"/>
                </a:cubicBezTo>
                <a:cubicBezTo>
                  <a:pt x="826576" y="292824"/>
                  <a:pt x="759182" y="225430"/>
                  <a:pt x="676290" y="225430"/>
                </a:cubicBezTo>
                <a:cubicBezTo>
                  <a:pt x="593397" y="225430"/>
                  <a:pt x="526003" y="292824"/>
                  <a:pt x="526003" y="375716"/>
                </a:cubicBezTo>
                <a:cubicBezTo>
                  <a:pt x="526003" y="431369"/>
                  <a:pt x="556295" y="479978"/>
                  <a:pt x="601146" y="505808"/>
                </a:cubicBezTo>
                <a:lnTo>
                  <a:pt x="601146" y="1127149"/>
                </a:lnTo>
                <a:cubicBezTo>
                  <a:pt x="601146" y="1168713"/>
                  <a:pt x="634726" y="1202293"/>
                  <a:pt x="676290" y="1202293"/>
                </a:cubicBezTo>
                <a:cubicBezTo>
                  <a:pt x="717853" y="1202293"/>
                  <a:pt x="751433" y="1168713"/>
                  <a:pt x="751433" y="1127149"/>
                </a:cubicBezTo>
                <a:lnTo>
                  <a:pt x="751433" y="505808"/>
                </a:lnTo>
                <a:close/>
                <a:moveTo>
                  <a:pt x="423151" y="213689"/>
                </a:moveTo>
                <a:cubicBezTo>
                  <a:pt x="440058" y="187389"/>
                  <a:pt x="432309" y="152635"/>
                  <a:pt x="406243" y="135728"/>
                </a:cubicBezTo>
                <a:cubicBezTo>
                  <a:pt x="380178" y="118820"/>
                  <a:pt x="345190" y="126569"/>
                  <a:pt x="328282" y="152635"/>
                </a:cubicBezTo>
                <a:cubicBezTo>
                  <a:pt x="286953" y="216976"/>
                  <a:pt x="263002" y="293529"/>
                  <a:pt x="263002" y="375716"/>
                </a:cubicBezTo>
                <a:cubicBezTo>
                  <a:pt x="263002" y="457904"/>
                  <a:pt x="286953" y="534457"/>
                  <a:pt x="328282" y="598798"/>
                </a:cubicBezTo>
                <a:cubicBezTo>
                  <a:pt x="345190" y="625098"/>
                  <a:pt x="379943" y="632613"/>
                  <a:pt x="406243" y="615705"/>
                </a:cubicBezTo>
                <a:cubicBezTo>
                  <a:pt x="432544" y="598798"/>
                  <a:pt x="440058" y="564044"/>
                  <a:pt x="423151" y="537744"/>
                </a:cubicBezTo>
                <a:cubicBezTo>
                  <a:pt x="393093" y="491014"/>
                  <a:pt x="375716" y="435361"/>
                  <a:pt x="375716" y="375716"/>
                </a:cubicBezTo>
                <a:cubicBezTo>
                  <a:pt x="375716" y="316071"/>
                  <a:pt x="393093" y="260418"/>
                  <a:pt x="423151" y="213689"/>
                </a:cubicBezTo>
                <a:close/>
                <a:moveTo>
                  <a:pt x="1024297" y="152635"/>
                </a:moveTo>
                <a:cubicBezTo>
                  <a:pt x="1007390" y="126335"/>
                  <a:pt x="972636" y="118820"/>
                  <a:pt x="946336" y="135728"/>
                </a:cubicBezTo>
                <a:cubicBezTo>
                  <a:pt x="920036" y="152635"/>
                  <a:pt x="912521" y="187389"/>
                  <a:pt x="929429" y="213689"/>
                </a:cubicBezTo>
                <a:cubicBezTo>
                  <a:pt x="959486" y="260418"/>
                  <a:pt x="976863" y="316071"/>
                  <a:pt x="976863" y="375716"/>
                </a:cubicBezTo>
                <a:cubicBezTo>
                  <a:pt x="976863" y="435361"/>
                  <a:pt x="959486" y="491014"/>
                  <a:pt x="929429" y="537744"/>
                </a:cubicBezTo>
                <a:cubicBezTo>
                  <a:pt x="912521" y="564044"/>
                  <a:pt x="920271" y="598798"/>
                  <a:pt x="946336" y="615705"/>
                </a:cubicBezTo>
                <a:cubicBezTo>
                  <a:pt x="972401" y="632613"/>
                  <a:pt x="1007390" y="624863"/>
                  <a:pt x="1024297" y="598798"/>
                </a:cubicBezTo>
                <a:cubicBezTo>
                  <a:pt x="1065626" y="534457"/>
                  <a:pt x="1089578" y="457904"/>
                  <a:pt x="1089578" y="375716"/>
                </a:cubicBezTo>
                <a:cubicBezTo>
                  <a:pt x="1089578" y="293529"/>
                  <a:pt x="1065626" y="216976"/>
                  <a:pt x="1024297" y="15263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9"/>
          <p:cNvSpPr/>
          <p:nvPr/>
        </p:nvSpPr>
        <p:spPr>
          <a:xfrm>
            <a:off x="3412601" y="5086262"/>
            <a:ext cx="676290" cy="441467"/>
          </a:xfrm>
          <a:custGeom>
            <a:rect b="b" l="l" r="r" t="t"/>
            <a:pathLst>
              <a:path extrusionOk="0" h="441467" w="676290">
                <a:moveTo>
                  <a:pt x="0" y="0"/>
                </a:moveTo>
                <a:lnTo>
                  <a:pt x="676290" y="0"/>
                </a:lnTo>
                <a:lnTo>
                  <a:pt x="676290" y="441467"/>
                </a:lnTo>
                <a:lnTo>
                  <a:pt x="0" y="441467"/>
                </a:lnTo>
                <a:lnTo>
                  <a:pt x="0" y="0"/>
                </a:lnTo>
                <a:close/>
              </a:path>
            </a:pathLst>
          </a:custGeom>
          <a:solidFill>
            <a:srgbClr val="2D3436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6357">
              <a:srgbClr val="2D3436"/>
            </a:outerShdw>
          </a:effectLst>
        </p:spPr>
      </p:sp>
      <p:sp>
        <p:nvSpPr>
          <p:cNvPr id="143" name="Google Shape;143;p9"/>
          <p:cNvSpPr/>
          <p:nvPr/>
        </p:nvSpPr>
        <p:spPr>
          <a:xfrm>
            <a:off x="3398512" y="5072173"/>
            <a:ext cx="742040" cy="413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75125" lIns="150275" spcFirstLastPara="1" rIns="150275" wrap="square" tIns="7512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79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PCR</a:t>
            </a:r>
            <a:endParaRPr b="0" i="0" sz="1600" u="none" cap="none" strike="noStrike"/>
          </a:p>
        </p:txBody>
      </p:sp>
      <p:sp>
        <p:nvSpPr>
          <p:cNvPr id="144" name="Google Shape;144;p9"/>
          <p:cNvSpPr/>
          <p:nvPr/>
        </p:nvSpPr>
        <p:spPr>
          <a:xfrm>
            <a:off x="5059962" y="1991297"/>
            <a:ext cx="6734718" cy="976863"/>
          </a:xfrm>
          <a:custGeom>
            <a:rect b="b" l="l" r="r" t="t"/>
            <a:pathLst>
              <a:path extrusionOk="0" h="976863" w="6734718">
                <a:moveTo>
                  <a:pt x="0" y="0"/>
                </a:moveTo>
                <a:lnTo>
                  <a:pt x="6734718" y="0"/>
                </a:lnTo>
                <a:lnTo>
                  <a:pt x="6734718" y="976863"/>
                </a:lnTo>
                <a:lnTo>
                  <a:pt x="0" y="97686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flat" cmpd="sng" w="508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6357">
              <a:srgbClr val="2D3436"/>
            </a:outerShdw>
          </a:effectLst>
        </p:spPr>
      </p:sp>
      <p:sp>
        <p:nvSpPr>
          <p:cNvPr id="145" name="Google Shape;145;p9"/>
          <p:cNvSpPr/>
          <p:nvPr/>
        </p:nvSpPr>
        <p:spPr>
          <a:xfrm>
            <a:off x="5280695" y="2230817"/>
            <a:ext cx="497824" cy="497824"/>
          </a:xfrm>
          <a:custGeom>
            <a:rect b="b" l="l" r="r" t="t"/>
            <a:pathLst>
              <a:path extrusionOk="0" h="497824" w="497824">
                <a:moveTo>
                  <a:pt x="0" y="0"/>
                </a:moveTo>
                <a:lnTo>
                  <a:pt x="497824" y="0"/>
                </a:lnTo>
                <a:lnTo>
                  <a:pt x="497824" y="497824"/>
                </a:lnTo>
                <a:lnTo>
                  <a:pt x="0" y="497824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cap="flat" cmpd="sng" w="381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6357">
              <a:srgbClr val="2D3436"/>
            </a:outerShdw>
          </a:effectLst>
        </p:spPr>
      </p:sp>
      <p:sp>
        <p:nvSpPr>
          <p:cNvPr id="146" name="Google Shape;146;p9"/>
          <p:cNvSpPr/>
          <p:nvPr/>
        </p:nvSpPr>
        <p:spPr>
          <a:xfrm>
            <a:off x="5430982" y="2367014"/>
            <a:ext cx="197251" cy="225430"/>
          </a:xfrm>
          <a:custGeom>
            <a:rect b="b" l="l" r="r" t="t"/>
            <a:pathLst>
              <a:path extrusionOk="0" h="225430" w="197251">
                <a:moveTo>
                  <a:pt x="149171" y="-4359"/>
                </a:moveTo>
                <a:cubicBezTo>
                  <a:pt x="154411" y="-572"/>
                  <a:pt x="156348" y="6296"/>
                  <a:pt x="153970" y="12284"/>
                </a:cubicBezTo>
                <a:lnTo>
                  <a:pt x="119451" y="98626"/>
                </a:lnTo>
                <a:lnTo>
                  <a:pt x="183162" y="98626"/>
                </a:lnTo>
                <a:cubicBezTo>
                  <a:pt x="189106" y="98626"/>
                  <a:pt x="194389" y="102324"/>
                  <a:pt x="196415" y="107916"/>
                </a:cubicBezTo>
                <a:cubicBezTo>
                  <a:pt x="198440" y="113507"/>
                  <a:pt x="196723" y="119760"/>
                  <a:pt x="192188" y="123546"/>
                </a:cubicBezTo>
                <a:lnTo>
                  <a:pt x="65383" y="229216"/>
                </a:lnTo>
                <a:cubicBezTo>
                  <a:pt x="60408" y="233355"/>
                  <a:pt x="53319" y="233575"/>
                  <a:pt x="48080" y="229789"/>
                </a:cubicBezTo>
                <a:cubicBezTo>
                  <a:pt x="42840" y="226002"/>
                  <a:pt x="40903" y="219134"/>
                  <a:pt x="43281" y="213146"/>
                </a:cubicBezTo>
                <a:lnTo>
                  <a:pt x="77800" y="126804"/>
                </a:lnTo>
                <a:lnTo>
                  <a:pt x="14089" y="126804"/>
                </a:lnTo>
                <a:cubicBezTo>
                  <a:pt x="8145" y="126804"/>
                  <a:pt x="2862" y="123106"/>
                  <a:pt x="837" y="117514"/>
                </a:cubicBezTo>
                <a:cubicBezTo>
                  <a:pt x="-1189" y="111922"/>
                  <a:pt x="528" y="105670"/>
                  <a:pt x="5063" y="101884"/>
                </a:cubicBezTo>
                <a:lnTo>
                  <a:pt x="131868" y="-3787"/>
                </a:lnTo>
                <a:cubicBezTo>
                  <a:pt x="136843" y="-7925"/>
                  <a:pt x="143932" y="-8145"/>
                  <a:pt x="149171" y="-435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9"/>
          <p:cNvSpPr/>
          <p:nvPr/>
        </p:nvSpPr>
        <p:spPr>
          <a:xfrm>
            <a:off x="5942896" y="2197941"/>
            <a:ext cx="3663236" cy="3005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75" u="none" cap="none" strike="noStrike">
                <a:solidFill>
                  <a:srgbClr val="2D3436"/>
                </a:solidFill>
                <a:latin typeface="Coda"/>
                <a:ea typeface="Coda"/>
                <a:cs typeface="Coda"/>
                <a:sym typeface="Coda"/>
              </a:rPr>
              <a:t>High Speed Data Transmission</a:t>
            </a:r>
            <a:endParaRPr b="0" i="0" sz="1600" u="none" cap="none" strike="noStrike"/>
          </a:p>
        </p:txBody>
      </p:sp>
      <p:sp>
        <p:nvSpPr>
          <p:cNvPr id="148" name="Google Shape;148;p9"/>
          <p:cNvSpPr/>
          <p:nvPr/>
        </p:nvSpPr>
        <p:spPr>
          <a:xfrm>
            <a:off x="5942896" y="2536086"/>
            <a:ext cx="3625664" cy="2254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83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Capable of handling large data payloads at high speeds</a:t>
            </a:r>
            <a:endParaRPr b="0" i="0" sz="1600" u="none" cap="none" strike="noStrike"/>
          </a:p>
        </p:txBody>
      </p:sp>
      <p:sp>
        <p:nvSpPr>
          <p:cNvPr id="149" name="Google Shape;149;p9"/>
          <p:cNvSpPr/>
          <p:nvPr/>
        </p:nvSpPr>
        <p:spPr>
          <a:xfrm>
            <a:off x="5059962" y="3156018"/>
            <a:ext cx="6734718" cy="976863"/>
          </a:xfrm>
          <a:custGeom>
            <a:rect b="b" l="l" r="r" t="t"/>
            <a:pathLst>
              <a:path extrusionOk="0" h="976863" w="6734718">
                <a:moveTo>
                  <a:pt x="0" y="0"/>
                </a:moveTo>
                <a:lnTo>
                  <a:pt x="6734718" y="0"/>
                </a:lnTo>
                <a:lnTo>
                  <a:pt x="6734718" y="976863"/>
                </a:lnTo>
                <a:lnTo>
                  <a:pt x="0" y="97686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flat" cmpd="sng" w="508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6357">
              <a:srgbClr val="2D3436"/>
            </a:outerShdw>
          </a:effectLst>
        </p:spPr>
      </p:sp>
      <p:sp>
        <p:nvSpPr>
          <p:cNvPr id="150" name="Google Shape;150;p9"/>
          <p:cNvSpPr/>
          <p:nvPr/>
        </p:nvSpPr>
        <p:spPr>
          <a:xfrm>
            <a:off x="5280695" y="3395538"/>
            <a:ext cx="497824" cy="497824"/>
          </a:xfrm>
          <a:custGeom>
            <a:rect b="b" l="l" r="r" t="t"/>
            <a:pathLst>
              <a:path extrusionOk="0" h="497824" w="497824">
                <a:moveTo>
                  <a:pt x="0" y="0"/>
                </a:moveTo>
                <a:lnTo>
                  <a:pt x="497824" y="0"/>
                </a:lnTo>
                <a:lnTo>
                  <a:pt x="497824" y="497824"/>
                </a:lnTo>
                <a:lnTo>
                  <a:pt x="0" y="497824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cap="flat" cmpd="sng" w="381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6357">
              <a:srgbClr val="2D3436"/>
            </a:outerShdw>
          </a:effectLst>
        </p:spPr>
      </p:sp>
      <p:sp>
        <p:nvSpPr>
          <p:cNvPr id="151" name="Google Shape;151;p9"/>
          <p:cNvSpPr/>
          <p:nvPr/>
        </p:nvSpPr>
        <p:spPr>
          <a:xfrm>
            <a:off x="5388714" y="3531735"/>
            <a:ext cx="281787" cy="225430"/>
          </a:xfrm>
          <a:custGeom>
            <a:rect b="b" l="l" r="r" t="t"/>
            <a:pathLst>
              <a:path extrusionOk="0" h="225430" w="281787">
                <a:moveTo>
                  <a:pt x="232475" y="56357"/>
                </a:moveTo>
                <a:cubicBezTo>
                  <a:pt x="236349" y="56357"/>
                  <a:pt x="239519" y="59528"/>
                  <a:pt x="239519" y="63402"/>
                </a:cubicBezTo>
                <a:lnTo>
                  <a:pt x="239519" y="162028"/>
                </a:lnTo>
                <a:cubicBezTo>
                  <a:pt x="239519" y="165902"/>
                  <a:pt x="236349" y="169072"/>
                  <a:pt x="232475" y="169072"/>
                </a:cubicBezTo>
                <a:lnTo>
                  <a:pt x="49313" y="169072"/>
                </a:lnTo>
                <a:cubicBezTo>
                  <a:pt x="45438" y="169072"/>
                  <a:pt x="42268" y="165902"/>
                  <a:pt x="42268" y="162028"/>
                </a:cubicBezTo>
                <a:lnTo>
                  <a:pt x="42268" y="63402"/>
                </a:lnTo>
                <a:cubicBezTo>
                  <a:pt x="42268" y="59528"/>
                  <a:pt x="45438" y="56357"/>
                  <a:pt x="49313" y="56357"/>
                </a:cubicBezTo>
                <a:lnTo>
                  <a:pt x="232475" y="56357"/>
                </a:lnTo>
                <a:close/>
                <a:moveTo>
                  <a:pt x="49313" y="28179"/>
                </a:moveTo>
                <a:cubicBezTo>
                  <a:pt x="29852" y="28179"/>
                  <a:pt x="14089" y="43941"/>
                  <a:pt x="14089" y="63402"/>
                </a:cubicBezTo>
                <a:lnTo>
                  <a:pt x="14089" y="162028"/>
                </a:lnTo>
                <a:cubicBezTo>
                  <a:pt x="14089" y="181489"/>
                  <a:pt x="29852" y="197251"/>
                  <a:pt x="49313" y="197251"/>
                </a:cubicBezTo>
                <a:lnTo>
                  <a:pt x="232475" y="197251"/>
                </a:lnTo>
                <a:cubicBezTo>
                  <a:pt x="251936" y="197251"/>
                  <a:pt x="267698" y="181489"/>
                  <a:pt x="267698" y="162028"/>
                </a:cubicBezTo>
                <a:lnTo>
                  <a:pt x="267698" y="140894"/>
                </a:lnTo>
                <a:cubicBezTo>
                  <a:pt x="275491" y="140894"/>
                  <a:pt x="281787" y="134597"/>
                  <a:pt x="281787" y="126804"/>
                </a:cubicBezTo>
                <a:lnTo>
                  <a:pt x="281787" y="98626"/>
                </a:lnTo>
                <a:cubicBezTo>
                  <a:pt x="281787" y="90832"/>
                  <a:pt x="275491" y="84536"/>
                  <a:pt x="267698" y="84536"/>
                </a:cubicBezTo>
                <a:lnTo>
                  <a:pt x="267698" y="63402"/>
                </a:lnTo>
                <a:cubicBezTo>
                  <a:pt x="267698" y="43941"/>
                  <a:pt x="251936" y="28179"/>
                  <a:pt x="232475" y="28179"/>
                </a:cubicBezTo>
                <a:lnTo>
                  <a:pt x="49313" y="28179"/>
                </a:lnTo>
                <a:close/>
                <a:moveTo>
                  <a:pt x="73969" y="77492"/>
                </a:moveTo>
                <a:cubicBezTo>
                  <a:pt x="68113" y="77492"/>
                  <a:pt x="63402" y="82203"/>
                  <a:pt x="63402" y="88059"/>
                </a:cubicBezTo>
                <a:lnTo>
                  <a:pt x="63402" y="137371"/>
                </a:lnTo>
                <a:cubicBezTo>
                  <a:pt x="63402" y="143227"/>
                  <a:pt x="68113" y="147938"/>
                  <a:pt x="73969" y="147938"/>
                </a:cubicBezTo>
                <a:lnTo>
                  <a:pt x="207818" y="147938"/>
                </a:lnTo>
                <a:cubicBezTo>
                  <a:pt x="213674" y="147938"/>
                  <a:pt x="218385" y="143227"/>
                  <a:pt x="218385" y="137371"/>
                </a:cubicBezTo>
                <a:lnTo>
                  <a:pt x="218385" y="88059"/>
                </a:lnTo>
                <a:cubicBezTo>
                  <a:pt x="218385" y="82203"/>
                  <a:pt x="213674" y="77492"/>
                  <a:pt x="207818" y="77492"/>
                </a:cubicBezTo>
                <a:lnTo>
                  <a:pt x="73969" y="7749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9"/>
          <p:cNvSpPr/>
          <p:nvPr/>
        </p:nvSpPr>
        <p:spPr>
          <a:xfrm>
            <a:off x="5942896" y="3362663"/>
            <a:ext cx="3437806" cy="3005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75" u="none" cap="none" strike="noStrike">
                <a:solidFill>
                  <a:srgbClr val="2D3436"/>
                </a:solidFill>
                <a:latin typeface="Coda"/>
                <a:ea typeface="Coda"/>
                <a:cs typeface="Coda"/>
                <a:sym typeface="Coda"/>
              </a:rPr>
              <a:t>High Power Consumption</a:t>
            </a:r>
            <a:endParaRPr b="0" i="0" sz="1600" u="none" cap="none" strike="noStrike"/>
          </a:p>
        </p:txBody>
      </p:sp>
      <p:sp>
        <p:nvSpPr>
          <p:cNvPr id="153" name="Google Shape;153;p9"/>
          <p:cNvSpPr/>
          <p:nvPr/>
        </p:nvSpPr>
        <p:spPr>
          <a:xfrm>
            <a:off x="5942896" y="3700807"/>
            <a:ext cx="3400234" cy="2254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83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Requires significant energy to maintain connectivity</a:t>
            </a:r>
            <a:endParaRPr b="0" i="0" sz="1600" u="none" cap="none" strike="noStrike"/>
          </a:p>
        </p:txBody>
      </p:sp>
      <p:sp>
        <p:nvSpPr>
          <p:cNvPr id="154" name="Google Shape;154;p9"/>
          <p:cNvSpPr/>
          <p:nvPr/>
        </p:nvSpPr>
        <p:spPr>
          <a:xfrm>
            <a:off x="5059962" y="4320740"/>
            <a:ext cx="6734718" cy="976863"/>
          </a:xfrm>
          <a:custGeom>
            <a:rect b="b" l="l" r="r" t="t"/>
            <a:pathLst>
              <a:path extrusionOk="0" h="976863" w="6734718">
                <a:moveTo>
                  <a:pt x="0" y="0"/>
                </a:moveTo>
                <a:lnTo>
                  <a:pt x="6734718" y="0"/>
                </a:lnTo>
                <a:lnTo>
                  <a:pt x="6734718" y="976863"/>
                </a:lnTo>
                <a:lnTo>
                  <a:pt x="0" y="97686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flat" cmpd="sng" w="508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6357">
              <a:srgbClr val="2D3436"/>
            </a:outerShdw>
          </a:effectLst>
        </p:spPr>
      </p:sp>
      <p:sp>
        <p:nvSpPr>
          <p:cNvPr id="155" name="Google Shape;155;p9"/>
          <p:cNvSpPr/>
          <p:nvPr/>
        </p:nvSpPr>
        <p:spPr>
          <a:xfrm>
            <a:off x="5280695" y="4560259"/>
            <a:ext cx="497824" cy="497824"/>
          </a:xfrm>
          <a:custGeom>
            <a:rect b="b" l="l" r="r" t="t"/>
            <a:pathLst>
              <a:path extrusionOk="0" h="497824" w="497824">
                <a:moveTo>
                  <a:pt x="0" y="0"/>
                </a:moveTo>
                <a:lnTo>
                  <a:pt x="497824" y="0"/>
                </a:lnTo>
                <a:lnTo>
                  <a:pt x="497824" y="497824"/>
                </a:lnTo>
                <a:lnTo>
                  <a:pt x="0" y="497824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cap="flat" cmpd="sng" w="381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6357">
              <a:srgbClr val="2D3436"/>
            </a:outerShdw>
          </a:effectLst>
        </p:spPr>
      </p:sp>
      <p:sp>
        <p:nvSpPr>
          <p:cNvPr id="156" name="Google Shape;156;p9"/>
          <p:cNvSpPr/>
          <p:nvPr/>
        </p:nvSpPr>
        <p:spPr>
          <a:xfrm>
            <a:off x="5416893" y="4696456"/>
            <a:ext cx="225430" cy="225430"/>
          </a:xfrm>
          <a:custGeom>
            <a:rect b="b" l="l" r="r" t="t"/>
            <a:pathLst>
              <a:path extrusionOk="0" h="225430" w="225430">
                <a:moveTo>
                  <a:pt x="225430" y="42268"/>
                </a:moveTo>
                <a:cubicBezTo>
                  <a:pt x="225430" y="64371"/>
                  <a:pt x="199409" y="97349"/>
                  <a:pt x="188181" y="110513"/>
                </a:cubicBezTo>
                <a:cubicBezTo>
                  <a:pt x="186508" y="112451"/>
                  <a:pt x="184042" y="113199"/>
                  <a:pt x="181797" y="112715"/>
                </a:cubicBezTo>
                <a:lnTo>
                  <a:pt x="140894" y="112715"/>
                </a:lnTo>
                <a:cubicBezTo>
                  <a:pt x="133101" y="112715"/>
                  <a:pt x="126804" y="119011"/>
                  <a:pt x="126804" y="126804"/>
                </a:cubicBezTo>
                <a:cubicBezTo>
                  <a:pt x="126804" y="134597"/>
                  <a:pt x="133101" y="140894"/>
                  <a:pt x="140894" y="140894"/>
                </a:cubicBezTo>
                <a:lnTo>
                  <a:pt x="183162" y="140894"/>
                </a:lnTo>
                <a:cubicBezTo>
                  <a:pt x="206497" y="140894"/>
                  <a:pt x="225430" y="159826"/>
                  <a:pt x="225430" y="183162"/>
                </a:cubicBezTo>
                <a:cubicBezTo>
                  <a:pt x="225430" y="206497"/>
                  <a:pt x="206497" y="225430"/>
                  <a:pt x="183162" y="225430"/>
                </a:cubicBezTo>
                <a:lnTo>
                  <a:pt x="61465" y="225430"/>
                </a:lnTo>
                <a:cubicBezTo>
                  <a:pt x="65295" y="221071"/>
                  <a:pt x="69963" y="215479"/>
                  <a:pt x="74674" y="209227"/>
                </a:cubicBezTo>
                <a:cubicBezTo>
                  <a:pt x="77447" y="205529"/>
                  <a:pt x="80309" y="201478"/>
                  <a:pt x="83039" y="197251"/>
                </a:cubicBezTo>
                <a:lnTo>
                  <a:pt x="183162" y="197251"/>
                </a:lnTo>
                <a:cubicBezTo>
                  <a:pt x="190955" y="197251"/>
                  <a:pt x="197251" y="190955"/>
                  <a:pt x="197251" y="183162"/>
                </a:cubicBezTo>
                <a:cubicBezTo>
                  <a:pt x="197251" y="175369"/>
                  <a:pt x="190955" y="169072"/>
                  <a:pt x="183162" y="169072"/>
                </a:cubicBezTo>
                <a:lnTo>
                  <a:pt x="140894" y="169072"/>
                </a:lnTo>
                <a:cubicBezTo>
                  <a:pt x="117558" y="169072"/>
                  <a:pt x="98626" y="150140"/>
                  <a:pt x="98626" y="126804"/>
                </a:cubicBezTo>
                <a:cubicBezTo>
                  <a:pt x="98626" y="103469"/>
                  <a:pt x="117558" y="84536"/>
                  <a:pt x="140894" y="84536"/>
                </a:cubicBezTo>
                <a:lnTo>
                  <a:pt x="158417" y="84536"/>
                </a:lnTo>
                <a:cubicBezTo>
                  <a:pt x="149171" y="70667"/>
                  <a:pt x="140894" y="54728"/>
                  <a:pt x="140894" y="42268"/>
                </a:cubicBezTo>
                <a:cubicBezTo>
                  <a:pt x="140894" y="18933"/>
                  <a:pt x="159826" y="0"/>
                  <a:pt x="183162" y="0"/>
                </a:cubicBezTo>
                <a:cubicBezTo>
                  <a:pt x="206497" y="0"/>
                  <a:pt x="225430" y="18933"/>
                  <a:pt x="225430" y="42268"/>
                </a:cubicBezTo>
                <a:close/>
                <a:moveTo>
                  <a:pt x="51558" y="215347"/>
                </a:moveTo>
                <a:cubicBezTo>
                  <a:pt x="49885" y="217240"/>
                  <a:pt x="48388" y="218914"/>
                  <a:pt x="47111" y="220322"/>
                </a:cubicBezTo>
                <a:lnTo>
                  <a:pt x="46319" y="221203"/>
                </a:lnTo>
                <a:lnTo>
                  <a:pt x="46231" y="221115"/>
                </a:lnTo>
                <a:cubicBezTo>
                  <a:pt x="43589" y="223140"/>
                  <a:pt x="39802" y="222876"/>
                  <a:pt x="37425" y="220322"/>
                </a:cubicBezTo>
                <a:cubicBezTo>
                  <a:pt x="26330" y="208258"/>
                  <a:pt x="0" y="177218"/>
                  <a:pt x="0" y="154983"/>
                </a:cubicBezTo>
                <a:cubicBezTo>
                  <a:pt x="0" y="131648"/>
                  <a:pt x="18933" y="112715"/>
                  <a:pt x="42268" y="112715"/>
                </a:cubicBezTo>
                <a:cubicBezTo>
                  <a:pt x="65604" y="112715"/>
                  <a:pt x="84536" y="131648"/>
                  <a:pt x="84536" y="154983"/>
                </a:cubicBezTo>
                <a:cubicBezTo>
                  <a:pt x="84536" y="168192"/>
                  <a:pt x="75246" y="184483"/>
                  <a:pt x="65383" y="198088"/>
                </a:cubicBezTo>
                <a:cubicBezTo>
                  <a:pt x="60672" y="204560"/>
                  <a:pt x="55829" y="210416"/>
                  <a:pt x="51822" y="215039"/>
                </a:cubicBezTo>
                <a:lnTo>
                  <a:pt x="51558" y="215347"/>
                </a:lnTo>
                <a:close/>
                <a:moveTo>
                  <a:pt x="56357" y="154983"/>
                </a:moveTo>
                <a:cubicBezTo>
                  <a:pt x="56357" y="147207"/>
                  <a:pt x="50044" y="140894"/>
                  <a:pt x="42268" y="140894"/>
                </a:cubicBezTo>
                <a:cubicBezTo>
                  <a:pt x="34492" y="140894"/>
                  <a:pt x="28179" y="147207"/>
                  <a:pt x="28179" y="154983"/>
                </a:cubicBezTo>
                <a:cubicBezTo>
                  <a:pt x="28179" y="162759"/>
                  <a:pt x="34492" y="169072"/>
                  <a:pt x="42268" y="169072"/>
                </a:cubicBezTo>
                <a:cubicBezTo>
                  <a:pt x="50044" y="169072"/>
                  <a:pt x="56357" y="162759"/>
                  <a:pt x="56357" y="154983"/>
                </a:cubicBezTo>
                <a:close/>
                <a:moveTo>
                  <a:pt x="183162" y="56357"/>
                </a:moveTo>
                <a:cubicBezTo>
                  <a:pt x="190938" y="56357"/>
                  <a:pt x="197251" y="50044"/>
                  <a:pt x="197251" y="42268"/>
                </a:cubicBezTo>
                <a:cubicBezTo>
                  <a:pt x="197251" y="34492"/>
                  <a:pt x="190938" y="28179"/>
                  <a:pt x="183162" y="28179"/>
                </a:cubicBezTo>
                <a:cubicBezTo>
                  <a:pt x="175386" y="28179"/>
                  <a:pt x="169072" y="34492"/>
                  <a:pt x="169072" y="42268"/>
                </a:cubicBezTo>
                <a:cubicBezTo>
                  <a:pt x="169072" y="50044"/>
                  <a:pt x="175386" y="56357"/>
                  <a:pt x="183162" y="56357"/>
                </a:cubicBezTo>
                <a:close/>
              </a:path>
            </a:pathLst>
          </a:custGeom>
          <a:solidFill>
            <a:srgbClr val="2D34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9"/>
          <p:cNvSpPr/>
          <p:nvPr/>
        </p:nvSpPr>
        <p:spPr>
          <a:xfrm>
            <a:off x="5942896" y="4527384"/>
            <a:ext cx="3484770" cy="3005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75" u="none" cap="none" strike="noStrike">
                <a:solidFill>
                  <a:srgbClr val="2D3436"/>
                </a:solidFill>
                <a:latin typeface="Coda"/>
                <a:ea typeface="Coda"/>
                <a:cs typeface="Coda"/>
                <a:sym typeface="Coda"/>
              </a:rPr>
              <a:t>High Range</a:t>
            </a:r>
            <a:endParaRPr b="0" i="0" sz="1600" u="none" cap="none" strike="noStrike"/>
          </a:p>
        </p:txBody>
      </p:sp>
      <p:sp>
        <p:nvSpPr>
          <p:cNvPr id="158" name="Google Shape;158;p9"/>
          <p:cNvSpPr/>
          <p:nvPr/>
        </p:nvSpPr>
        <p:spPr>
          <a:xfrm>
            <a:off x="5942896" y="4865529"/>
            <a:ext cx="3447199" cy="2254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83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Covers large distances throughout your entire home</a:t>
            </a:r>
            <a:endParaRPr b="0" i="0" sz="1600" u="none" cap="none" strike="noStrike"/>
          </a:p>
        </p:txBody>
      </p:sp>
      <p:sp>
        <p:nvSpPr>
          <p:cNvPr id="159" name="Google Shape;159;p9"/>
          <p:cNvSpPr/>
          <p:nvPr/>
        </p:nvSpPr>
        <p:spPr>
          <a:xfrm>
            <a:off x="5059962" y="5485461"/>
            <a:ext cx="6734718" cy="601146"/>
          </a:xfrm>
          <a:custGeom>
            <a:rect b="b" l="l" r="r" t="t"/>
            <a:pathLst>
              <a:path extrusionOk="0" h="601146" w="6734718">
                <a:moveTo>
                  <a:pt x="0" y="0"/>
                </a:moveTo>
                <a:lnTo>
                  <a:pt x="6734718" y="0"/>
                </a:lnTo>
                <a:lnTo>
                  <a:pt x="6734718" y="601146"/>
                </a:lnTo>
                <a:lnTo>
                  <a:pt x="0" y="601146"/>
                </a:lnTo>
                <a:lnTo>
                  <a:pt x="0" y="0"/>
                </a:lnTo>
                <a:close/>
              </a:path>
            </a:pathLst>
          </a:custGeom>
          <a:solidFill>
            <a:srgbClr val="2D3436"/>
          </a:solidFill>
          <a:ln cap="flat" cmpd="sng" w="50800">
            <a:solidFill>
              <a:srgbClr val="FFE66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6357">
              <a:srgbClr val="2D3436"/>
            </a:outerShdw>
          </a:effectLst>
        </p:spPr>
      </p:sp>
      <p:sp>
        <p:nvSpPr>
          <p:cNvPr id="160" name="Google Shape;160;p9"/>
          <p:cNvSpPr/>
          <p:nvPr/>
        </p:nvSpPr>
        <p:spPr>
          <a:xfrm>
            <a:off x="6410193" y="5692105"/>
            <a:ext cx="169072" cy="169072"/>
          </a:xfrm>
          <a:custGeom>
            <a:rect b="b" l="l" r="r" t="t"/>
            <a:pathLst>
              <a:path extrusionOk="0" h="169072" w="169072">
                <a:moveTo>
                  <a:pt x="84536" y="0"/>
                </a:moveTo>
                <a:cubicBezTo>
                  <a:pt x="37843" y="0"/>
                  <a:pt x="0" y="37843"/>
                  <a:pt x="0" y="84536"/>
                </a:cubicBezTo>
                <a:cubicBezTo>
                  <a:pt x="0" y="131229"/>
                  <a:pt x="37843" y="169072"/>
                  <a:pt x="84536" y="169072"/>
                </a:cubicBezTo>
                <a:cubicBezTo>
                  <a:pt x="107255" y="169072"/>
                  <a:pt x="127894" y="160090"/>
                  <a:pt x="143084" y="145495"/>
                </a:cubicBezTo>
                <a:cubicBezTo>
                  <a:pt x="145495" y="143183"/>
                  <a:pt x="146188" y="139584"/>
                  <a:pt x="144834" y="136546"/>
                </a:cubicBezTo>
                <a:cubicBezTo>
                  <a:pt x="143480" y="133508"/>
                  <a:pt x="140310" y="131626"/>
                  <a:pt x="136975" y="131890"/>
                </a:cubicBezTo>
                <a:cubicBezTo>
                  <a:pt x="135357" y="132022"/>
                  <a:pt x="133739" y="132088"/>
                  <a:pt x="132088" y="132088"/>
                </a:cubicBezTo>
                <a:cubicBezTo>
                  <a:pt x="98538" y="132088"/>
                  <a:pt x="71327" y="104878"/>
                  <a:pt x="71327" y="71327"/>
                </a:cubicBezTo>
                <a:cubicBezTo>
                  <a:pt x="71327" y="47519"/>
                  <a:pt x="85032" y="26880"/>
                  <a:pt x="105043" y="16907"/>
                </a:cubicBezTo>
                <a:cubicBezTo>
                  <a:pt x="108048" y="15421"/>
                  <a:pt x="109765" y="12185"/>
                  <a:pt x="109369" y="8850"/>
                </a:cubicBezTo>
                <a:cubicBezTo>
                  <a:pt x="108972" y="5515"/>
                  <a:pt x="106529" y="2807"/>
                  <a:pt x="103260" y="2080"/>
                </a:cubicBezTo>
                <a:cubicBezTo>
                  <a:pt x="97217" y="726"/>
                  <a:pt x="90942" y="0"/>
                  <a:pt x="8453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9"/>
          <p:cNvSpPr/>
          <p:nvPr/>
        </p:nvSpPr>
        <p:spPr>
          <a:xfrm>
            <a:off x="5458379" y="5654533"/>
            <a:ext cx="6209496" cy="2630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31" u="none" cap="none" strike="noStrike">
                <a:solidFill>
                  <a:srgbClr val="FFFFFF"/>
                </a:solidFill>
                <a:latin typeface="Coda"/>
                <a:ea typeface="Coda"/>
                <a:cs typeface="Coda"/>
                <a:sym typeface="Coda"/>
              </a:rPr>
              <a:t>Must sleep to save power—but who wakes it up?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5F5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0"/>
          <p:cNvSpPr/>
          <p:nvPr/>
        </p:nvSpPr>
        <p:spPr>
          <a:xfrm rot="720000">
            <a:off x="1446978" y="5147784"/>
            <a:ext cx="723254" cy="723254"/>
          </a:xfrm>
          <a:custGeom>
            <a:rect b="b" l="l" r="r" t="t"/>
            <a:pathLst>
              <a:path extrusionOk="0" h="723254" w="723254">
                <a:moveTo>
                  <a:pt x="0" y="0"/>
                </a:moveTo>
                <a:lnTo>
                  <a:pt x="723254" y="0"/>
                </a:lnTo>
                <a:lnTo>
                  <a:pt x="723254" y="723254"/>
                </a:lnTo>
                <a:lnTo>
                  <a:pt x="0" y="723254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cap="flat" cmpd="sng" w="381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6357">
              <a:srgbClr val="2D3436"/>
            </a:outerShdw>
          </a:effectLst>
        </p:spPr>
      </p:sp>
      <p:sp>
        <p:nvSpPr>
          <p:cNvPr id="168" name="Google Shape;168;p10"/>
          <p:cNvSpPr/>
          <p:nvPr/>
        </p:nvSpPr>
        <p:spPr>
          <a:xfrm>
            <a:off x="389806" y="389806"/>
            <a:ext cx="1737689" cy="403895"/>
          </a:xfrm>
          <a:custGeom>
            <a:rect b="b" l="l" r="r" t="t"/>
            <a:pathLst>
              <a:path extrusionOk="0" h="403895" w="1737689">
                <a:moveTo>
                  <a:pt x="0" y="0"/>
                </a:moveTo>
                <a:lnTo>
                  <a:pt x="1737689" y="0"/>
                </a:lnTo>
                <a:lnTo>
                  <a:pt x="1737689" y="403895"/>
                </a:lnTo>
                <a:lnTo>
                  <a:pt x="0" y="403895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cap="flat" cmpd="sng" w="381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6357">
              <a:srgbClr val="2D3436"/>
            </a:outerShdw>
          </a:effectLst>
        </p:spPr>
      </p:sp>
      <p:sp>
        <p:nvSpPr>
          <p:cNvPr id="169" name="Google Shape;169;p10"/>
          <p:cNvSpPr/>
          <p:nvPr/>
        </p:nvSpPr>
        <p:spPr>
          <a:xfrm>
            <a:off x="554182" y="502521"/>
            <a:ext cx="1483767" cy="1784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83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COMPANION RADIO</a:t>
            </a:r>
            <a:endParaRPr b="0" i="0" sz="1600" u="none" cap="none" strike="noStrike"/>
          </a:p>
        </p:txBody>
      </p:sp>
      <p:sp>
        <p:nvSpPr>
          <p:cNvPr id="170" name="Google Shape;170;p10"/>
          <p:cNvSpPr/>
          <p:nvPr/>
        </p:nvSpPr>
        <p:spPr>
          <a:xfrm>
            <a:off x="375721" y="1023475"/>
            <a:ext cx="7102800" cy="4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50" u="none" cap="none" strike="noStrike">
                <a:solidFill>
                  <a:srgbClr val="2D3436"/>
                </a:solidFill>
                <a:latin typeface="Coda"/>
                <a:ea typeface="Coda"/>
                <a:cs typeface="Coda"/>
                <a:sym typeface="Coda"/>
              </a:rPr>
              <a:t>CCR/WUR: The Wake-Up Radio</a:t>
            </a:r>
            <a:endParaRPr b="0" i="0" sz="1600" u="none" cap="none" strike="noStrike"/>
          </a:p>
        </p:txBody>
      </p:sp>
      <p:sp>
        <p:nvSpPr>
          <p:cNvPr id="171" name="Google Shape;171;p10"/>
          <p:cNvSpPr/>
          <p:nvPr/>
        </p:nvSpPr>
        <p:spPr>
          <a:xfrm>
            <a:off x="394502" y="1841011"/>
            <a:ext cx="6734718" cy="976863"/>
          </a:xfrm>
          <a:custGeom>
            <a:rect b="b" l="l" r="r" t="t"/>
            <a:pathLst>
              <a:path extrusionOk="0" h="976863" w="6734718">
                <a:moveTo>
                  <a:pt x="0" y="0"/>
                </a:moveTo>
                <a:lnTo>
                  <a:pt x="6734718" y="0"/>
                </a:lnTo>
                <a:lnTo>
                  <a:pt x="6734718" y="976863"/>
                </a:lnTo>
                <a:lnTo>
                  <a:pt x="0" y="97686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flat" cmpd="sng" w="508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6357">
              <a:srgbClr val="2D3436"/>
            </a:outerShdw>
          </a:effectLst>
        </p:spPr>
      </p:sp>
      <p:sp>
        <p:nvSpPr>
          <p:cNvPr id="172" name="Google Shape;172;p10"/>
          <p:cNvSpPr/>
          <p:nvPr/>
        </p:nvSpPr>
        <p:spPr>
          <a:xfrm>
            <a:off x="615236" y="2080530"/>
            <a:ext cx="497824" cy="497824"/>
          </a:xfrm>
          <a:custGeom>
            <a:rect b="b" l="l" r="r" t="t"/>
            <a:pathLst>
              <a:path extrusionOk="0" h="497824" w="497824">
                <a:moveTo>
                  <a:pt x="0" y="0"/>
                </a:moveTo>
                <a:lnTo>
                  <a:pt x="497824" y="0"/>
                </a:lnTo>
                <a:lnTo>
                  <a:pt x="497824" y="497824"/>
                </a:lnTo>
                <a:lnTo>
                  <a:pt x="0" y="497824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cap="flat" cmpd="sng" w="381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6357">
              <a:srgbClr val="2D3436"/>
            </a:outerShdw>
          </a:effectLst>
        </p:spPr>
      </p:sp>
      <p:sp>
        <p:nvSpPr>
          <p:cNvPr id="173" name="Google Shape;173;p10"/>
          <p:cNvSpPr/>
          <p:nvPr/>
        </p:nvSpPr>
        <p:spPr>
          <a:xfrm>
            <a:off x="751433" y="2216727"/>
            <a:ext cx="225430" cy="225430"/>
          </a:xfrm>
          <a:custGeom>
            <a:rect b="b" l="l" r="r" t="t"/>
            <a:pathLst>
              <a:path extrusionOk="0" h="225430" w="225430">
                <a:moveTo>
                  <a:pt x="207510" y="2950"/>
                </a:moveTo>
                <a:cubicBezTo>
                  <a:pt x="210328" y="264"/>
                  <a:pt x="214423" y="-704"/>
                  <a:pt x="218209" y="528"/>
                </a:cubicBezTo>
                <a:cubicBezTo>
                  <a:pt x="222524" y="1981"/>
                  <a:pt x="225430" y="6032"/>
                  <a:pt x="225430" y="10567"/>
                </a:cubicBezTo>
                <a:lnTo>
                  <a:pt x="225430" y="92858"/>
                </a:lnTo>
                <a:cubicBezTo>
                  <a:pt x="225430" y="150624"/>
                  <a:pt x="177834" y="197251"/>
                  <a:pt x="120288" y="197251"/>
                </a:cubicBezTo>
                <a:cubicBezTo>
                  <a:pt x="86385" y="197251"/>
                  <a:pt x="57150" y="175457"/>
                  <a:pt x="46539" y="144988"/>
                </a:cubicBezTo>
                <a:cubicBezTo>
                  <a:pt x="30953" y="158549"/>
                  <a:pt x="21134" y="178495"/>
                  <a:pt x="21134" y="200773"/>
                </a:cubicBezTo>
                <a:cubicBezTo>
                  <a:pt x="21134" y="206629"/>
                  <a:pt x="16423" y="211341"/>
                  <a:pt x="10567" y="211341"/>
                </a:cubicBezTo>
                <a:cubicBezTo>
                  <a:pt x="4711" y="211341"/>
                  <a:pt x="0" y="206629"/>
                  <a:pt x="0" y="200773"/>
                </a:cubicBezTo>
                <a:cubicBezTo>
                  <a:pt x="0" y="167796"/>
                  <a:pt x="16819" y="138736"/>
                  <a:pt x="42312" y="121653"/>
                </a:cubicBezTo>
                <a:cubicBezTo>
                  <a:pt x="57854" y="111262"/>
                  <a:pt x="76391" y="105670"/>
                  <a:pt x="95103" y="105670"/>
                </a:cubicBezTo>
                <a:lnTo>
                  <a:pt x="130327" y="105670"/>
                </a:lnTo>
                <a:cubicBezTo>
                  <a:pt x="136183" y="105670"/>
                  <a:pt x="140894" y="100959"/>
                  <a:pt x="140894" y="95103"/>
                </a:cubicBezTo>
                <a:cubicBezTo>
                  <a:pt x="140894" y="89247"/>
                  <a:pt x="136183" y="84536"/>
                  <a:pt x="130327" y="84536"/>
                </a:cubicBezTo>
                <a:lnTo>
                  <a:pt x="95103" y="84536"/>
                </a:lnTo>
                <a:cubicBezTo>
                  <a:pt x="77624" y="84536"/>
                  <a:pt x="61069" y="88411"/>
                  <a:pt x="46231" y="95323"/>
                </a:cubicBezTo>
                <a:cubicBezTo>
                  <a:pt x="56490" y="64503"/>
                  <a:pt x="85505" y="42268"/>
                  <a:pt x="119760" y="42268"/>
                </a:cubicBezTo>
                <a:cubicBezTo>
                  <a:pt x="148995" y="42268"/>
                  <a:pt x="170746" y="32538"/>
                  <a:pt x="185231" y="22895"/>
                </a:cubicBezTo>
                <a:cubicBezTo>
                  <a:pt x="193685" y="17259"/>
                  <a:pt x="200862" y="10523"/>
                  <a:pt x="207554" y="295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0"/>
          <p:cNvSpPr/>
          <p:nvPr/>
        </p:nvSpPr>
        <p:spPr>
          <a:xfrm>
            <a:off x="1277436" y="2047655"/>
            <a:ext cx="3869880" cy="3005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75" u="none" cap="none" strike="noStrike">
                <a:solidFill>
                  <a:srgbClr val="2D3436"/>
                </a:solidFill>
                <a:latin typeface="Coda"/>
                <a:ea typeface="Coda"/>
                <a:cs typeface="Coda"/>
                <a:sym typeface="Coda"/>
              </a:rPr>
              <a:t>Extremely Low Power</a:t>
            </a:r>
            <a:endParaRPr b="0" i="0" sz="1600" u="none" cap="none" strike="noStrike"/>
          </a:p>
        </p:txBody>
      </p:sp>
      <p:sp>
        <p:nvSpPr>
          <p:cNvPr id="175" name="Google Shape;175;p10"/>
          <p:cNvSpPr/>
          <p:nvPr/>
        </p:nvSpPr>
        <p:spPr>
          <a:xfrm>
            <a:off x="1277436" y="2385800"/>
            <a:ext cx="3832308" cy="2254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83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Consumes less than </a:t>
            </a:r>
            <a:r>
              <a:rPr b="1" i="0" lang="en-US" sz="1183" u="none" cap="none" strike="noStrike">
                <a:solidFill>
                  <a:srgbClr val="2D3436"/>
                </a:solidFill>
                <a:highlight>
                  <a:srgbClr val="FFE66D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1 mW </a:t>
            </a:r>
            <a:r>
              <a:rPr b="0" i="0" lang="en-US" sz="1183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—negligible energy footprint</a:t>
            </a:r>
            <a:endParaRPr b="0" i="0" sz="1600" u="none" cap="none" strike="noStrike"/>
          </a:p>
        </p:txBody>
      </p:sp>
      <p:sp>
        <p:nvSpPr>
          <p:cNvPr id="176" name="Google Shape;176;p10"/>
          <p:cNvSpPr/>
          <p:nvPr/>
        </p:nvSpPr>
        <p:spPr>
          <a:xfrm>
            <a:off x="394502" y="3005732"/>
            <a:ext cx="6734718" cy="976863"/>
          </a:xfrm>
          <a:custGeom>
            <a:rect b="b" l="l" r="r" t="t"/>
            <a:pathLst>
              <a:path extrusionOk="0" h="976863" w="6734718">
                <a:moveTo>
                  <a:pt x="0" y="0"/>
                </a:moveTo>
                <a:lnTo>
                  <a:pt x="6734718" y="0"/>
                </a:lnTo>
                <a:lnTo>
                  <a:pt x="6734718" y="976863"/>
                </a:lnTo>
                <a:lnTo>
                  <a:pt x="0" y="97686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flat" cmpd="sng" w="508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6357">
              <a:srgbClr val="2D3436"/>
            </a:outerShdw>
          </a:effectLst>
        </p:spPr>
      </p:sp>
      <p:sp>
        <p:nvSpPr>
          <p:cNvPr id="177" name="Google Shape;177;p10"/>
          <p:cNvSpPr/>
          <p:nvPr/>
        </p:nvSpPr>
        <p:spPr>
          <a:xfrm>
            <a:off x="615236" y="3245251"/>
            <a:ext cx="497824" cy="497824"/>
          </a:xfrm>
          <a:custGeom>
            <a:rect b="b" l="l" r="r" t="t"/>
            <a:pathLst>
              <a:path extrusionOk="0" h="497824" w="497824">
                <a:moveTo>
                  <a:pt x="0" y="0"/>
                </a:moveTo>
                <a:lnTo>
                  <a:pt x="497824" y="0"/>
                </a:lnTo>
                <a:lnTo>
                  <a:pt x="497824" y="497824"/>
                </a:lnTo>
                <a:lnTo>
                  <a:pt x="0" y="497824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cap="flat" cmpd="sng" w="381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6357">
              <a:srgbClr val="2D3436"/>
            </a:outerShdw>
          </a:effectLst>
        </p:spPr>
      </p:sp>
      <p:sp>
        <p:nvSpPr>
          <p:cNvPr id="178" name="Google Shape;178;p10"/>
          <p:cNvSpPr/>
          <p:nvPr/>
        </p:nvSpPr>
        <p:spPr>
          <a:xfrm>
            <a:off x="737344" y="3381448"/>
            <a:ext cx="253609" cy="225430"/>
          </a:xfrm>
          <a:custGeom>
            <a:rect b="b" l="l" r="r" t="t"/>
            <a:pathLst>
              <a:path extrusionOk="0" h="225430" w="253609">
                <a:moveTo>
                  <a:pt x="126804" y="14089"/>
                </a:moveTo>
                <a:cubicBezTo>
                  <a:pt x="91229" y="14089"/>
                  <a:pt x="62742" y="30292"/>
                  <a:pt x="42004" y="49577"/>
                </a:cubicBezTo>
                <a:cubicBezTo>
                  <a:pt x="21398" y="68730"/>
                  <a:pt x="7617" y="91581"/>
                  <a:pt x="1057" y="107299"/>
                </a:cubicBezTo>
                <a:cubicBezTo>
                  <a:pt x="-396" y="110778"/>
                  <a:pt x="-396" y="114652"/>
                  <a:pt x="1057" y="118131"/>
                </a:cubicBezTo>
                <a:cubicBezTo>
                  <a:pt x="7617" y="133849"/>
                  <a:pt x="21398" y="156744"/>
                  <a:pt x="42004" y="175853"/>
                </a:cubicBezTo>
                <a:cubicBezTo>
                  <a:pt x="62742" y="195094"/>
                  <a:pt x="91229" y="211341"/>
                  <a:pt x="126804" y="211341"/>
                </a:cubicBezTo>
                <a:cubicBezTo>
                  <a:pt x="162380" y="211341"/>
                  <a:pt x="190867" y="195138"/>
                  <a:pt x="211605" y="175853"/>
                </a:cubicBezTo>
                <a:cubicBezTo>
                  <a:pt x="232210" y="156700"/>
                  <a:pt x="245992" y="133849"/>
                  <a:pt x="252552" y="118131"/>
                </a:cubicBezTo>
                <a:cubicBezTo>
                  <a:pt x="254005" y="114652"/>
                  <a:pt x="254005" y="110778"/>
                  <a:pt x="252552" y="107299"/>
                </a:cubicBezTo>
                <a:cubicBezTo>
                  <a:pt x="245992" y="91581"/>
                  <a:pt x="232210" y="68686"/>
                  <a:pt x="211605" y="49577"/>
                </a:cubicBezTo>
                <a:cubicBezTo>
                  <a:pt x="190867" y="30336"/>
                  <a:pt x="162380" y="14089"/>
                  <a:pt x="126804" y="14089"/>
                </a:cubicBezTo>
                <a:close/>
                <a:moveTo>
                  <a:pt x="63402" y="112715"/>
                </a:moveTo>
                <a:cubicBezTo>
                  <a:pt x="63402" y="77722"/>
                  <a:pt x="91812" y="49313"/>
                  <a:pt x="126804" y="49313"/>
                </a:cubicBezTo>
                <a:cubicBezTo>
                  <a:pt x="161797" y="49313"/>
                  <a:pt x="190206" y="77722"/>
                  <a:pt x="190206" y="112715"/>
                </a:cubicBezTo>
                <a:cubicBezTo>
                  <a:pt x="190206" y="147708"/>
                  <a:pt x="161797" y="176117"/>
                  <a:pt x="126804" y="176117"/>
                </a:cubicBezTo>
                <a:cubicBezTo>
                  <a:pt x="91812" y="176117"/>
                  <a:pt x="63402" y="147708"/>
                  <a:pt x="63402" y="112715"/>
                </a:cubicBezTo>
                <a:close/>
                <a:moveTo>
                  <a:pt x="126804" y="84536"/>
                </a:moveTo>
                <a:cubicBezTo>
                  <a:pt x="126804" y="100079"/>
                  <a:pt x="114168" y="112715"/>
                  <a:pt x="98626" y="112715"/>
                </a:cubicBezTo>
                <a:cubicBezTo>
                  <a:pt x="93562" y="112715"/>
                  <a:pt x="88807" y="111394"/>
                  <a:pt x="84668" y="109016"/>
                </a:cubicBezTo>
                <a:cubicBezTo>
                  <a:pt x="84228" y="113816"/>
                  <a:pt x="84624" y="118747"/>
                  <a:pt x="85945" y="123634"/>
                </a:cubicBezTo>
                <a:cubicBezTo>
                  <a:pt x="91977" y="146177"/>
                  <a:pt x="115181" y="159562"/>
                  <a:pt x="137724" y="153530"/>
                </a:cubicBezTo>
                <a:cubicBezTo>
                  <a:pt x="160267" y="147498"/>
                  <a:pt x="173651" y="124295"/>
                  <a:pt x="167619" y="101752"/>
                </a:cubicBezTo>
                <a:cubicBezTo>
                  <a:pt x="162248" y="81630"/>
                  <a:pt x="143183" y="68818"/>
                  <a:pt x="123106" y="70579"/>
                </a:cubicBezTo>
                <a:cubicBezTo>
                  <a:pt x="125439" y="74674"/>
                  <a:pt x="126804" y="79429"/>
                  <a:pt x="126804" y="8453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0"/>
          <p:cNvSpPr/>
          <p:nvPr/>
        </p:nvSpPr>
        <p:spPr>
          <a:xfrm>
            <a:off x="1277436" y="3212376"/>
            <a:ext cx="3635057" cy="3005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75" u="none" cap="none" strike="noStrike">
                <a:solidFill>
                  <a:srgbClr val="2D3436"/>
                </a:solidFill>
                <a:latin typeface="Coda"/>
                <a:ea typeface="Coda"/>
                <a:cs typeface="Coda"/>
                <a:sym typeface="Coda"/>
              </a:rPr>
              <a:t>Always Awake</a:t>
            </a:r>
            <a:endParaRPr b="0" i="0" sz="1600" u="none" cap="none" strike="noStrike"/>
          </a:p>
        </p:txBody>
      </p:sp>
      <p:sp>
        <p:nvSpPr>
          <p:cNvPr id="180" name="Google Shape;180;p10"/>
          <p:cNvSpPr/>
          <p:nvPr/>
        </p:nvSpPr>
        <p:spPr>
          <a:xfrm>
            <a:off x="1277436" y="3550521"/>
            <a:ext cx="3597485" cy="2254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83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Never sleeps—constantly listening for incoming signals</a:t>
            </a:r>
            <a:endParaRPr b="0" i="0" sz="1600" u="none" cap="none" strike="noStrike"/>
          </a:p>
        </p:txBody>
      </p:sp>
      <p:sp>
        <p:nvSpPr>
          <p:cNvPr id="181" name="Google Shape;181;p10"/>
          <p:cNvSpPr/>
          <p:nvPr/>
        </p:nvSpPr>
        <p:spPr>
          <a:xfrm>
            <a:off x="394502" y="4170453"/>
            <a:ext cx="6734718" cy="976863"/>
          </a:xfrm>
          <a:custGeom>
            <a:rect b="b" l="l" r="r" t="t"/>
            <a:pathLst>
              <a:path extrusionOk="0" h="976863" w="6734718">
                <a:moveTo>
                  <a:pt x="0" y="0"/>
                </a:moveTo>
                <a:lnTo>
                  <a:pt x="6734718" y="0"/>
                </a:lnTo>
                <a:lnTo>
                  <a:pt x="6734718" y="976863"/>
                </a:lnTo>
                <a:lnTo>
                  <a:pt x="0" y="97686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flat" cmpd="sng" w="508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6357">
              <a:srgbClr val="2D3436"/>
            </a:outerShdw>
          </a:effectLst>
        </p:spPr>
      </p:sp>
      <p:sp>
        <p:nvSpPr>
          <p:cNvPr id="182" name="Google Shape;182;p10"/>
          <p:cNvSpPr/>
          <p:nvPr/>
        </p:nvSpPr>
        <p:spPr>
          <a:xfrm>
            <a:off x="615236" y="4409972"/>
            <a:ext cx="497824" cy="497824"/>
          </a:xfrm>
          <a:custGeom>
            <a:rect b="b" l="l" r="r" t="t"/>
            <a:pathLst>
              <a:path extrusionOk="0" h="497824" w="497824">
                <a:moveTo>
                  <a:pt x="0" y="0"/>
                </a:moveTo>
                <a:lnTo>
                  <a:pt x="497824" y="0"/>
                </a:lnTo>
                <a:lnTo>
                  <a:pt x="497824" y="497824"/>
                </a:lnTo>
                <a:lnTo>
                  <a:pt x="0" y="497824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cap="flat" cmpd="sng" w="381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6357">
              <a:srgbClr val="2D3436"/>
            </a:outerShdw>
          </a:effectLst>
        </p:spPr>
      </p:sp>
      <p:sp>
        <p:nvSpPr>
          <p:cNvPr id="183" name="Google Shape;183;p10"/>
          <p:cNvSpPr/>
          <p:nvPr/>
        </p:nvSpPr>
        <p:spPr>
          <a:xfrm>
            <a:off x="779612" y="4546169"/>
            <a:ext cx="169072" cy="225430"/>
          </a:xfrm>
          <a:custGeom>
            <a:rect b="b" l="l" r="r" t="t"/>
            <a:pathLst>
              <a:path extrusionOk="0" h="225430" w="169072">
                <a:moveTo>
                  <a:pt x="74586" y="221291"/>
                </a:moveTo>
                <a:cubicBezTo>
                  <a:pt x="80089" y="226795"/>
                  <a:pt x="89027" y="226795"/>
                  <a:pt x="94531" y="221291"/>
                </a:cubicBezTo>
                <a:lnTo>
                  <a:pt x="164978" y="150844"/>
                </a:lnTo>
                <a:cubicBezTo>
                  <a:pt x="170481" y="145341"/>
                  <a:pt x="170481" y="136403"/>
                  <a:pt x="164978" y="130899"/>
                </a:cubicBezTo>
                <a:cubicBezTo>
                  <a:pt x="159474" y="125395"/>
                  <a:pt x="150536" y="125395"/>
                  <a:pt x="145032" y="130899"/>
                </a:cubicBezTo>
                <a:lnTo>
                  <a:pt x="98626" y="177306"/>
                </a:lnTo>
                <a:lnTo>
                  <a:pt x="98626" y="14089"/>
                </a:lnTo>
                <a:cubicBezTo>
                  <a:pt x="98626" y="6296"/>
                  <a:pt x="92329" y="0"/>
                  <a:pt x="84536" y="0"/>
                </a:cubicBezTo>
                <a:cubicBezTo>
                  <a:pt x="76743" y="0"/>
                  <a:pt x="70447" y="6296"/>
                  <a:pt x="70447" y="14089"/>
                </a:cubicBezTo>
                <a:lnTo>
                  <a:pt x="70447" y="177306"/>
                </a:lnTo>
                <a:lnTo>
                  <a:pt x="24040" y="130899"/>
                </a:lnTo>
                <a:cubicBezTo>
                  <a:pt x="18536" y="125395"/>
                  <a:pt x="9598" y="125395"/>
                  <a:pt x="4095" y="130899"/>
                </a:cubicBezTo>
                <a:cubicBezTo>
                  <a:pt x="-1409" y="136403"/>
                  <a:pt x="-1409" y="145341"/>
                  <a:pt x="4095" y="150844"/>
                </a:cubicBezTo>
                <a:lnTo>
                  <a:pt x="74542" y="221291"/>
                </a:lnTo>
                <a:close/>
              </a:path>
            </a:pathLst>
          </a:custGeom>
          <a:solidFill>
            <a:srgbClr val="2D34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0"/>
          <p:cNvSpPr/>
          <p:nvPr/>
        </p:nvSpPr>
        <p:spPr>
          <a:xfrm>
            <a:off x="1277436" y="4377097"/>
            <a:ext cx="3099661" cy="3005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75" u="none" cap="none" strike="noStrike">
                <a:solidFill>
                  <a:srgbClr val="2D3436"/>
                </a:solidFill>
                <a:latin typeface="Coda"/>
                <a:ea typeface="Coda"/>
                <a:cs typeface="Coda"/>
                <a:sym typeface="Coda"/>
              </a:rPr>
              <a:t>Receiver Only</a:t>
            </a:r>
            <a:endParaRPr b="0" i="0" sz="1600" u="none" cap="none" strike="noStrike"/>
          </a:p>
        </p:txBody>
      </p:sp>
      <p:sp>
        <p:nvSpPr>
          <p:cNvPr id="185" name="Google Shape;185;p10"/>
          <p:cNvSpPr/>
          <p:nvPr/>
        </p:nvSpPr>
        <p:spPr>
          <a:xfrm>
            <a:off x="1277436" y="4715242"/>
            <a:ext cx="3062089" cy="2254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83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Cannot transmit—dedicated purely to listening</a:t>
            </a:r>
            <a:endParaRPr b="0" i="0" sz="1600" u="none" cap="none" strike="noStrike"/>
          </a:p>
        </p:txBody>
      </p:sp>
      <p:sp>
        <p:nvSpPr>
          <p:cNvPr id="186" name="Google Shape;186;p10"/>
          <p:cNvSpPr/>
          <p:nvPr/>
        </p:nvSpPr>
        <p:spPr>
          <a:xfrm>
            <a:off x="394502" y="5335174"/>
            <a:ext cx="6734718" cy="901720"/>
          </a:xfrm>
          <a:custGeom>
            <a:rect b="b" l="l" r="r" t="t"/>
            <a:pathLst>
              <a:path extrusionOk="0" h="901720" w="6734718">
                <a:moveTo>
                  <a:pt x="0" y="0"/>
                </a:moveTo>
                <a:lnTo>
                  <a:pt x="6734718" y="0"/>
                </a:lnTo>
                <a:lnTo>
                  <a:pt x="6734718" y="901720"/>
                </a:lnTo>
                <a:lnTo>
                  <a:pt x="0" y="90172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cap="flat" cmpd="sng" w="508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6357">
              <a:srgbClr val="2D3436"/>
            </a:outerShdw>
          </a:effectLst>
        </p:spPr>
      </p:sp>
      <p:sp>
        <p:nvSpPr>
          <p:cNvPr id="187" name="Google Shape;187;p10"/>
          <p:cNvSpPr/>
          <p:nvPr/>
        </p:nvSpPr>
        <p:spPr>
          <a:xfrm>
            <a:off x="577664" y="5537122"/>
            <a:ext cx="497824" cy="497824"/>
          </a:xfrm>
          <a:custGeom>
            <a:rect b="b" l="l" r="r" t="t"/>
            <a:pathLst>
              <a:path extrusionOk="0" h="497824" w="497824">
                <a:moveTo>
                  <a:pt x="0" y="0"/>
                </a:moveTo>
                <a:lnTo>
                  <a:pt x="497824" y="0"/>
                </a:lnTo>
                <a:lnTo>
                  <a:pt x="497824" y="497824"/>
                </a:lnTo>
                <a:lnTo>
                  <a:pt x="0" y="49782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flat" cmpd="sng" w="381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6357">
              <a:srgbClr val="2D3436"/>
            </a:outerShdw>
          </a:effectLst>
        </p:spPr>
      </p:sp>
      <p:sp>
        <p:nvSpPr>
          <p:cNvPr id="188" name="Google Shape;188;p10"/>
          <p:cNvSpPr/>
          <p:nvPr/>
        </p:nvSpPr>
        <p:spPr>
          <a:xfrm>
            <a:off x="727951" y="5673319"/>
            <a:ext cx="197251" cy="225430"/>
          </a:xfrm>
          <a:custGeom>
            <a:rect b="b" l="l" r="r" t="t"/>
            <a:pathLst>
              <a:path extrusionOk="0" h="225430" w="197251">
                <a:moveTo>
                  <a:pt x="98626" y="0"/>
                </a:moveTo>
                <a:cubicBezTo>
                  <a:pt x="90832" y="0"/>
                  <a:pt x="84536" y="6296"/>
                  <a:pt x="84536" y="14089"/>
                </a:cubicBezTo>
                <a:lnTo>
                  <a:pt x="84536" y="15498"/>
                </a:lnTo>
                <a:cubicBezTo>
                  <a:pt x="52395" y="22015"/>
                  <a:pt x="28179" y="50458"/>
                  <a:pt x="28179" y="84536"/>
                </a:cubicBezTo>
                <a:lnTo>
                  <a:pt x="28179" y="94091"/>
                </a:lnTo>
                <a:cubicBezTo>
                  <a:pt x="28179" y="115269"/>
                  <a:pt x="20958" y="135830"/>
                  <a:pt x="7749" y="152385"/>
                </a:cubicBezTo>
                <a:lnTo>
                  <a:pt x="3434" y="157757"/>
                </a:lnTo>
                <a:cubicBezTo>
                  <a:pt x="1189" y="160531"/>
                  <a:pt x="0" y="163965"/>
                  <a:pt x="0" y="167531"/>
                </a:cubicBezTo>
                <a:cubicBezTo>
                  <a:pt x="0" y="176161"/>
                  <a:pt x="7001" y="183162"/>
                  <a:pt x="15630" y="183162"/>
                </a:cubicBezTo>
                <a:lnTo>
                  <a:pt x="181577" y="183162"/>
                </a:lnTo>
                <a:cubicBezTo>
                  <a:pt x="190206" y="183162"/>
                  <a:pt x="197207" y="176161"/>
                  <a:pt x="197207" y="167531"/>
                </a:cubicBezTo>
                <a:cubicBezTo>
                  <a:pt x="197207" y="163965"/>
                  <a:pt x="196018" y="160531"/>
                  <a:pt x="193773" y="157757"/>
                </a:cubicBezTo>
                <a:lnTo>
                  <a:pt x="189458" y="152385"/>
                </a:lnTo>
                <a:cubicBezTo>
                  <a:pt x="176293" y="135830"/>
                  <a:pt x="169072" y="115269"/>
                  <a:pt x="169072" y="94091"/>
                </a:cubicBezTo>
                <a:lnTo>
                  <a:pt x="169072" y="84536"/>
                </a:lnTo>
                <a:cubicBezTo>
                  <a:pt x="169072" y="50458"/>
                  <a:pt x="144856" y="22015"/>
                  <a:pt x="112715" y="15498"/>
                </a:cubicBezTo>
                <a:lnTo>
                  <a:pt x="112715" y="14089"/>
                </a:lnTo>
                <a:cubicBezTo>
                  <a:pt x="112715" y="6296"/>
                  <a:pt x="106419" y="0"/>
                  <a:pt x="98626" y="0"/>
                </a:cubicBezTo>
                <a:close/>
                <a:moveTo>
                  <a:pt x="71327" y="204296"/>
                </a:moveTo>
                <a:cubicBezTo>
                  <a:pt x="74454" y="216448"/>
                  <a:pt x="85505" y="225430"/>
                  <a:pt x="98626" y="225430"/>
                </a:cubicBezTo>
                <a:cubicBezTo>
                  <a:pt x="111746" y="225430"/>
                  <a:pt x="122798" y="216448"/>
                  <a:pt x="125924" y="204296"/>
                </a:cubicBezTo>
                <a:lnTo>
                  <a:pt x="71327" y="204296"/>
                </a:lnTo>
                <a:close/>
              </a:path>
            </a:pathLst>
          </a:custGeom>
          <a:solidFill>
            <a:srgbClr val="4ECD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0"/>
          <p:cNvSpPr/>
          <p:nvPr/>
        </p:nvSpPr>
        <p:spPr>
          <a:xfrm>
            <a:off x="1239864" y="5504247"/>
            <a:ext cx="4527384" cy="3005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75" u="none" cap="none" strike="noStrike">
                <a:solidFill>
                  <a:srgbClr val="FFFFFF"/>
                </a:solidFill>
                <a:latin typeface="Coda"/>
                <a:ea typeface="Coda"/>
                <a:cs typeface="Coda"/>
                <a:sym typeface="Coda"/>
              </a:rPr>
              <a:t>One Job: Wake Up PCR</a:t>
            </a:r>
            <a:endParaRPr b="0" i="0" sz="1600" u="none" cap="none" strike="noStrike"/>
          </a:p>
        </p:txBody>
      </p:sp>
      <p:sp>
        <p:nvSpPr>
          <p:cNvPr id="190" name="Google Shape;190;p10"/>
          <p:cNvSpPr/>
          <p:nvPr/>
        </p:nvSpPr>
        <p:spPr>
          <a:xfrm>
            <a:off x="1239864" y="5842391"/>
            <a:ext cx="4489812" cy="2254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83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Detects wake-up frames and physically signals the PCR to power on</a:t>
            </a:r>
            <a:endParaRPr b="0" i="0" sz="1600" u="none" cap="none" strike="noStrike"/>
          </a:p>
        </p:txBody>
      </p:sp>
      <p:sp>
        <p:nvSpPr>
          <p:cNvPr id="191" name="Google Shape;191;p10"/>
          <p:cNvSpPr/>
          <p:nvPr/>
        </p:nvSpPr>
        <p:spPr>
          <a:xfrm>
            <a:off x="8260127" y="2705159"/>
            <a:ext cx="2667587" cy="2667587"/>
          </a:xfrm>
          <a:custGeom>
            <a:rect b="b" l="l" r="r" t="t"/>
            <a:pathLst>
              <a:path extrusionOk="0" h="2667587" w="2667587">
                <a:moveTo>
                  <a:pt x="0" y="0"/>
                </a:moveTo>
                <a:lnTo>
                  <a:pt x="2667587" y="0"/>
                </a:lnTo>
                <a:lnTo>
                  <a:pt x="2667587" y="2667587"/>
                </a:lnTo>
                <a:lnTo>
                  <a:pt x="0" y="2667587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cap="flat" cmpd="sng" w="508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6357">
              <a:srgbClr val="2D3436"/>
            </a:outerShdw>
          </a:effectLst>
        </p:spPr>
      </p:sp>
      <p:sp>
        <p:nvSpPr>
          <p:cNvPr id="192" name="Google Shape;192;p10"/>
          <p:cNvSpPr/>
          <p:nvPr/>
        </p:nvSpPr>
        <p:spPr>
          <a:xfrm>
            <a:off x="8992774" y="3437806"/>
            <a:ext cx="1202293" cy="1202293"/>
          </a:xfrm>
          <a:custGeom>
            <a:rect b="b" l="l" r="r" t="t"/>
            <a:pathLst>
              <a:path extrusionOk="0" h="1202293" w="1202293">
                <a:moveTo>
                  <a:pt x="544789" y="0"/>
                </a:moveTo>
                <a:cubicBezTo>
                  <a:pt x="907825" y="0"/>
                  <a:pt x="1202293" y="294468"/>
                  <a:pt x="1202293" y="657504"/>
                </a:cubicBezTo>
                <a:cubicBezTo>
                  <a:pt x="1202293" y="688735"/>
                  <a:pt x="1177167" y="713861"/>
                  <a:pt x="1145935" y="713861"/>
                </a:cubicBezTo>
                <a:cubicBezTo>
                  <a:pt x="1114704" y="713861"/>
                  <a:pt x="1089578" y="688735"/>
                  <a:pt x="1089578" y="657504"/>
                </a:cubicBezTo>
                <a:cubicBezTo>
                  <a:pt x="1089578" y="356696"/>
                  <a:pt x="845597" y="112715"/>
                  <a:pt x="544789" y="112715"/>
                </a:cubicBezTo>
                <a:cubicBezTo>
                  <a:pt x="513557" y="112715"/>
                  <a:pt x="488431" y="87589"/>
                  <a:pt x="488431" y="56357"/>
                </a:cubicBezTo>
                <a:cubicBezTo>
                  <a:pt x="488431" y="25126"/>
                  <a:pt x="513557" y="0"/>
                  <a:pt x="544789" y="0"/>
                </a:cubicBezTo>
                <a:close/>
                <a:moveTo>
                  <a:pt x="488431" y="281787"/>
                </a:moveTo>
                <a:cubicBezTo>
                  <a:pt x="488431" y="250556"/>
                  <a:pt x="513557" y="225430"/>
                  <a:pt x="544789" y="225430"/>
                </a:cubicBezTo>
                <a:cubicBezTo>
                  <a:pt x="783369" y="225430"/>
                  <a:pt x="976863" y="418924"/>
                  <a:pt x="976863" y="657504"/>
                </a:cubicBezTo>
                <a:cubicBezTo>
                  <a:pt x="976863" y="688735"/>
                  <a:pt x="951737" y="713861"/>
                  <a:pt x="920505" y="713861"/>
                </a:cubicBezTo>
                <a:cubicBezTo>
                  <a:pt x="889274" y="713861"/>
                  <a:pt x="864148" y="688735"/>
                  <a:pt x="864148" y="657504"/>
                </a:cubicBezTo>
                <a:cubicBezTo>
                  <a:pt x="864148" y="481152"/>
                  <a:pt x="721141" y="338145"/>
                  <a:pt x="544789" y="338145"/>
                </a:cubicBezTo>
                <a:cubicBezTo>
                  <a:pt x="513557" y="338145"/>
                  <a:pt x="488431" y="313019"/>
                  <a:pt x="488431" y="281787"/>
                </a:cubicBezTo>
                <a:close/>
                <a:moveTo>
                  <a:pt x="61993" y="335092"/>
                </a:moveTo>
                <a:cubicBezTo>
                  <a:pt x="82658" y="293059"/>
                  <a:pt x="138076" y="288362"/>
                  <a:pt x="171186" y="321472"/>
                </a:cubicBezTo>
                <a:lnTo>
                  <a:pt x="472933" y="623220"/>
                </a:lnTo>
                <a:lnTo>
                  <a:pt x="548076" y="548076"/>
                </a:lnTo>
                <a:cubicBezTo>
                  <a:pt x="577429" y="518724"/>
                  <a:pt x="625098" y="518724"/>
                  <a:pt x="654451" y="548076"/>
                </a:cubicBezTo>
                <a:cubicBezTo>
                  <a:pt x="683804" y="577429"/>
                  <a:pt x="683804" y="625098"/>
                  <a:pt x="654451" y="654451"/>
                </a:cubicBezTo>
                <a:lnTo>
                  <a:pt x="579308" y="729594"/>
                </a:lnTo>
                <a:lnTo>
                  <a:pt x="881055" y="1031342"/>
                </a:lnTo>
                <a:cubicBezTo>
                  <a:pt x="914165" y="1064452"/>
                  <a:pt x="909234" y="1119635"/>
                  <a:pt x="867435" y="1140534"/>
                </a:cubicBezTo>
                <a:cubicBezTo>
                  <a:pt x="787126" y="1180219"/>
                  <a:pt x="696954" y="1202528"/>
                  <a:pt x="601381" y="1202528"/>
                </a:cubicBezTo>
                <a:cubicBezTo>
                  <a:pt x="269342" y="1202528"/>
                  <a:pt x="235" y="933421"/>
                  <a:pt x="235" y="601381"/>
                </a:cubicBezTo>
                <a:cubicBezTo>
                  <a:pt x="235" y="505808"/>
                  <a:pt x="22543" y="415402"/>
                  <a:pt x="62228" y="33532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0"/>
          <p:cNvSpPr/>
          <p:nvPr/>
        </p:nvSpPr>
        <p:spPr>
          <a:xfrm>
            <a:off x="8105144" y="5086262"/>
            <a:ext cx="789005" cy="441467"/>
          </a:xfrm>
          <a:custGeom>
            <a:rect b="b" l="l" r="r" t="t"/>
            <a:pathLst>
              <a:path extrusionOk="0" h="441467" w="789005">
                <a:moveTo>
                  <a:pt x="0" y="0"/>
                </a:moveTo>
                <a:lnTo>
                  <a:pt x="789005" y="0"/>
                </a:lnTo>
                <a:lnTo>
                  <a:pt x="789005" y="441467"/>
                </a:lnTo>
                <a:lnTo>
                  <a:pt x="0" y="441467"/>
                </a:lnTo>
                <a:lnTo>
                  <a:pt x="0" y="0"/>
                </a:lnTo>
                <a:close/>
              </a:path>
            </a:pathLst>
          </a:custGeom>
          <a:solidFill>
            <a:srgbClr val="2D3436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6357">
              <a:srgbClr val="2D3436"/>
            </a:outerShdw>
          </a:effectLst>
        </p:spPr>
      </p:sp>
      <p:sp>
        <p:nvSpPr>
          <p:cNvPr id="194" name="Google Shape;194;p10"/>
          <p:cNvSpPr/>
          <p:nvPr/>
        </p:nvSpPr>
        <p:spPr>
          <a:xfrm>
            <a:off x="8091055" y="5072173"/>
            <a:ext cx="854755" cy="413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75125" lIns="150275" spcFirstLastPara="1" rIns="150275" wrap="square" tIns="7512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79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WUR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5F5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1"/>
          <p:cNvSpPr/>
          <p:nvPr/>
        </p:nvSpPr>
        <p:spPr>
          <a:xfrm rot="720000">
            <a:off x="232675" y="5806159"/>
            <a:ext cx="687754" cy="687754"/>
          </a:xfrm>
          <a:custGeom>
            <a:rect b="b" l="l" r="r" t="t"/>
            <a:pathLst>
              <a:path extrusionOk="0" h="687754" w="687754">
                <a:moveTo>
                  <a:pt x="0" y="0"/>
                </a:moveTo>
                <a:lnTo>
                  <a:pt x="687754" y="0"/>
                </a:lnTo>
                <a:lnTo>
                  <a:pt x="687754" y="687754"/>
                </a:lnTo>
                <a:lnTo>
                  <a:pt x="0" y="687754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cap="flat" cmpd="sng" w="381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3591">
              <a:srgbClr val="2D3436"/>
            </a:outerShdw>
          </a:effectLst>
        </p:spPr>
      </p:sp>
      <p:sp>
        <p:nvSpPr>
          <p:cNvPr id="201" name="Google Shape;201;p11"/>
          <p:cNvSpPr/>
          <p:nvPr/>
        </p:nvSpPr>
        <p:spPr>
          <a:xfrm>
            <a:off x="370673" y="370673"/>
            <a:ext cx="1170075" cy="384070"/>
          </a:xfrm>
          <a:custGeom>
            <a:rect b="b" l="l" r="r" t="t"/>
            <a:pathLst>
              <a:path extrusionOk="0" h="384070" w="1170075">
                <a:moveTo>
                  <a:pt x="0" y="0"/>
                </a:moveTo>
                <a:lnTo>
                  <a:pt x="1170075" y="0"/>
                </a:lnTo>
                <a:lnTo>
                  <a:pt x="1170075" y="384070"/>
                </a:lnTo>
                <a:lnTo>
                  <a:pt x="0" y="384070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cap="flat" cmpd="sng" w="381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3591">
              <a:srgbClr val="2D3436"/>
            </a:outerShdw>
          </a:effectLst>
        </p:spPr>
      </p:sp>
      <p:sp>
        <p:nvSpPr>
          <p:cNvPr id="202" name="Google Shape;202;p11"/>
          <p:cNvSpPr/>
          <p:nvPr/>
        </p:nvSpPr>
        <p:spPr>
          <a:xfrm>
            <a:off x="526980" y="477855"/>
            <a:ext cx="928170" cy="169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WORKFLOW</a:t>
            </a:r>
            <a:endParaRPr b="0" i="0" sz="1600" u="none" cap="none" strike="noStrike"/>
          </a:p>
        </p:txBody>
      </p:sp>
      <p:sp>
        <p:nvSpPr>
          <p:cNvPr id="203" name="Google Shape;203;p11"/>
          <p:cNvSpPr/>
          <p:nvPr/>
        </p:nvSpPr>
        <p:spPr>
          <a:xfrm>
            <a:off x="357275" y="875323"/>
            <a:ext cx="11638224" cy="357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32" u="none" cap="none" strike="noStrike">
                <a:solidFill>
                  <a:srgbClr val="2D3436"/>
                </a:solidFill>
                <a:latin typeface="Coda"/>
                <a:ea typeface="Coda"/>
                <a:cs typeface="Coda"/>
                <a:sym typeface="Coda"/>
              </a:rPr>
              <a:t>How They Work Together</a:t>
            </a:r>
            <a:endParaRPr b="0" i="0" sz="1600" u="none" cap="none" strike="noStrike"/>
          </a:p>
        </p:txBody>
      </p:sp>
      <p:sp>
        <p:nvSpPr>
          <p:cNvPr id="204" name="Google Shape;204;p11"/>
          <p:cNvSpPr/>
          <p:nvPr/>
        </p:nvSpPr>
        <p:spPr>
          <a:xfrm>
            <a:off x="375138" y="1429099"/>
            <a:ext cx="11441723" cy="571640"/>
          </a:xfrm>
          <a:custGeom>
            <a:rect b="b" l="l" r="r" t="t"/>
            <a:pathLst>
              <a:path extrusionOk="0" h="571640" w="11441723">
                <a:moveTo>
                  <a:pt x="0" y="0"/>
                </a:moveTo>
                <a:lnTo>
                  <a:pt x="11441723" y="0"/>
                </a:lnTo>
                <a:lnTo>
                  <a:pt x="11441723" y="571640"/>
                </a:lnTo>
                <a:lnTo>
                  <a:pt x="0" y="571640"/>
                </a:lnTo>
                <a:lnTo>
                  <a:pt x="0" y="0"/>
                </a:lnTo>
                <a:close/>
              </a:path>
            </a:pathLst>
          </a:custGeom>
          <a:solidFill>
            <a:srgbClr val="2D3436"/>
          </a:solidFill>
          <a:ln cap="flat" cmpd="sng" w="50800">
            <a:solidFill>
              <a:srgbClr val="4ECDC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3591">
              <a:srgbClr val="2D3436"/>
            </a:outerShdw>
          </a:effectLst>
        </p:spPr>
      </p:sp>
      <p:sp>
        <p:nvSpPr>
          <p:cNvPr id="205" name="Google Shape;205;p11"/>
          <p:cNvSpPr/>
          <p:nvPr/>
        </p:nvSpPr>
        <p:spPr>
          <a:xfrm>
            <a:off x="3491616" y="1612202"/>
            <a:ext cx="200967" cy="178637"/>
          </a:xfrm>
          <a:custGeom>
            <a:rect b="b" l="l" r="r" t="t"/>
            <a:pathLst>
              <a:path extrusionOk="0" h="178637" w="200967">
                <a:moveTo>
                  <a:pt x="86527" y="30703"/>
                </a:moveTo>
                <a:lnTo>
                  <a:pt x="114440" y="30703"/>
                </a:lnTo>
                <a:lnTo>
                  <a:pt x="114440" y="47451"/>
                </a:lnTo>
                <a:lnTo>
                  <a:pt x="86527" y="47451"/>
                </a:lnTo>
                <a:lnTo>
                  <a:pt x="86527" y="30703"/>
                </a:lnTo>
                <a:close/>
                <a:moveTo>
                  <a:pt x="83736" y="11165"/>
                </a:moveTo>
                <a:cubicBezTo>
                  <a:pt x="74490" y="11165"/>
                  <a:pt x="66989" y="18666"/>
                  <a:pt x="66989" y="27912"/>
                </a:cubicBezTo>
                <a:lnTo>
                  <a:pt x="66989" y="50242"/>
                </a:lnTo>
                <a:cubicBezTo>
                  <a:pt x="66989" y="59488"/>
                  <a:pt x="74490" y="66989"/>
                  <a:pt x="83736" y="66989"/>
                </a:cubicBezTo>
                <a:lnTo>
                  <a:pt x="89319" y="66989"/>
                </a:lnTo>
                <a:lnTo>
                  <a:pt x="89319" y="78154"/>
                </a:lnTo>
                <a:lnTo>
                  <a:pt x="11165" y="78154"/>
                </a:lnTo>
                <a:cubicBezTo>
                  <a:pt x="4989" y="78154"/>
                  <a:pt x="0" y="83143"/>
                  <a:pt x="0" y="89319"/>
                </a:cubicBezTo>
                <a:cubicBezTo>
                  <a:pt x="0" y="95494"/>
                  <a:pt x="4989" y="100484"/>
                  <a:pt x="11165" y="100484"/>
                </a:cubicBezTo>
                <a:lnTo>
                  <a:pt x="44659" y="100484"/>
                </a:lnTo>
                <a:lnTo>
                  <a:pt x="44659" y="111648"/>
                </a:lnTo>
                <a:lnTo>
                  <a:pt x="39077" y="111648"/>
                </a:lnTo>
                <a:cubicBezTo>
                  <a:pt x="29831" y="111648"/>
                  <a:pt x="22330" y="119150"/>
                  <a:pt x="22330" y="128396"/>
                </a:cubicBezTo>
                <a:lnTo>
                  <a:pt x="22330" y="150725"/>
                </a:lnTo>
                <a:cubicBezTo>
                  <a:pt x="22330" y="159971"/>
                  <a:pt x="29831" y="167473"/>
                  <a:pt x="39077" y="167473"/>
                </a:cubicBezTo>
                <a:lnTo>
                  <a:pt x="72571" y="167473"/>
                </a:lnTo>
                <a:cubicBezTo>
                  <a:pt x="81817" y="167473"/>
                  <a:pt x="89319" y="159971"/>
                  <a:pt x="89319" y="150725"/>
                </a:cubicBezTo>
                <a:lnTo>
                  <a:pt x="89319" y="128396"/>
                </a:lnTo>
                <a:cubicBezTo>
                  <a:pt x="89319" y="119150"/>
                  <a:pt x="81817" y="111648"/>
                  <a:pt x="72571" y="111648"/>
                </a:cubicBezTo>
                <a:lnTo>
                  <a:pt x="66989" y="111648"/>
                </a:lnTo>
                <a:lnTo>
                  <a:pt x="66989" y="100484"/>
                </a:lnTo>
                <a:lnTo>
                  <a:pt x="133978" y="100484"/>
                </a:lnTo>
                <a:lnTo>
                  <a:pt x="133978" y="111648"/>
                </a:lnTo>
                <a:lnTo>
                  <a:pt x="128396" y="111648"/>
                </a:lnTo>
                <a:cubicBezTo>
                  <a:pt x="119150" y="111648"/>
                  <a:pt x="111648" y="119150"/>
                  <a:pt x="111648" y="128396"/>
                </a:cubicBezTo>
                <a:lnTo>
                  <a:pt x="111648" y="150725"/>
                </a:lnTo>
                <a:cubicBezTo>
                  <a:pt x="111648" y="159971"/>
                  <a:pt x="119150" y="167473"/>
                  <a:pt x="128396" y="167473"/>
                </a:cubicBezTo>
                <a:lnTo>
                  <a:pt x="161890" y="167473"/>
                </a:lnTo>
                <a:cubicBezTo>
                  <a:pt x="171136" y="167473"/>
                  <a:pt x="178637" y="159971"/>
                  <a:pt x="178637" y="150725"/>
                </a:cubicBezTo>
                <a:lnTo>
                  <a:pt x="178637" y="128396"/>
                </a:lnTo>
                <a:cubicBezTo>
                  <a:pt x="178637" y="119150"/>
                  <a:pt x="171136" y="111648"/>
                  <a:pt x="161890" y="111648"/>
                </a:cubicBezTo>
                <a:lnTo>
                  <a:pt x="156308" y="111648"/>
                </a:lnTo>
                <a:lnTo>
                  <a:pt x="156308" y="100484"/>
                </a:lnTo>
                <a:lnTo>
                  <a:pt x="189802" y="100484"/>
                </a:lnTo>
                <a:cubicBezTo>
                  <a:pt x="195978" y="100484"/>
                  <a:pt x="200967" y="95494"/>
                  <a:pt x="200967" y="89319"/>
                </a:cubicBezTo>
                <a:cubicBezTo>
                  <a:pt x="200967" y="83143"/>
                  <a:pt x="195978" y="78154"/>
                  <a:pt x="189802" y="78154"/>
                </a:cubicBezTo>
                <a:lnTo>
                  <a:pt x="111648" y="78154"/>
                </a:lnTo>
                <a:lnTo>
                  <a:pt x="111648" y="66989"/>
                </a:lnTo>
                <a:lnTo>
                  <a:pt x="117231" y="66989"/>
                </a:lnTo>
                <a:cubicBezTo>
                  <a:pt x="126477" y="66989"/>
                  <a:pt x="133978" y="59488"/>
                  <a:pt x="133978" y="50242"/>
                </a:cubicBezTo>
                <a:lnTo>
                  <a:pt x="133978" y="27912"/>
                </a:lnTo>
                <a:cubicBezTo>
                  <a:pt x="133978" y="18666"/>
                  <a:pt x="126477" y="11165"/>
                  <a:pt x="117231" y="11165"/>
                </a:cubicBezTo>
                <a:lnTo>
                  <a:pt x="83736" y="11165"/>
                </a:lnTo>
                <a:close/>
                <a:moveTo>
                  <a:pt x="156308" y="131187"/>
                </a:moveTo>
                <a:lnTo>
                  <a:pt x="159099" y="131187"/>
                </a:lnTo>
                <a:lnTo>
                  <a:pt x="159099" y="147934"/>
                </a:lnTo>
                <a:lnTo>
                  <a:pt x="131187" y="147934"/>
                </a:lnTo>
                <a:lnTo>
                  <a:pt x="131187" y="131187"/>
                </a:lnTo>
                <a:lnTo>
                  <a:pt x="156308" y="131187"/>
                </a:lnTo>
                <a:close/>
                <a:moveTo>
                  <a:pt x="66989" y="131187"/>
                </a:moveTo>
                <a:lnTo>
                  <a:pt x="69780" y="131187"/>
                </a:lnTo>
                <a:lnTo>
                  <a:pt x="69780" y="147934"/>
                </a:lnTo>
                <a:lnTo>
                  <a:pt x="41868" y="147934"/>
                </a:lnTo>
                <a:lnTo>
                  <a:pt x="41868" y="131187"/>
                </a:lnTo>
                <a:lnTo>
                  <a:pt x="66989" y="13118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1"/>
          <p:cNvSpPr/>
          <p:nvPr/>
        </p:nvSpPr>
        <p:spPr>
          <a:xfrm>
            <a:off x="764803" y="1589873"/>
            <a:ext cx="10935944" cy="2500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7" u="none" cap="none" strike="noStrike">
                <a:solidFill>
                  <a:srgbClr val="FFFFFF"/>
                </a:solidFill>
                <a:latin typeface="Coda"/>
                <a:ea typeface="Coda"/>
                <a:cs typeface="Coda"/>
                <a:sym typeface="Coda"/>
              </a:rPr>
              <a:t>Scene: 1 AP (WiFi Router) + 1 STA (Your Device with 2 Radios)</a:t>
            </a:r>
            <a:endParaRPr b="0" i="0" sz="1600" u="none" cap="none" strike="noStrike"/>
          </a:p>
        </p:txBody>
      </p:sp>
      <p:sp>
        <p:nvSpPr>
          <p:cNvPr id="207" name="Google Shape;207;p11"/>
          <p:cNvSpPr/>
          <p:nvPr/>
        </p:nvSpPr>
        <p:spPr>
          <a:xfrm>
            <a:off x="375138" y="2215103"/>
            <a:ext cx="1509486" cy="1652396"/>
          </a:xfrm>
          <a:custGeom>
            <a:rect b="b" l="l" r="r" t="t"/>
            <a:pathLst>
              <a:path extrusionOk="0" h="1652396" w="1509486">
                <a:moveTo>
                  <a:pt x="0" y="0"/>
                </a:moveTo>
                <a:lnTo>
                  <a:pt x="1509486" y="0"/>
                </a:lnTo>
                <a:lnTo>
                  <a:pt x="1509486" y="1652396"/>
                </a:lnTo>
                <a:lnTo>
                  <a:pt x="0" y="165239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flat" cmpd="sng" w="508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3591">
              <a:srgbClr val="2D3436"/>
            </a:outerShdw>
          </a:effectLst>
        </p:spPr>
      </p:sp>
      <p:sp>
        <p:nvSpPr>
          <p:cNvPr id="208" name="Google Shape;208;p11"/>
          <p:cNvSpPr/>
          <p:nvPr/>
        </p:nvSpPr>
        <p:spPr>
          <a:xfrm>
            <a:off x="513582" y="2353547"/>
            <a:ext cx="330479" cy="330479"/>
          </a:xfrm>
          <a:custGeom>
            <a:rect b="b" l="l" r="r" t="t"/>
            <a:pathLst>
              <a:path extrusionOk="0" h="330479" w="330479">
                <a:moveTo>
                  <a:pt x="0" y="0"/>
                </a:moveTo>
                <a:lnTo>
                  <a:pt x="330479" y="0"/>
                </a:lnTo>
                <a:lnTo>
                  <a:pt x="330479" y="330479"/>
                </a:lnTo>
                <a:lnTo>
                  <a:pt x="0" y="330479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cap="flat" cmpd="sng" w="381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3591">
              <a:srgbClr val="2D3436"/>
            </a:outerShdw>
          </a:effectLst>
        </p:spPr>
      </p:sp>
      <p:sp>
        <p:nvSpPr>
          <p:cNvPr id="209" name="Google Shape;209;p11"/>
          <p:cNvSpPr/>
          <p:nvPr/>
        </p:nvSpPr>
        <p:spPr>
          <a:xfrm>
            <a:off x="651580" y="2393741"/>
            <a:ext cx="133978" cy="2500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66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 b="0" i="0" sz="1600" u="none" cap="none" strike="noStrike"/>
          </a:p>
        </p:txBody>
      </p:sp>
      <p:sp>
        <p:nvSpPr>
          <p:cNvPr id="210" name="Google Shape;210;p11"/>
          <p:cNvSpPr/>
          <p:nvPr/>
        </p:nvSpPr>
        <p:spPr>
          <a:xfrm>
            <a:off x="1016372" y="2847033"/>
            <a:ext cx="234462" cy="267956"/>
          </a:xfrm>
          <a:custGeom>
            <a:rect b="b" l="l" r="r" t="t"/>
            <a:pathLst>
              <a:path extrusionOk="0" h="267956" w="234462">
                <a:moveTo>
                  <a:pt x="234462" y="107706"/>
                </a:moveTo>
                <a:cubicBezTo>
                  <a:pt x="226716" y="112835"/>
                  <a:pt x="217819" y="116969"/>
                  <a:pt x="208556" y="120266"/>
                </a:cubicBezTo>
                <a:cubicBezTo>
                  <a:pt x="183958" y="129059"/>
                  <a:pt x="151667" y="133978"/>
                  <a:pt x="117231" y="133978"/>
                </a:cubicBezTo>
                <a:cubicBezTo>
                  <a:pt x="82794" y="133978"/>
                  <a:pt x="50451" y="129006"/>
                  <a:pt x="25906" y="120266"/>
                </a:cubicBezTo>
                <a:cubicBezTo>
                  <a:pt x="16695" y="116969"/>
                  <a:pt x="7746" y="112835"/>
                  <a:pt x="0" y="107706"/>
                </a:cubicBezTo>
                <a:lnTo>
                  <a:pt x="0" y="150725"/>
                </a:lnTo>
                <a:cubicBezTo>
                  <a:pt x="0" y="173857"/>
                  <a:pt x="52492" y="192593"/>
                  <a:pt x="117231" y="192593"/>
                </a:cubicBezTo>
                <a:cubicBezTo>
                  <a:pt x="181969" y="192593"/>
                  <a:pt x="234462" y="173857"/>
                  <a:pt x="234462" y="150725"/>
                </a:cubicBezTo>
                <a:lnTo>
                  <a:pt x="234462" y="107706"/>
                </a:lnTo>
                <a:close/>
                <a:moveTo>
                  <a:pt x="234462" y="66989"/>
                </a:moveTo>
                <a:lnTo>
                  <a:pt x="234462" y="41868"/>
                </a:lnTo>
                <a:cubicBezTo>
                  <a:pt x="234462" y="18736"/>
                  <a:pt x="181969" y="0"/>
                  <a:pt x="117231" y="0"/>
                </a:cubicBezTo>
                <a:cubicBezTo>
                  <a:pt x="52492" y="0"/>
                  <a:pt x="0" y="18736"/>
                  <a:pt x="0" y="41868"/>
                </a:cubicBezTo>
                <a:lnTo>
                  <a:pt x="0" y="66989"/>
                </a:lnTo>
                <a:cubicBezTo>
                  <a:pt x="0" y="90121"/>
                  <a:pt x="52492" y="108857"/>
                  <a:pt x="117231" y="108857"/>
                </a:cubicBezTo>
                <a:cubicBezTo>
                  <a:pt x="181969" y="108857"/>
                  <a:pt x="234462" y="90121"/>
                  <a:pt x="234462" y="66989"/>
                </a:cubicBezTo>
                <a:close/>
                <a:moveTo>
                  <a:pt x="208556" y="204002"/>
                </a:moveTo>
                <a:cubicBezTo>
                  <a:pt x="184010" y="212742"/>
                  <a:pt x="151720" y="217714"/>
                  <a:pt x="117231" y="217714"/>
                </a:cubicBezTo>
                <a:cubicBezTo>
                  <a:pt x="82742" y="217714"/>
                  <a:pt x="50451" y="212742"/>
                  <a:pt x="25906" y="204002"/>
                </a:cubicBezTo>
                <a:cubicBezTo>
                  <a:pt x="16695" y="200705"/>
                  <a:pt x="7746" y="196571"/>
                  <a:pt x="0" y="191442"/>
                </a:cubicBezTo>
                <a:lnTo>
                  <a:pt x="0" y="226088"/>
                </a:lnTo>
                <a:cubicBezTo>
                  <a:pt x="0" y="249220"/>
                  <a:pt x="52492" y="267956"/>
                  <a:pt x="117231" y="267956"/>
                </a:cubicBezTo>
                <a:cubicBezTo>
                  <a:pt x="181969" y="267956"/>
                  <a:pt x="234462" y="249220"/>
                  <a:pt x="234462" y="226088"/>
                </a:cubicBezTo>
                <a:lnTo>
                  <a:pt x="234462" y="191442"/>
                </a:lnTo>
                <a:cubicBezTo>
                  <a:pt x="226716" y="196571"/>
                  <a:pt x="217819" y="200705"/>
                  <a:pt x="208556" y="204002"/>
                </a:cubicBezTo>
                <a:close/>
              </a:path>
            </a:pathLst>
          </a:custGeom>
          <a:solidFill>
            <a:srgbClr val="FF6B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1"/>
          <p:cNvSpPr/>
          <p:nvPr/>
        </p:nvSpPr>
        <p:spPr>
          <a:xfrm>
            <a:off x="468923" y="3264598"/>
            <a:ext cx="1321916" cy="16077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85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 has data to send</a:t>
            </a:r>
            <a:endParaRPr b="0" i="0" sz="1600" u="none" cap="none" strike="noStrike"/>
          </a:p>
        </p:txBody>
      </p:sp>
      <p:sp>
        <p:nvSpPr>
          <p:cNvPr id="212" name="Google Shape;212;p11"/>
          <p:cNvSpPr/>
          <p:nvPr/>
        </p:nvSpPr>
        <p:spPr>
          <a:xfrm>
            <a:off x="782729" y="3501292"/>
            <a:ext cx="696686" cy="232229"/>
          </a:xfrm>
          <a:custGeom>
            <a:rect b="b" l="l" r="r" t="t"/>
            <a:pathLst>
              <a:path extrusionOk="0" h="232229" w="696686">
                <a:moveTo>
                  <a:pt x="0" y="0"/>
                </a:moveTo>
                <a:lnTo>
                  <a:pt x="696686" y="0"/>
                </a:lnTo>
                <a:lnTo>
                  <a:pt x="696686" y="232229"/>
                </a:lnTo>
                <a:lnTo>
                  <a:pt x="0" y="232229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cap="flat" cmpd="sng" w="254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11"/>
          <p:cNvSpPr/>
          <p:nvPr/>
        </p:nvSpPr>
        <p:spPr>
          <a:xfrm>
            <a:off x="747002" y="3492360"/>
            <a:ext cx="732413" cy="2143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5725" lIns="71450" spcFirstLastPara="1" rIns="71450" wrap="square" tIns="35725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44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PCR asleep</a:t>
            </a:r>
            <a:endParaRPr b="0" i="0" sz="1600" u="none" cap="none" strike="noStrike"/>
          </a:p>
        </p:txBody>
      </p:sp>
      <p:sp>
        <p:nvSpPr>
          <p:cNvPr id="214" name="Google Shape;214;p11"/>
          <p:cNvSpPr/>
          <p:nvPr/>
        </p:nvSpPr>
        <p:spPr>
          <a:xfrm>
            <a:off x="2679560" y="2934119"/>
            <a:ext cx="214365" cy="214365"/>
          </a:xfrm>
          <a:custGeom>
            <a:rect b="b" l="l" r="r" t="t"/>
            <a:pathLst>
              <a:path extrusionOk="0" h="214365" w="214365">
                <a:moveTo>
                  <a:pt x="210429" y="116645"/>
                </a:moveTo>
                <a:cubicBezTo>
                  <a:pt x="215663" y="111411"/>
                  <a:pt x="215663" y="102912"/>
                  <a:pt x="210429" y="97678"/>
                </a:cubicBezTo>
                <a:lnTo>
                  <a:pt x="143440" y="30689"/>
                </a:lnTo>
                <a:cubicBezTo>
                  <a:pt x="138207" y="25456"/>
                  <a:pt x="129707" y="25456"/>
                  <a:pt x="124474" y="30689"/>
                </a:cubicBezTo>
                <a:cubicBezTo>
                  <a:pt x="119240" y="35923"/>
                  <a:pt x="119240" y="44422"/>
                  <a:pt x="124474" y="49656"/>
                </a:cubicBezTo>
                <a:lnTo>
                  <a:pt x="168603" y="93785"/>
                </a:lnTo>
                <a:lnTo>
                  <a:pt x="13398" y="93785"/>
                </a:lnTo>
                <a:cubicBezTo>
                  <a:pt x="5987" y="93785"/>
                  <a:pt x="0" y="99772"/>
                  <a:pt x="0" y="107182"/>
                </a:cubicBezTo>
                <a:cubicBezTo>
                  <a:pt x="0" y="114593"/>
                  <a:pt x="5987" y="120580"/>
                  <a:pt x="13398" y="120580"/>
                </a:cubicBezTo>
                <a:lnTo>
                  <a:pt x="168603" y="120580"/>
                </a:lnTo>
                <a:lnTo>
                  <a:pt x="124474" y="164709"/>
                </a:lnTo>
                <a:cubicBezTo>
                  <a:pt x="119240" y="169943"/>
                  <a:pt x="119240" y="178442"/>
                  <a:pt x="124474" y="183675"/>
                </a:cubicBezTo>
                <a:cubicBezTo>
                  <a:pt x="129707" y="188909"/>
                  <a:pt x="138207" y="188909"/>
                  <a:pt x="143440" y="183675"/>
                </a:cubicBezTo>
                <a:lnTo>
                  <a:pt x="210429" y="116686"/>
                </a:lnTo>
                <a:close/>
              </a:path>
            </a:pathLst>
          </a:custGeom>
          <a:solidFill>
            <a:srgbClr val="2D34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1"/>
          <p:cNvSpPr/>
          <p:nvPr/>
        </p:nvSpPr>
        <p:spPr>
          <a:xfrm>
            <a:off x="3685884" y="2215103"/>
            <a:ext cx="1509486" cy="1652396"/>
          </a:xfrm>
          <a:custGeom>
            <a:rect b="b" l="l" r="r" t="t"/>
            <a:pathLst>
              <a:path extrusionOk="0" h="1652396" w="1509486">
                <a:moveTo>
                  <a:pt x="0" y="0"/>
                </a:moveTo>
                <a:lnTo>
                  <a:pt x="1509486" y="0"/>
                </a:lnTo>
                <a:lnTo>
                  <a:pt x="1509486" y="1652396"/>
                </a:lnTo>
                <a:lnTo>
                  <a:pt x="0" y="165239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flat" cmpd="sng" w="508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3591">
              <a:srgbClr val="2D3436"/>
            </a:outerShdw>
          </a:effectLst>
        </p:spPr>
      </p:sp>
      <p:sp>
        <p:nvSpPr>
          <p:cNvPr id="216" name="Google Shape;216;p11"/>
          <p:cNvSpPr/>
          <p:nvPr/>
        </p:nvSpPr>
        <p:spPr>
          <a:xfrm>
            <a:off x="3824328" y="2353547"/>
            <a:ext cx="330479" cy="330479"/>
          </a:xfrm>
          <a:custGeom>
            <a:rect b="b" l="l" r="r" t="t"/>
            <a:pathLst>
              <a:path extrusionOk="0" h="330479" w="330479">
                <a:moveTo>
                  <a:pt x="0" y="0"/>
                </a:moveTo>
                <a:lnTo>
                  <a:pt x="330479" y="0"/>
                </a:lnTo>
                <a:lnTo>
                  <a:pt x="330479" y="330479"/>
                </a:lnTo>
                <a:lnTo>
                  <a:pt x="0" y="330479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cap="flat" cmpd="sng" w="381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3591">
              <a:srgbClr val="2D3436"/>
            </a:outerShdw>
          </a:effectLst>
        </p:spPr>
      </p:sp>
      <p:sp>
        <p:nvSpPr>
          <p:cNvPr id="217" name="Google Shape;217;p11"/>
          <p:cNvSpPr/>
          <p:nvPr/>
        </p:nvSpPr>
        <p:spPr>
          <a:xfrm>
            <a:off x="3946992" y="2393741"/>
            <a:ext cx="169705" cy="2500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66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 b="0" i="0" sz="1600" u="none" cap="none" strike="noStrike"/>
          </a:p>
        </p:txBody>
      </p:sp>
      <p:sp>
        <p:nvSpPr>
          <p:cNvPr id="218" name="Google Shape;218;p11"/>
          <p:cNvSpPr/>
          <p:nvPr/>
        </p:nvSpPr>
        <p:spPr>
          <a:xfrm>
            <a:off x="4293623" y="2768879"/>
            <a:ext cx="301451" cy="267956"/>
          </a:xfrm>
          <a:custGeom>
            <a:rect b="b" l="l" r="r" t="t"/>
            <a:pathLst>
              <a:path extrusionOk="0" h="267956" w="301451">
                <a:moveTo>
                  <a:pt x="280726" y="-13764"/>
                </a:moveTo>
                <a:cubicBezTo>
                  <a:pt x="285855" y="-15596"/>
                  <a:pt x="291507" y="-14287"/>
                  <a:pt x="295380" y="-10467"/>
                </a:cubicBezTo>
                <a:cubicBezTo>
                  <a:pt x="299252" y="-6647"/>
                  <a:pt x="300509" y="-942"/>
                  <a:pt x="298677" y="4187"/>
                </a:cubicBezTo>
                <a:lnTo>
                  <a:pt x="205520" y="264240"/>
                </a:lnTo>
                <a:cubicBezTo>
                  <a:pt x="202903" y="271515"/>
                  <a:pt x="196048" y="276330"/>
                  <a:pt x="188354" y="276330"/>
                </a:cubicBezTo>
                <a:cubicBezTo>
                  <a:pt x="180923" y="276330"/>
                  <a:pt x="174224" y="271829"/>
                  <a:pt x="171450" y="264973"/>
                </a:cubicBezTo>
                <a:lnTo>
                  <a:pt x="137851" y="182283"/>
                </a:lnTo>
                <a:cubicBezTo>
                  <a:pt x="135496" y="176527"/>
                  <a:pt x="136542" y="169932"/>
                  <a:pt x="140572" y="165222"/>
                </a:cubicBezTo>
                <a:lnTo>
                  <a:pt x="190029" y="106397"/>
                </a:lnTo>
                <a:cubicBezTo>
                  <a:pt x="192698" y="103205"/>
                  <a:pt x="192489" y="98547"/>
                  <a:pt x="189558" y="95616"/>
                </a:cubicBezTo>
                <a:cubicBezTo>
                  <a:pt x="186627" y="92686"/>
                  <a:pt x="181917" y="92476"/>
                  <a:pt x="178777" y="95145"/>
                </a:cubicBezTo>
                <a:lnTo>
                  <a:pt x="119952" y="144497"/>
                </a:lnTo>
                <a:cubicBezTo>
                  <a:pt x="115190" y="148475"/>
                  <a:pt x="108648" y="149522"/>
                  <a:pt x="102891" y="147219"/>
                </a:cubicBezTo>
                <a:lnTo>
                  <a:pt x="19940" y="113463"/>
                </a:lnTo>
                <a:cubicBezTo>
                  <a:pt x="13084" y="110689"/>
                  <a:pt x="8583" y="103990"/>
                  <a:pt x="8583" y="96558"/>
                </a:cubicBezTo>
                <a:cubicBezTo>
                  <a:pt x="8583" y="88865"/>
                  <a:pt x="13398" y="82009"/>
                  <a:pt x="20672" y="79392"/>
                </a:cubicBezTo>
                <a:lnTo>
                  <a:pt x="280726" y="-13764"/>
                </a:lnTo>
                <a:close/>
              </a:path>
            </a:pathLst>
          </a:custGeom>
          <a:solidFill>
            <a:srgbClr val="4ECD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1"/>
          <p:cNvSpPr/>
          <p:nvPr/>
        </p:nvSpPr>
        <p:spPr>
          <a:xfrm>
            <a:off x="3779669" y="3108290"/>
            <a:ext cx="1321916" cy="3126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85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 sends wake-up frame</a:t>
            </a:r>
            <a:endParaRPr b="0" i="0" sz="1600" u="none" cap="none" strike="noStrike"/>
          </a:p>
        </p:txBody>
      </p:sp>
      <p:sp>
        <p:nvSpPr>
          <p:cNvPr id="220" name="Google Shape;220;p11"/>
          <p:cNvSpPr/>
          <p:nvPr/>
        </p:nvSpPr>
        <p:spPr>
          <a:xfrm>
            <a:off x="4156594" y="3501292"/>
            <a:ext cx="571640" cy="232229"/>
          </a:xfrm>
          <a:custGeom>
            <a:rect b="b" l="l" r="r" t="t"/>
            <a:pathLst>
              <a:path extrusionOk="0" h="232229" w="571640">
                <a:moveTo>
                  <a:pt x="0" y="0"/>
                </a:moveTo>
                <a:lnTo>
                  <a:pt x="571640" y="0"/>
                </a:lnTo>
                <a:lnTo>
                  <a:pt x="571640" y="232229"/>
                </a:lnTo>
                <a:lnTo>
                  <a:pt x="0" y="232229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cap="flat" cmpd="sng" w="254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11"/>
          <p:cNvSpPr/>
          <p:nvPr/>
        </p:nvSpPr>
        <p:spPr>
          <a:xfrm>
            <a:off x="4120866" y="3492360"/>
            <a:ext cx="607367" cy="2143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5725" lIns="71450" spcFirstLastPara="1" rIns="71450" wrap="square" tIns="35725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44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 WUR</a:t>
            </a:r>
            <a:endParaRPr b="0" i="0" sz="1600" u="none" cap="none" strike="noStrike"/>
          </a:p>
        </p:txBody>
      </p:sp>
      <p:sp>
        <p:nvSpPr>
          <p:cNvPr id="222" name="Google Shape;222;p11"/>
          <p:cNvSpPr/>
          <p:nvPr/>
        </p:nvSpPr>
        <p:spPr>
          <a:xfrm>
            <a:off x="5990306" y="2934119"/>
            <a:ext cx="214365" cy="214365"/>
          </a:xfrm>
          <a:custGeom>
            <a:rect b="b" l="l" r="r" t="t"/>
            <a:pathLst>
              <a:path extrusionOk="0" h="214365" w="214365">
                <a:moveTo>
                  <a:pt x="210429" y="116645"/>
                </a:moveTo>
                <a:cubicBezTo>
                  <a:pt x="215663" y="111411"/>
                  <a:pt x="215663" y="102912"/>
                  <a:pt x="210429" y="97678"/>
                </a:cubicBezTo>
                <a:lnTo>
                  <a:pt x="143440" y="30689"/>
                </a:lnTo>
                <a:cubicBezTo>
                  <a:pt x="138207" y="25456"/>
                  <a:pt x="129707" y="25456"/>
                  <a:pt x="124474" y="30689"/>
                </a:cubicBezTo>
                <a:cubicBezTo>
                  <a:pt x="119240" y="35923"/>
                  <a:pt x="119240" y="44422"/>
                  <a:pt x="124474" y="49656"/>
                </a:cubicBezTo>
                <a:lnTo>
                  <a:pt x="168603" y="93785"/>
                </a:lnTo>
                <a:lnTo>
                  <a:pt x="13398" y="93785"/>
                </a:lnTo>
                <a:cubicBezTo>
                  <a:pt x="5987" y="93785"/>
                  <a:pt x="0" y="99772"/>
                  <a:pt x="0" y="107182"/>
                </a:cubicBezTo>
                <a:cubicBezTo>
                  <a:pt x="0" y="114593"/>
                  <a:pt x="5987" y="120580"/>
                  <a:pt x="13398" y="120580"/>
                </a:cubicBezTo>
                <a:lnTo>
                  <a:pt x="168603" y="120580"/>
                </a:lnTo>
                <a:lnTo>
                  <a:pt x="124474" y="164709"/>
                </a:lnTo>
                <a:cubicBezTo>
                  <a:pt x="119240" y="169943"/>
                  <a:pt x="119240" y="178442"/>
                  <a:pt x="124474" y="183675"/>
                </a:cubicBezTo>
                <a:cubicBezTo>
                  <a:pt x="129707" y="188909"/>
                  <a:pt x="138207" y="188909"/>
                  <a:pt x="143440" y="183675"/>
                </a:cubicBezTo>
                <a:lnTo>
                  <a:pt x="210429" y="116686"/>
                </a:lnTo>
                <a:close/>
              </a:path>
            </a:pathLst>
          </a:custGeom>
          <a:solidFill>
            <a:srgbClr val="2D34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1"/>
          <p:cNvSpPr/>
          <p:nvPr/>
        </p:nvSpPr>
        <p:spPr>
          <a:xfrm>
            <a:off x="6996630" y="2215103"/>
            <a:ext cx="1509486" cy="1652396"/>
          </a:xfrm>
          <a:custGeom>
            <a:rect b="b" l="l" r="r" t="t"/>
            <a:pathLst>
              <a:path extrusionOk="0" h="1652396" w="1509486">
                <a:moveTo>
                  <a:pt x="0" y="0"/>
                </a:moveTo>
                <a:lnTo>
                  <a:pt x="1509486" y="0"/>
                </a:lnTo>
                <a:lnTo>
                  <a:pt x="1509486" y="1652396"/>
                </a:lnTo>
                <a:lnTo>
                  <a:pt x="0" y="165239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flat" cmpd="sng" w="508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3591">
              <a:srgbClr val="2D3436"/>
            </a:outerShdw>
          </a:effectLst>
        </p:spPr>
      </p:sp>
      <p:sp>
        <p:nvSpPr>
          <p:cNvPr id="224" name="Google Shape;224;p11"/>
          <p:cNvSpPr/>
          <p:nvPr/>
        </p:nvSpPr>
        <p:spPr>
          <a:xfrm>
            <a:off x="7135074" y="2353547"/>
            <a:ext cx="330479" cy="330479"/>
          </a:xfrm>
          <a:custGeom>
            <a:rect b="b" l="l" r="r" t="t"/>
            <a:pathLst>
              <a:path extrusionOk="0" h="330479" w="330479">
                <a:moveTo>
                  <a:pt x="0" y="0"/>
                </a:moveTo>
                <a:lnTo>
                  <a:pt x="330479" y="0"/>
                </a:lnTo>
                <a:lnTo>
                  <a:pt x="330479" y="330479"/>
                </a:lnTo>
                <a:lnTo>
                  <a:pt x="0" y="330479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cap="flat" cmpd="sng" w="381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3591">
              <a:srgbClr val="2D3436"/>
            </a:outerShdw>
          </a:effectLst>
        </p:spPr>
      </p:sp>
      <p:sp>
        <p:nvSpPr>
          <p:cNvPr id="225" name="Google Shape;225;p11"/>
          <p:cNvSpPr/>
          <p:nvPr/>
        </p:nvSpPr>
        <p:spPr>
          <a:xfrm>
            <a:off x="7255654" y="2393741"/>
            <a:ext cx="169705" cy="2500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66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 b="0" i="0" sz="1600" u="none" cap="none" strike="noStrike"/>
          </a:p>
        </p:txBody>
      </p:sp>
      <p:sp>
        <p:nvSpPr>
          <p:cNvPr id="226" name="Google Shape;226;p11"/>
          <p:cNvSpPr/>
          <p:nvPr/>
        </p:nvSpPr>
        <p:spPr>
          <a:xfrm>
            <a:off x="7621116" y="2847033"/>
            <a:ext cx="267956" cy="267956"/>
          </a:xfrm>
          <a:custGeom>
            <a:rect b="b" l="l" r="r" t="t"/>
            <a:pathLst>
              <a:path extrusionOk="0" h="267956" w="267956">
                <a:moveTo>
                  <a:pt x="198664" y="157"/>
                </a:moveTo>
                <a:cubicBezTo>
                  <a:pt x="194006" y="785"/>
                  <a:pt x="189663" y="3402"/>
                  <a:pt x="186941" y="7536"/>
                </a:cubicBezTo>
                <a:cubicBezTo>
                  <a:pt x="183382" y="12979"/>
                  <a:pt x="183278" y="20149"/>
                  <a:pt x="186732" y="25644"/>
                </a:cubicBezTo>
                <a:cubicBezTo>
                  <a:pt x="189663" y="30302"/>
                  <a:pt x="194844" y="32291"/>
                  <a:pt x="199188" y="35326"/>
                </a:cubicBezTo>
                <a:cubicBezTo>
                  <a:pt x="203113" y="38048"/>
                  <a:pt x="208399" y="42234"/>
                  <a:pt x="213684" y="47991"/>
                </a:cubicBezTo>
                <a:cubicBezTo>
                  <a:pt x="224152" y="59348"/>
                  <a:pt x="234357" y="76409"/>
                  <a:pt x="234357" y="100484"/>
                </a:cubicBezTo>
                <a:cubicBezTo>
                  <a:pt x="234357" y="109747"/>
                  <a:pt x="241841" y="117231"/>
                  <a:pt x="251104" y="117231"/>
                </a:cubicBezTo>
                <a:cubicBezTo>
                  <a:pt x="260367" y="117231"/>
                  <a:pt x="267851" y="109747"/>
                  <a:pt x="267851" y="100484"/>
                </a:cubicBezTo>
                <a:cubicBezTo>
                  <a:pt x="267851" y="65942"/>
                  <a:pt x="252936" y="41135"/>
                  <a:pt x="238282" y="25278"/>
                </a:cubicBezTo>
                <a:cubicBezTo>
                  <a:pt x="231007" y="17375"/>
                  <a:pt x="223733" y="11618"/>
                  <a:pt x="218238" y="7850"/>
                </a:cubicBezTo>
                <a:cubicBezTo>
                  <a:pt x="212481" y="3873"/>
                  <a:pt x="205939" y="-837"/>
                  <a:pt x="198560" y="157"/>
                </a:cubicBezTo>
                <a:close/>
                <a:moveTo>
                  <a:pt x="125604" y="66989"/>
                </a:moveTo>
                <a:cubicBezTo>
                  <a:pt x="95459" y="66989"/>
                  <a:pt x="70600" y="89807"/>
                  <a:pt x="67355" y="119063"/>
                </a:cubicBezTo>
                <a:cubicBezTo>
                  <a:pt x="66361" y="128273"/>
                  <a:pt x="58040" y="134868"/>
                  <a:pt x="48881" y="133873"/>
                </a:cubicBezTo>
                <a:cubicBezTo>
                  <a:pt x="39722" y="132879"/>
                  <a:pt x="33076" y="124558"/>
                  <a:pt x="34070" y="115399"/>
                </a:cubicBezTo>
                <a:cubicBezTo>
                  <a:pt x="39147" y="69344"/>
                  <a:pt x="78189" y="33495"/>
                  <a:pt x="125604" y="33495"/>
                </a:cubicBezTo>
                <a:cubicBezTo>
                  <a:pt x="176474" y="33495"/>
                  <a:pt x="217714" y="74735"/>
                  <a:pt x="217714" y="125604"/>
                </a:cubicBezTo>
                <a:cubicBezTo>
                  <a:pt x="217714" y="149679"/>
                  <a:pt x="208451" y="171607"/>
                  <a:pt x="193326" y="188040"/>
                </a:cubicBezTo>
                <a:cubicBezTo>
                  <a:pt x="187046" y="194844"/>
                  <a:pt x="184220" y="201019"/>
                  <a:pt x="184220" y="206201"/>
                </a:cubicBezTo>
                <a:lnTo>
                  <a:pt x="184220" y="209393"/>
                </a:lnTo>
                <a:cubicBezTo>
                  <a:pt x="184220" y="241788"/>
                  <a:pt x="158000" y="268008"/>
                  <a:pt x="125604" y="268008"/>
                </a:cubicBezTo>
                <a:cubicBezTo>
                  <a:pt x="116341" y="268008"/>
                  <a:pt x="108857" y="260524"/>
                  <a:pt x="108857" y="251261"/>
                </a:cubicBezTo>
                <a:cubicBezTo>
                  <a:pt x="108857" y="241998"/>
                  <a:pt x="116341" y="234514"/>
                  <a:pt x="125604" y="234514"/>
                </a:cubicBezTo>
                <a:cubicBezTo>
                  <a:pt x="139473" y="234514"/>
                  <a:pt x="150725" y="223262"/>
                  <a:pt x="150725" y="209393"/>
                </a:cubicBezTo>
                <a:lnTo>
                  <a:pt x="150725" y="206201"/>
                </a:lnTo>
                <a:cubicBezTo>
                  <a:pt x="150725" y="188982"/>
                  <a:pt x="159832" y="175009"/>
                  <a:pt x="168729" y="165379"/>
                </a:cubicBezTo>
                <a:cubicBezTo>
                  <a:pt x="178358" y="154912"/>
                  <a:pt x="184220" y="140991"/>
                  <a:pt x="184220" y="125657"/>
                </a:cubicBezTo>
                <a:cubicBezTo>
                  <a:pt x="184220" y="93261"/>
                  <a:pt x="158000" y="67041"/>
                  <a:pt x="125604" y="67041"/>
                </a:cubicBezTo>
                <a:close/>
                <a:moveTo>
                  <a:pt x="0" y="251209"/>
                </a:moveTo>
                <a:cubicBezTo>
                  <a:pt x="0" y="241966"/>
                  <a:pt x="7504" y="234462"/>
                  <a:pt x="16747" y="234462"/>
                </a:cubicBezTo>
                <a:cubicBezTo>
                  <a:pt x="25990" y="234462"/>
                  <a:pt x="33495" y="241966"/>
                  <a:pt x="33495" y="251209"/>
                </a:cubicBezTo>
                <a:cubicBezTo>
                  <a:pt x="33495" y="260452"/>
                  <a:pt x="25990" y="267956"/>
                  <a:pt x="16747" y="267956"/>
                </a:cubicBezTo>
                <a:cubicBezTo>
                  <a:pt x="7504" y="267956"/>
                  <a:pt x="0" y="260452"/>
                  <a:pt x="0" y="251209"/>
                </a:cubicBezTo>
                <a:close/>
                <a:moveTo>
                  <a:pt x="83736" y="200967"/>
                </a:moveTo>
                <a:cubicBezTo>
                  <a:pt x="92979" y="200967"/>
                  <a:pt x="100484" y="193463"/>
                  <a:pt x="100484" y="184220"/>
                </a:cubicBezTo>
                <a:cubicBezTo>
                  <a:pt x="100484" y="174977"/>
                  <a:pt x="92979" y="167473"/>
                  <a:pt x="83736" y="167473"/>
                </a:cubicBezTo>
                <a:cubicBezTo>
                  <a:pt x="74493" y="167473"/>
                  <a:pt x="66989" y="174977"/>
                  <a:pt x="66989" y="184220"/>
                </a:cubicBezTo>
                <a:cubicBezTo>
                  <a:pt x="66989" y="193463"/>
                  <a:pt x="74493" y="200967"/>
                  <a:pt x="83736" y="200967"/>
                </a:cubicBezTo>
                <a:close/>
                <a:moveTo>
                  <a:pt x="45322" y="189139"/>
                </a:moveTo>
                <a:cubicBezTo>
                  <a:pt x="38780" y="182597"/>
                  <a:pt x="28156" y="182597"/>
                  <a:pt x="21614" y="189139"/>
                </a:cubicBezTo>
                <a:cubicBezTo>
                  <a:pt x="15073" y="195681"/>
                  <a:pt x="15073" y="206305"/>
                  <a:pt x="21614" y="212847"/>
                </a:cubicBezTo>
                <a:lnTo>
                  <a:pt x="55109" y="246342"/>
                </a:lnTo>
                <a:cubicBezTo>
                  <a:pt x="61651" y="252884"/>
                  <a:pt x="72275" y="252884"/>
                  <a:pt x="78817" y="246342"/>
                </a:cubicBezTo>
                <a:cubicBezTo>
                  <a:pt x="85359" y="239800"/>
                  <a:pt x="85359" y="229176"/>
                  <a:pt x="78817" y="222634"/>
                </a:cubicBezTo>
                <a:lnTo>
                  <a:pt x="45322" y="189139"/>
                </a:lnTo>
                <a:close/>
                <a:moveTo>
                  <a:pt x="125604" y="108857"/>
                </a:moveTo>
                <a:cubicBezTo>
                  <a:pt x="116341" y="108857"/>
                  <a:pt x="108857" y="116341"/>
                  <a:pt x="108857" y="125604"/>
                </a:cubicBezTo>
                <a:cubicBezTo>
                  <a:pt x="108857" y="132565"/>
                  <a:pt x="103257" y="138165"/>
                  <a:pt x="96297" y="138165"/>
                </a:cubicBezTo>
                <a:cubicBezTo>
                  <a:pt x="89336" y="138165"/>
                  <a:pt x="83736" y="132565"/>
                  <a:pt x="83736" y="125604"/>
                </a:cubicBezTo>
                <a:cubicBezTo>
                  <a:pt x="83736" y="102472"/>
                  <a:pt x="102472" y="83736"/>
                  <a:pt x="125604" y="83736"/>
                </a:cubicBezTo>
                <a:cubicBezTo>
                  <a:pt x="148737" y="83736"/>
                  <a:pt x="167473" y="102472"/>
                  <a:pt x="167473" y="125604"/>
                </a:cubicBezTo>
                <a:cubicBezTo>
                  <a:pt x="167473" y="132565"/>
                  <a:pt x="161873" y="138165"/>
                  <a:pt x="154912" y="138165"/>
                </a:cubicBezTo>
                <a:cubicBezTo>
                  <a:pt x="147952" y="138165"/>
                  <a:pt x="142352" y="132565"/>
                  <a:pt x="142352" y="125604"/>
                </a:cubicBezTo>
                <a:cubicBezTo>
                  <a:pt x="142352" y="116341"/>
                  <a:pt x="134868" y="108857"/>
                  <a:pt x="125604" y="108857"/>
                </a:cubicBezTo>
                <a:close/>
              </a:path>
            </a:pathLst>
          </a:custGeom>
          <a:solidFill>
            <a:srgbClr val="FFE66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1"/>
          <p:cNvSpPr/>
          <p:nvPr/>
        </p:nvSpPr>
        <p:spPr>
          <a:xfrm>
            <a:off x="7090414" y="3264598"/>
            <a:ext cx="1321916" cy="16077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85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WUR detects frame</a:t>
            </a:r>
            <a:endParaRPr b="0" i="0" sz="1600" u="none" cap="none" strike="noStrike"/>
          </a:p>
        </p:txBody>
      </p:sp>
      <p:sp>
        <p:nvSpPr>
          <p:cNvPr id="228" name="Google Shape;228;p11"/>
          <p:cNvSpPr/>
          <p:nvPr/>
        </p:nvSpPr>
        <p:spPr>
          <a:xfrm>
            <a:off x="7420596" y="3501292"/>
            <a:ext cx="660958" cy="232229"/>
          </a:xfrm>
          <a:custGeom>
            <a:rect b="b" l="l" r="r" t="t"/>
            <a:pathLst>
              <a:path extrusionOk="0" h="232229" w="660958">
                <a:moveTo>
                  <a:pt x="0" y="0"/>
                </a:moveTo>
                <a:lnTo>
                  <a:pt x="660958" y="0"/>
                </a:lnTo>
                <a:lnTo>
                  <a:pt x="660958" y="232229"/>
                </a:lnTo>
                <a:lnTo>
                  <a:pt x="0" y="232229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cap="flat" cmpd="sng" w="254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11"/>
          <p:cNvSpPr/>
          <p:nvPr/>
        </p:nvSpPr>
        <p:spPr>
          <a:xfrm>
            <a:off x="7384868" y="3492360"/>
            <a:ext cx="696686" cy="2143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5725" lIns="71450" spcFirstLastPara="1" rIns="71450" wrap="square" tIns="35725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44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Always on</a:t>
            </a:r>
            <a:endParaRPr b="0" i="0" sz="1600" u="none" cap="none" strike="noStrike"/>
          </a:p>
        </p:txBody>
      </p:sp>
      <p:sp>
        <p:nvSpPr>
          <p:cNvPr id="230" name="Google Shape;230;p11"/>
          <p:cNvSpPr/>
          <p:nvPr/>
        </p:nvSpPr>
        <p:spPr>
          <a:xfrm>
            <a:off x="9301052" y="2934119"/>
            <a:ext cx="214365" cy="214365"/>
          </a:xfrm>
          <a:custGeom>
            <a:rect b="b" l="l" r="r" t="t"/>
            <a:pathLst>
              <a:path extrusionOk="0" h="214365" w="214365">
                <a:moveTo>
                  <a:pt x="210429" y="116645"/>
                </a:moveTo>
                <a:cubicBezTo>
                  <a:pt x="215663" y="111411"/>
                  <a:pt x="215663" y="102912"/>
                  <a:pt x="210429" y="97678"/>
                </a:cubicBezTo>
                <a:lnTo>
                  <a:pt x="143440" y="30689"/>
                </a:lnTo>
                <a:cubicBezTo>
                  <a:pt x="138207" y="25456"/>
                  <a:pt x="129707" y="25456"/>
                  <a:pt x="124474" y="30689"/>
                </a:cubicBezTo>
                <a:cubicBezTo>
                  <a:pt x="119240" y="35923"/>
                  <a:pt x="119240" y="44422"/>
                  <a:pt x="124474" y="49656"/>
                </a:cubicBezTo>
                <a:lnTo>
                  <a:pt x="168603" y="93785"/>
                </a:lnTo>
                <a:lnTo>
                  <a:pt x="13398" y="93785"/>
                </a:lnTo>
                <a:cubicBezTo>
                  <a:pt x="5987" y="93785"/>
                  <a:pt x="0" y="99772"/>
                  <a:pt x="0" y="107182"/>
                </a:cubicBezTo>
                <a:cubicBezTo>
                  <a:pt x="0" y="114593"/>
                  <a:pt x="5987" y="120580"/>
                  <a:pt x="13398" y="120580"/>
                </a:cubicBezTo>
                <a:lnTo>
                  <a:pt x="168603" y="120580"/>
                </a:lnTo>
                <a:lnTo>
                  <a:pt x="124474" y="164709"/>
                </a:lnTo>
                <a:cubicBezTo>
                  <a:pt x="119240" y="169943"/>
                  <a:pt x="119240" y="178442"/>
                  <a:pt x="124474" y="183675"/>
                </a:cubicBezTo>
                <a:cubicBezTo>
                  <a:pt x="129707" y="188909"/>
                  <a:pt x="138207" y="188909"/>
                  <a:pt x="143440" y="183675"/>
                </a:cubicBezTo>
                <a:lnTo>
                  <a:pt x="210429" y="116686"/>
                </a:lnTo>
                <a:close/>
              </a:path>
            </a:pathLst>
          </a:custGeom>
          <a:solidFill>
            <a:srgbClr val="2D34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1"/>
          <p:cNvSpPr/>
          <p:nvPr/>
        </p:nvSpPr>
        <p:spPr>
          <a:xfrm>
            <a:off x="10307376" y="2215103"/>
            <a:ext cx="1509486" cy="1652396"/>
          </a:xfrm>
          <a:custGeom>
            <a:rect b="b" l="l" r="r" t="t"/>
            <a:pathLst>
              <a:path extrusionOk="0" h="1652396" w="1509486">
                <a:moveTo>
                  <a:pt x="0" y="0"/>
                </a:moveTo>
                <a:lnTo>
                  <a:pt x="1509486" y="0"/>
                </a:lnTo>
                <a:lnTo>
                  <a:pt x="1509486" y="1652396"/>
                </a:lnTo>
                <a:lnTo>
                  <a:pt x="0" y="1652396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cap="flat" cmpd="sng" w="508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3591">
              <a:srgbClr val="2D3436"/>
            </a:outerShdw>
          </a:effectLst>
        </p:spPr>
      </p:sp>
      <p:sp>
        <p:nvSpPr>
          <p:cNvPr id="232" name="Google Shape;232;p11"/>
          <p:cNvSpPr/>
          <p:nvPr/>
        </p:nvSpPr>
        <p:spPr>
          <a:xfrm>
            <a:off x="10445820" y="2353547"/>
            <a:ext cx="330479" cy="330479"/>
          </a:xfrm>
          <a:custGeom>
            <a:rect b="b" l="l" r="r" t="t"/>
            <a:pathLst>
              <a:path extrusionOk="0" h="330479" w="330479">
                <a:moveTo>
                  <a:pt x="0" y="0"/>
                </a:moveTo>
                <a:lnTo>
                  <a:pt x="330479" y="0"/>
                </a:lnTo>
                <a:lnTo>
                  <a:pt x="330479" y="330479"/>
                </a:lnTo>
                <a:lnTo>
                  <a:pt x="0" y="33047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flat" cmpd="sng" w="381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3591">
              <a:srgbClr val="2D3436"/>
            </a:outerShdw>
          </a:effectLst>
        </p:spPr>
      </p:sp>
      <p:sp>
        <p:nvSpPr>
          <p:cNvPr id="233" name="Google Shape;233;p11"/>
          <p:cNvSpPr/>
          <p:nvPr/>
        </p:nvSpPr>
        <p:spPr>
          <a:xfrm>
            <a:off x="10568485" y="2393741"/>
            <a:ext cx="169705" cy="2500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66" u="none" cap="none" strike="noStrike">
                <a:solidFill>
                  <a:srgbClr val="4ECDC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 b="0" i="0" sz="1600" u="none" cap="none" strike="noStrike"/>
          </a:p>
        </p:txBody>
      </p:sp>
      <p:sp>
        <p:nvSpPr>
          <p:cNvPr id="234" name="Google Shape;234;p11"/>
          <p:cNvSpPr/>
          <p:nvPr/>
        </p:nvSpPr>
        <p:spPr>
          <a:xfrm>
            <a:off x="10948609" y="2768879"/>
            <a:ext cx="234462" cy="267956"/>
          </a:xfrm>
          <a:custGeom>
            <a:rect b="b" l="l" r="r" t="t"/>
            <a:pathLst>
              <a:path extrusionOk="0" h="267956" w="234462">
                <a:moveTo>
                  <a:pt x="117231" y="0"/>
                </a:moveTo>
                <a:cubicBezTo>
                  <a:pt x="107967" y="0"/>
                  <a:pt x="100484" y="7484"/>
                  <a:pt x="100484" y="16747"/>
                </a:cubicBezTo>
                <a:lnTo>
                  <a:pt x="100484" y="18422"/>
                </a:lnTo>
                <a:cubicBezTo>
                  <a:pt x="62279" y="26168"/>
                  <a:pt x="33495" y="59976"/>
                  <a:pt x="33495" y="100484"/>
                </a:cubicBezTo>
                <a:lnTo>
                  <a:pt x="33495" y="111840"/>
                </a:lnTo>
                <a:cubicBezTo>
                  <a:pt x="33495" y="137013"/>
                  <a:pt x="24912" y="161454"/>
                  <a:pt x="9211" y="181132"/>
                </a:cubicBezTo>
                <a:lnTo>
                  <a:pt x="4082" y="187517"/>
                </a:lnTo>
                <a:cubicBezTo>
                  <a:pt x="1413" y="190814"/>
                  <a:pt x="0" y="194896"/>
                  <a:pt x="0" y="199135"/>
                </a:cubicBezTo>
                <a:cubicBezTo>
                  <a:pt x="0" y="209393"/>
                  <a:pt x="8321" y="217714"/>
                  <a:pt x="18579" y="217714"/>
                </a:cubicBezTo>
                <a:lnTo>
                  <a:pt x="215830" y="217714"/>
                </a:lnTo>
                <a:cubicBezTo>
                  <a:pt x="226088" y="217714"/>
                  <a:pt x="234409" y="209393"/>
                  <a:pt x="234409" y="199135"/>
                </a:cubicBezTo>
                <a:cubicBezTo>
                  <a:pt x="234409" y="194896"/>
                  <a:pt x="232996" y="190814"/>
                  <a:pt x="230327" y="187517"/>
                </a:cubicBezTo>
                <a:lnTo>
                  <a:pt x="225198" y="181132"/>
                </a:lnTo>
                <a:cubicBezTo>
                  <a:pt x="209550" y="161454"/>
                  <a:pt x="200967" y="137013"/>
                  <a:pt x="200967" y="111840"/>
                </a:cubicBezTo>
                <a:lnTo>
                  <a:pt x="200967" y="100484"/>
                </a:lnTo>
                <a:cubicBezTo>
                  <a:pt x="200967" y="59976"/>
                  <a:pt x="172183" y="26168"/>
                  <a:pt x="133978" y="18422"/>
                </a:cubicBezTo>
                <a:lnTo>
                  <a:pt x="133978" y="16747"/>
                </a:lnTo>
                <a:cubicBezTo>
                  <a:pt x="133978" y="7484"/>
                  <a:pt x="126494" y="0"/>
                  <a:pt x="117231" y="0"/>
                </a:cubicBezTo>
                <a:close/>
                <a:moveTo>
                  <a:pt x="84783" y="242835"/>
                </a:moveTo>
                <a:cubicBezTo>
                  <a:pt x="88499" y="257280"/>
                  <a:pt x="101635" y="267956"/>
                  <a:pt x="117231" y="267956"/>
                </a:cubicBezTo>
                <a:cubicBezTo>
                  <a:pt x="132827" y="267956"/>
                  <a:pt x="145963" y="257280"/>
                  <a:pt x="149679" y="242835"/>
                </a:cubicBezTo>
                <a:lnTo>
                  <a:pt x="84783" y="24283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1"/>
          <p:cNvSpPr/>
          <p:nvPr/>
        </p:nvSpPr>
        <p:spPr>
          <a:xfrm>
            <a:off x="10401160" y="3108290"/>
            <a:ext cx="1321916" cy="3126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85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WUR signals PCR: "Wake up!"</a:t>
            </a:r>
            <a:endParaRPr b="0" i="0" sz="1600" u="none" cap="none" strike="noStrike"/>
          </a:p>
        </p:txBody>
      </p:sp>
      <p:sp>
        <p:nvSpPr>
          <p:cNvPr id="236" name="Google Shape;236;p11"/>
          <p:cNvSpPr/>
          <p:nvPr/>
        </p:nvSpPr>
        <p:spPr>
          <a:xfrm>
            <a:off x="10634282" y="3501292"/>
            <a:ext cx="857459" cy="232229"/>
          </a:xfrm>
          <a:custGeom>
            <a:rect b="b" l="l" r="r" t="t"/>
            <a:pathLst>
              <a:path extrusionOk="0" h="232229" w="857459">
                <a:moveTo>
                  <a:pt x="0" y="0"/>
                </a:moveTo>
                <a:lnTo>
                  <a:pt x="857459" y="0"/>
                </a:lnTo>
                <a:lnTo>
                  <a:pt x="857459" y="232229"/>
                </a:lnTo>
                <a:lnTo>
                  <a:pt x="0" y="2322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flat" cmpd="sng" w="254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p11"/>
          <p:cNvSpPr/>
          <p:nvPr/>
        </p:nvSpPr>
        <p:spPr>
          <a:xfrm>
            <a:off x="10598555" y="3492360"/>
            <a:ext cx="893187" cy="2143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5725" lIns="71450" spcFirstLastPara="1" rIns="71450" wrap="square" tIns="35725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44" u="none" cap="none" strike="noStrike">
                <a:solidFill>
                  <a:srgbClr val="4ECDC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Physical signal</a:t>
            </a:r>
            <a:endParaRPr b="0" i="0" sz="1600" u="none" cap="none" strike="noStrike"/>
          </a:p>
        </p:txBody>
      </p:sp>
      <p:sp>
        <p:nvSpPr>
          <p:cNvPr id="238" name="Google Shape;238;p11"/>
          <p:cNvSpPr/>
          <p:nvPr/>
        </p:nvSpPr>
        <p:spPr>
          <a:xfrm>
            <a:off x="3685884" y="4046136"/>
            <a:ext cx="1509486" cy="1652396"/>
          </a:xfrm>
          <a:custGeom>
            <a:rect b="b" l="l" r="r" t="t"/>
            <a:pathLst>
              <a:path extrusionOk="0" h="1652396" w="1509486">
                <a:moveTo>
                  <a:pt x="0" y="0"/>
                </a:moveTo>
                <a:lnTo>
                  <a:pt x="1509486" y="0"/>
                </a:lnTo>
                <a:lnTo>
                  <a:pt x="1509486" y="1652396"/>
                </a:lnTo>
                <a:lnTo>
                  <a:pt x="0" y="165239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flat" cmpd="sng" w="508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3591">
              <a:srgbClr val="2D3436"/>
            </a:outerShdw>
          </a:effectLst>
        </p:spPr>
      </p:sp>
      <p:sp>
        <p:nvSpPr>
          <p:cNvPr id="239" name="Google Shape;239;p11"/>
          <p:cNvSpPr/>
          <p:nvPr/>
        </p:nvSpPr>
        <p:spPr>
          <a:xfrm>
            <a:off x="3824328" y="4184580"/>
            <a:ext cx="330479" cy="330479"/>
          </a:xfrm>
          <a:custGeom>
            <a:rect b="b" l="l" r="r" t="t"/>
            <a:pathLst>
              <a:path extrusionOk="0" h="330479" w="330479">
                <a:moveTo>
                  <a:pt x="0" y="0"/>
                </a:moveTo>
                <a:lnTo>
                  <a:pt x="330479" y="0"/>
                </a:lnTo>
                <a:lnTo>
                  <a:pt x="330479" y="330479"/>
                </a:lnTo>
                <a:lnTo>
                  <a:pt x="0" y="330479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cap="flat" cmpd="sng" w="381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3591">
              <a:srgbClr val="2D3436"/>
            </a:outerShdw>
          </a:effectLst>
        </p:spPr>
      </p:sp>
      <p:sp>
        <p:nvSpPr>
          <p:cNvPr id="240" name="Google Shape;240;p11"/>
          <p:cNvSpPr/>
          <p:nvPr/>
        </p:nvSpPr>
        <p:spPr>
          <a:xfrm>
            <a:off x="3944611" y="4224774"/>
            <a:ext cx="169705" cy="2500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66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 b="0" i="0" sz="1600" u="none" cap="none" strike="noStrike"/>
          </a:p>
        </p:txBody>
      </p:sp>
      <p:sp>
        <p:nvSpPr>
          <p:cNvPr id="241" name="Google Shape;241;p11"/>
          <p:cNvSpPr/>
          <p:nvPr/>
        </p:nvSpPr>
        <p:spPr>
          <a:xfrm>
            <a:off x="4310371" y="4678066"/>
            <a:ext cx="267956" cy="267956"/>
          </a:xfrm>
          <a:custGeom>
            <a:rect b="b" l="l" r="r" t="t"/>
            <a:pathLst>
              <a:path extrusionOk="0" h="267956" w="267956">
                <a:moveTo>
                  <a:pt x="150725" y="0"/>
                </a:moveTo>
                <a:cubicBezTo>
                  <a:pt x="150725" y="-9263"/>
                  <a:pt x="143241" y="-16747"/>
                  <a:pt x="133978" y="-16747"/>
                </a:cubicBezTo>
                <a:cubicBezTo>
                  <a:pt x="124715" y="-16747"/>
                  <a:pt x="117231" y="-9263"/>
                  <a:pt x="117231" y="0"/>
                </a:cubicBezTo>
                <a:lnTo>
                  <a:pt x="117231" y="133978"/>
                </a:lnTo>
                <a:cubicBezTo>
                  <a:pt x="117231" y="143241"/>
                  <a:pt x="124715" y="150725"/>
                  <a:pt x="133978" y="150725"/>
                </a:cubicBezTo>
                <a:cubicBezTo>
                  <a:pt x="143241" y="150725"/>
                  <a:pt x="150725" y="143241"/>
                  <a:pt x="150725" y="133978"/>
                </a:cubicBezTo>
                <a:lnTo>
                  <a:pt x="150725" y="0"/>
                </a:lnTo>
                <a:close/>
                <a:moveTo>
                  <a:pt x="76566" y="51498"/>
                </a:moveTo>
                <a:cubicBezTo>
                  <a:pt x="84155" y="46212"/>
                  <a:pt x="85987" y="35745"/>
                  <a:pt x="80701" y="28156"/>
                </a:cubicBezTo>
                <a:cubicBezTo>
                  <a:pt x="75415" y="20568"/>
                  <a:pt x="64948" y="18736"/>
                  <a:pt x="57359" y="24022"/>
                </a:cubicBezTo>
                <a:cubicBezTo>
                  <a:pt x="22713" y="48201"/>
                  <a:pt x="0" y="88446"/>
                  <a:pt x="0" y="133978"/>
                </a:cubicBezTo>
                <a:cubicBezTo>
                  <a:pt x="0" y="207980"/>
                  <a:pt x="59976" y="267956"/>
                  <a:pt x="133978" y="267956"/>
                </a:cubicBezTo>
                <a:cubicBezTo>
                  <a:pt x="207980" y="267956"/>
                  <a:pt x="267956" y="207980"/>
                  <a:pt x="267956" y="133978"/>
                </a:cubicBezTo>
                <a:cubicBezTo>
                  <a:pt x="267956" y="88446"/>
                  <a:pt x="245243" y="48201"/>
                  <a:pt x="210544" y="24022"/>
                </a:cubicBezTo>
                <a:cubicBezTo>
                  <a:pt x="202956" y="18736"/>
                  <a:pt x="192541" y="20568"/>
                  <a:pt x="187203" y="28156"/>
                </a:cubicBezTo>
                <a:cubicBezTo>
                  <a:pt x="181865" y="35745"/>
                  <a:pt x="183749" y="46160"/>
                  <a:pt x="191337" y="51498"/>
                </a:cubicBezTo>
                <a:cubicBezTo>
                  <a:pt x="217400" y="69710"/>
                  <a:pt x="234409" y="99855"/>
                  <a:pt x="234409" y="133978"/>
                </a:cubicBezTo>
                <a:cubicBezTo>
                  <a:pt x="234409" y="189453"/>
                  <a:pt x="189401" y="234462"/>
                  <a:pt x="133926" y="234462"/>
                </a:cubicBezTo>
                <a:cubicBezTo>
                  <a:pt x="78450" y="234462"/>
                  <a:pt x="33495" y="189453"/>
                  <a:pt x="33495" y="133978"/>
                </a:cubicBezTo>
                <a:cubicBezTo>
                  <a:pt x="33495" y="99855"/>
                  <a:pt x="50503" y="69658"/>
                  <a:pt x="76566" y="51498"/>
                </a:cubicBezTo>
                <a:close/>
              </a:path>
            </a:pathLst>
          </a:custGeom>
          <a:solidFill>
            <a:srgbClr val="FF6B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1"/>
          <p:cNvSpPr/>
          <p:nvPr/>
        </p:nvSpPr>
        <p:spPr>
          <a:xfrm>
            <a:off x="3779669" y="5095631"/>
            <a:ext cx="1321916" cy="16077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85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PCR powers on</a:t>
            </a:r>
            <a:endParaRPr b="0" i="0" sz="1600" u="none" cap="none" strike="noStrike"/>
          </a:p>
        </p:txBody>
      </p:sp>
      <p:sp>
        <p:nvSpPr>
          <p:cNvPr id="243" name="Google Shape;243;p11"/>
          <p:cNvSpPr/>
          <p:nvPr/>
        </p:nvSpPr>
        <p:spPr>
          <a:xfrm>
            <a:off x="4097197" y="5332325"/>
            <a:ext cx="687754" cy="232229"/>
          </a:xfrm>
          <a:custGeom>
            <a:rect b="b" l="l" r="r" t="t"/>
            <a:pathLst>
              <a:path extrusionOk="0" h="232229" w="687754">
                <a:moveTo>
                  <a:pt x="0" y="0"/>
                </a:moveTo>
                <a:lnTo>
                  <a:pt x="687754" y="0"/>
                </a:lnTo>
                <a:lnTo>
                  <a:pt x="687754" y="232229"/>
                </a:lnTo>
                <a:lnTo>
                  <a:pt x="0" y="232229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cap="flat" cmpd="sng" w="254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p11"/>
          <p:cNvSpPr/>
          <p:nvPr/>
        </p:nvSpPr>
        <p:spPr>
          <a:xfrm>
            <a:off x="4061469" y="5323393"/>
            <a:ext cx="723481" cy="2143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5725" lIns="71450" spcFirstLastPara="1" rIns="71450" wrap="square" tIns="35725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44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"I'm ready"</a:t>
            </a:r>
            <a:endParaRPr b="0" i="0" sz="1600" u="none" cap="none" strike="noStrike"/>
          </a:p>
        </p:txBody>
      </p:sp>
      <p:sp>
        <p:nvSpPr>
          <p:cNvPr id="245" name="Google Shape;245;p11"/>
          <p:cNvSpPr/>
          <p:nvPr/>
        </p:nvSpPr>
        <p:spPr>
          <a:xfrm>
            <a:off x="5990306" y="4765152"/>
            <a:ext cx="214365" cy="214365"/>
          </a:xfrm>
          <a:custGeom>
            <a:rect b="b" l="l" r="r" t="t"/>
            <a:pathLst>
              <a:path extrusionOk="0" h="214365" w="214365">
                <a:moveTo>
                  <a:pt x="210429" y="116645"/>
                </a:moveTo>
                <a:cubicBezTo>
                  <a:pt x="215663" y="111411"/>
                  <a:pt x="215663" y="102912"/>
                  <a:pt x="210429" y="97678"/>
                </a:cubicBezTo>
                <a:lnTo>
                  <a:pt x="143440" y="30689"/>
                </a:lnTo>
                <a:cubicBezTo>
                  <a:pt x="138207" y="25456"/>
                  <a:pt x="129707" y="25456"/>
                  <a:pt x="124474" y="30689"/>
                </a:cubicBezTo>
                <a:cubicBezTo>
                  <a:pt x="119240" y="35923"/>
                  <a:pt x="119240" y="44422"/>
                  <a:pt x="124474" y="49656"/>
                </a:cubicBezTo>
                <a:lnTo>
                  <a:pt x="168603" y="93785"/>
                </a:lnTo>
                <a:lnTo>
                  <a:pt x="13398" y="93785"/>
                </a:lnTo>
                <a:cubicBezTo>
                  <a:pt x="5987" y="93785"/>
                  <a:pt x="0" y="99772"/>
                  <a:pt x="0" y="107182"/>
                </a:cubicBezTo>
                <a:cubicBezTo>
                  <a:pt x="0" y="114593"/>
                  <a:pt x="5987" y="120580"/>
                  <a:pt x="13398" y="120580"/>
                </a:cubicBezTo>
                <a:lnTo>
                  <a:pt x="168603" y="120580"/>
                </a:lnTo>
                <a:lnTo>
                  <a:pt x="124474" y="164709"/>
                </a:lnTo>
                <a:cubicBezTo>
                  <a:pt x="119240" y="169943"/>
                  <a:pt x="119240" y="178442"/>
                  <a:pt x="124474" y="183675"/>
                </a:cubicBezTo>
                <a:cubicBezTo>
                  <a:pt x="129707" y="188909"/>
                  <a:pt x="138207" y="188909"/>
                  <a:pt x="143440" y="183675"/>
                </a:cubicBezTo>
                <a:lnTo>
                  <a:pt x="210429" y="116686"/>
                </a:lnTo>
                <a:close/>
              </a:path>
            </a:pathLst>
          </a:custGeom>
          <a:solidFill>
            <a:srgbClr val="2D34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1"/>
          <p:cNvSpPr/>
          <p:nvPr/>
        </p:nvSpPr>
        <p:spPr>
          <a:xfrm>
            <a:off x="6996630" y="4046136"/>
            <a:ext cx="1509486" cy="1652396"/>
          </a:xfrm>
          <a:custGeom>
            <a:rect b="b" l="l" r="r" t="t"/>
            <a:pathLst>
              <a:path extrusionOk="0" h="1652396" w="1509486">
                <a:moveTo>
                  <a:pt x="0" y="0"/>
                </a:moveTo>
                <a:lnTo>
                  <a:pt x="1509486" y="0"/>
                </a:lnTo>
                <a:lnTo>
                  <a:pt x="1509486" y="1652396"/>
                </a:lnTo>
                <a:lnTo>
                  <a:pt x="0" y="165239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flat" cmpd="sng" w="508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3591">
              <a:srgbClr val="2D3436"/>
            </a:outerShdw>
          </a:effectLst>
        </p:spPr>
      </p:sp>
      <p:sp>
        <p:nvSpPr>
          <p:cNvPr id="247" name="Google Shape;247;p11"/>
          <p:cNvSpPr/>
          <p:nvPr/>
        </p:nvSpPr>
        <p:spPr>
          <a:xfrm>
            <a:off x="7135074" y="4184580"/>
            <a:ext cx="330479" cy="330479"/>
          </a:xfrm>
          <a:custGeom>
            <a:rect b="b" l="l" r="r" t="t"/>
            <a:pathLst>
              <a:path extrusionOk="0" h="330479" w="330479">
                <a:moveTo>
                  <a:pt x="0" y="0"/>
                </a:moveTo>
                <a:lnTo>
                  <a:pt x="330479" y="0"/>
                </a:lnTo>
                <a:lnTo>
                  <a:pt x="330479" y="330479"/>
                </a:lnTo>
                <a:lnTo>
                  <a:pt x="0" y="330479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cap="flat" cmpd="sng" w="381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3591">
              <a:srgbClr val="2D3436"/>
            </a:outerShdw>
          </a:effectLst>
        </p:spPr>
      </p:sp>
      <p:sp>
        <p:nvSpPr>
          <p:cNvPr id="248" name="Google Shape;248;p11"/>
          <p:cNvSpPr/>
          <p:nvPr/>
        </p:nvSpPr>
        <p:spPr>
          <a:xfrm>
            <a:off x="7254315" y="4224774"/>
            <a:ext cx="169705" cy="2500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66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</a:t>
            </a:r>
            <a:endParaRPr b="0" i="0" sz="1600" u="none" cap="none" strike="noStrike"/>
          </a:p>
        </p:txBody>
      </p:sp>
      <p:sp>
        <p:nvSpPr>
          <p:cNvPr id="249" name="Google Shape;249;p11"/>
          <p:cNvSpPr/>
          <p:nvPr/>
        </p:nvSpPr>
        <p:spPr>
          <a:xfrm>
            <a:off x="7637864" y="4678066"/>
            <a:ext cx="234462" cy="267956"/>
          </a:xfrm>
          <a:custGeom>
            <a:rect b="b" l="l" r="r" t="t"/>
            <a:pathLst>
              <a:path extrusionOk="0" h="267956" w="234462">
                <a:moveTo>
                  <a:pt x="133978" y="16747"/>
                </a:moveTo>
                <a:cubicBezTo>
                  <a:pt x="133978" y="7484"/>
                  <a:pt x="126494" y="0"/>
                  <a:pt x="117231" y="0"/>
                </a:cubicBezTo>
                <a:cubicBezTo>
                  <a:pt x="107967" y="0"/>
                  <a:pt x="100484" y="7484"/>
                  <a:pt x="100484" y="16747"/>
                </a:cubicBezTo>
                <a:lnTo>
                  <a:pt x="100484" y="127017"/>
                </a:lnTo>
                <a:lnTo>
                  <a:pt x="78817" y="105351"/>
                </a:lnTo>
                <a:cubicBezTo>
                  <a:pt x="72275" y="98809"/>
                  <a:pt x="61651" y="98809"/>
                  <a:pt x="55109" y="105351"/>
                </a:cubicBezTo>
                <a:cubicBezTo>
                  <a:pt x="48567" y="111893"/>
                  <a:pt x="48567" y="122517"/>
                  <a:pt x="55109" y="129059"/>
                </a:cubicBezTo>
                <a:lnTo>
                  <a:pt x="105351" y="179300"/>
                </a:lnTo>
                <a:cubicBezTo>
                  <a:pt x="111893" y="185842"/>
                  <a:pt x="122517" y="185842"/>
                  <a:pt x="129059" y="179300"/>
                </a:cubicBezTo>
                <a:lnTo>
                  <a:pt x="179300" y="129059"/>
                </a:lnTo>
                <a:cubicBezTo>
                  <a:pt x="185842" y="122517"/>
                  <a:pt x="185842" y="111893"/>
                  <a:pt x="179300" y="105351"/>
                </a:cubicBezTo>
                <a:cubicBezTo>
                  <a:pt x="172758" y="98809"/>
                  <a:pt x="162134" y="98809"/>
                  <a:pt x="155592" y="105351"/>
                </a:cubicBezTo>
                <a:lnTo>
                  <a:pt x="133978" y="127017"/>
                </a:lnTo>
                <a:lnTo>
                  <a:pt x="133978" y="16747"/>
                </a:lnTo>
                <a:close/>
                <a:moveTo>
                  <a:pt x="33495" y="167473"/>
                </a:moveTo>
                <a:cubicBezTo>
                  <a:pt x="15020" y="167473"/>
                  <a:pt x="0" y="182493"/>
                  <a:pt x="0" y="200967"/>
                </a:cubicBezTo>
                <a:lnTo>
                  <a:pt x="0" y="217714"/>
                </a:lnTo>
                <a:cubicBezTo>
                  <a:pt x="0" y="236189"/>
                  <a:pt x="15020" y="251209"/>
                  <a:pt x="33495" y="251209"/>
                </a:cubicBezTo>
                <a:lnTo>
                  <a:pt x="200967" y="251209"/>
                </a:lnTo>
                <a:cubicBezTo>
                  <a:pt x="219441" y="251209"/>
                  <a:pt x="234462" y="236189"/>
                  <a:pt x="234462" y="217714"/>
                </a:cubicBezTo>
                <a:lnTo>
                  <a:pt x="234462" y="200967"/>
                </a:lnTo>
                <a:cubicBezTo>
                  <a:pt x="234462" y="182493"/>
                  <a:pt x="219441" y="167473"/>
                  <a:pt x="200967" y="167473"/>
                </a:cubicBezTo>
                <a:lnTo>
                  <a:pt x="176422" y="167473"/>
                </a:lnTo>
                <a:lnTo>
                  <a:pt x="146800" y="197094"/>
                </a:lnTo>
                <a:cubicBezTo>
                  <a:pt x="130472" y="213423"/>
                  <a:pt x="103938" y="213423"/>
                  <a:pt x="87609" y="197094"/>
                </a:cubicBezTo>
                <a:lnTo>
                  <a:pt x="58040" y="167473"/>
                </a:lnTo>
                <a:lnTo>
                  <a:pt x="33495" y="167473"/>
                </a:lnTo>
                <a:close/>
                <a:moveTo>
                  <a:pt x="192593" y="196780"/>
                </a:moveTo>
                <a:cubicBezTo>
                  <a:pt x="199526" y="196780"/>
                  <a:pt x="205154" y="202408"/>
                  <a:pt x="205154" y="209341"/>
                </a:cubicBezTo>
                <a:cubicBezTo>
                  <a:pt x="205154" y="216273"/>
                  <a:pt x="199526" y="221901"/>
                  <a:pt x="192593" y="221901"/>
                </a:cubicBezTo>
                <a:cubicBezTo>
                  <a:pt x="185661" y="221901"/>
                  <a:pt x="180033" y="216273"/>
                  <a:pt x="180033" y="209341"/>
                </a:cubicBezTo>
                <a:cubicBezTo>
                  <a:pt x="180033" y="202408"/>
                  <a:pt x="185661" y="196780"/>
                  <a:pt x="192593" y="196780"/>
                </a:cubicBezTo>
                <a:close/>
              </a:path>
            </a:pathLst>
          </a:custGeom>
          <a:solidFill>
            <a:srgbClr val="4ECD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1"/>
          <p:cNvSpPr/>
          <p:nvPr/>
        </p:nvSpPr>
        <p:spPr>
          <a:xfrm>
            <a:off x="7090414" y="5095631"/>
            <a:ext cx="1321916" cy="16077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85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 sends data to PCR</a:t>
            </a:r>
            <a:endParaRPr b="0" i="0" sz="1600" u="none" cap="none" strike="noStrike"/>
          </a:p>
        </p:txBody>
      </p:sp>
      <p:sp>
        <p:nvSpPr>
          <p:cNvPr id="251" name="Google Shape;251;p11"/>
          <p:cNvSpPr/>
          <p:nvPr/>
        </p:nvSpPr>
        <p:spPr>
          <a:xfrm>
            <a:off x="7401243" y="5332325"/>
            <a:ext cx="705618" cy="232229"/>
          </a:xfrm>
          <a:custGeom>
            <a:rect b="b" l="l" r="r" t="t"/>
            <a:pathLst>
              <a:path extrusionOk="0" h="232229" w="705618">
                <a:moveTo>
                  <a:pt x="0" y="0"/>
                </a:moveTo>
                <a:lnTo>
                  <a:pt x="705618" y="0"/>
                </a:lnTo>
                <a:lnTo>
                  <a:pt x="705618" y="232229"/>
                </a:lnTo>
                <a:lnTo>
                  <a:pt x="0" y="232229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cap="flat" cmpd="sng" w="254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11"/>
          <p:cNvSpPr/>
          <p:nvPr/>
        </p:nvSpPr>
        <p:spPr>
          <a:xfrm>
            <a:off x="7365516" y="5323393"/>
            <a:ext cx="741345" cy="2143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5725" lIns="71450" spcFirstLastPara="1" rIns="71450" wrap="square" tIns="35725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44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High speed</a:t>
            </a:r>
            <a:endParaRPr b="0" i="0" sz="1600" u="none" cap="none" strike="noStrike"/>
          </a:p>
        </p:txBody>
      </p:sp>
      <p:sp>
        <p:nvSpPr>
          <p:cNvPr id="253" name="Google Shape;253;p11"/>
          <p:cNvSpPr/>
          <p:nvPr/>
        </p:nvSpPr>
        <p:spPr>
          <a:xfrm>
            <a:off x="9301052" y="4765152"/>
            <a:ext cx="214365" cy="214365"/>
          </a:xfrm>
          <a:custGeom>
            <a:rect b="b" l="l" r="r" t="t"/>
            <a:pathLst>
              <a:path extrusionOk="0" h="214365" w="214365">
                <a:moveTo>
                  <a:pt x="210429" y="116645"/>
                </a:moveTo>
                <a:cubicBezTo>
                  <a:pt x="215663" y="111411"/>
                  <a:pt x="215663" y="102912"/>
                  <a:pt x="210429" y="97678"/>
                </a:cubicBezTo>
                <a:lnTo>
                  <a:pt x="143440" y="30689"/>
                </a:lnTo>
                <a:cubicBezTo>
                  <a:pt x="138207" y="25456"/>
                  <a:pt x="129707" y="25456"/>
                  <a:pt x="124474" y="30689"/>
                </a:cubicBezTo>
                <a:cubicBezTo>
                  <a:pt x="119240" y="35923"/>
                  <a:pt x="119240" y="44422"/>
                  <a:pt x="124474" y="49656"/>
                </a:cubicBezTo>
                <a:lnTo>
                  <a:pt x="168603" y="93785"/>
                </a:lnTo>
                <a:lnTo>
                  <a:pt x="13398" y="93785"/>
                </a:lnTo>
                <a:cubicBezTo>
                  <a:pt x="5987" y="93785"/>
                  <a:pt x="0" y="99772"/>
                  <a:pt x="0" y="107182"/>
                </a:cubicBezTo>
                <a:cubicBezTo>
                  <a:pt x="0" y="114593"/>
                  <a:pt x="5987" y="120580"/>
                  <a:pt x="13398" y="120580"/>
                </a:cubicBezTo>
                <a:lnTo>
                  <a:pt x="168603" y="120580"/>
                </a:lnTo>
                <a:lnTo>
                  <a:pt x="124474" y="164709"/>
                </a:lnTo>
                <a:cubicBezTo>
                  <a:pt x="119240" y="169943"/>
                  <a:pt x="119240" y="178442"/>
                  <a:pt x="124474" y="183675"/>
                </a:cubicBezTo>
                <a:cubicBezTo>
                  <a:pt x="129707" y="188909"/>
                  <a:pt x="138207" y="188909"/>
                  <a:pt x="143440" y="183675"/>
                </a:cubicBezTo>
                <a:lnTo>
                  <a:pt x="210429" y="116686"/>
                </a:lnTo>
                <a:close/>
              </a:path>
            </a:pathLst>
          </a:custGeom>
          <a:solidFill>
            <a:srgbClr val="2D34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1"/>
          <p:cNvSpPr/>
          <p:nvPr/>
        </p:nvSpPr>
        <p:spPr>
          <a:xfrm>
            <a:off x="10307376" y="4046136"/>
            <a:ext cx="1509486" cy="1652396"/>
          </a:xfrm>
          <a:custGeom>
            <a:rect b="b" l="l" r="r" t="t"/>
            <a:pathLst>
              <a:path extrusionOk="0" h="1652396" w="1509486">
                <a:moveTo>
                  <a:pt x="0" y="0"/>
                </a:moveTo>
                <a:lnTo>
                  <a:pt x="1509486" y="0"/>
                </a:lnTo>
                <a:lnTo>
                  <a:pt x="1509486" y="1652396"/>
                </a:lnTo>
                <a:lnTo>
                  <a:pt x="0" y="1652396"/>
                </a:lnTo>
                <a:lnTo>
                  <a:pt x="0" y="0"/>
                </a:lnTo>
                <a:close/>
              </a:path>
            </a:pathLst>
          </a:custGeom>
          <a:solidFill>
            <a:srgbClr val="2D3436"/>
          </a:solidFill>
          <a:ln cap="flat" cmpd="sng" w="50800">
            <a:solidFill>
              <a:srgbClr val="FFE66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3591">
              <a:srgbClr val="2D3436"/>
            </a:outerShdw>
          </a:effectLst>
        </p:spPr>
      </p:sp>
      <p:sp>
        <p:nvSpPr>
          <p:cNvPr id="255" name="Google Shape;255;p11"/>
          <p:cNvSpPr/>
          <p:nvPr/>
        </p:nvSpPr>
        <p:spPr>
          <a:xfrm>
            <a:off x="10445820" y="4184580"/>
            <a:ext cx="330479" cy="330479"/>
          </a:xfrm>
          <a:custGeom>
            <a:rect b="b" l="l" r="r" t="t"/>
            <a:pathLst>
              <a:path extrusionOk="0" h="330479" w="330479">
                <a:moveTo>
                  <a:pt x="0" y="0"/>
                </a:moveTo>
                <a:lnTo>
                  <a:pt x="330479" y="0"/>
                </a:lnTo>
                <a:lnTo>
                  <a:pt x="330479" y="330479"/>
                </a:lnTo>
                <a:lnTo>
                  <a:pt x="0" y="330479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3591">
              <a:srgbClr val="2D3436"/>
            </a:outerShdw>
          </a:effectLst>
        </p:spPr>
      </p:sp>
      <p:sp>
        <p:nvSpPr>
          <p:cNvPr id="256" name="Google Shape;256;p11"/>
          <p:cNvSpPr/>
          <p:nvPr/>
        </p:nvSpPr>
        <p:spPr>
          <a:xfrm>
            <a:off x="10572652" y="4224774"/>
            <a:ext cx="160774" cy="2500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66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</a:t>
            </a:r>
            <a:endParaRPr b="0" i="0" sz="1600" u="none" cap="none" strike="noStrike"/>
          </a:p>
        </p:txBody>
      </p:sp>
      <p:sp>
        <p:nvSpPr>
          <p:cNvPr id="257" name="Google Shape;257;p11"/>
          <p:cNvSpPr/>
          <p:nvPr/>
        </p:nvSpPr>
        <p:spPr>
          <a:xfrm>
            <a:off x="10915115" y="4599912"/>
            <a:ext cx="301451" cy="267956"/>
          </a:xfrm>
          <a:custGeom>
            <a:rect b="b" l="l" r="r" t="t"/>
            <a:pathLst>
              <a:path extrusionOk="0" h="267956" w="301451">
                <a:moveTo>
                  <a:pt x="16747" y="16747"/>
                </a:moveTo>
                <a:cubicBezTo>
                  <a:pt x="26011" y="16747"/>
                  <a:pt x="33495" y="24231"/>
                  <a:pt x="33495" y="33495"/>
                </a:cubicBezTo>
                <a:lnTo>
                  <a:pt x="33495" y="150725"/>
                </a:lnTo>
                <a:lnTo>
                  <a:pt x="150725" y="150725"/>
                </a:lnTo>
                <a:lnTo>
                  <a:pt x="150725" y="83736"/>
                </a:lnTo>
                <a:cubicBezTo>
                  <a:pt x="150725" y="74473"/>
                  <a:pt x="158209" y="66989"/>
                  <a:pt x="167473" y="66989"/>
                </a:cubicBezTo>
                <a:lnTo>
                  <a:pt x="251209" y="66989"/>
                </a:lnTo>
                <a:cubicBezTo>
                  <a:pt x="278946" y="66989"/>
                  <a:pt x="301451" y="89493"/>
                  <a:pt x="301451" y="117231"/>
                </a:cubicBezTo>
                <a:lnTo>
                  <a:pt x="301451" y="234462"/>
                </a:lnTo>
                <a:cubicBezTo>
                  <a:pt x="301451" y="243725"/>
                  <a:pt x="293967" y="251209"/>
                  <a:pt x="284703" y="251209"/>
                </a:cubicBezTo>
                <a:cubicBezTo>
                  <a:pt x="275440" y="251209"/>
                  <a:pt x="267956" y="243725"/>
                  <a:pt x="267956" y="234462"/>
                </a:cubicBezTo>
                <a:lnTo>
                  <a:pt x="267956" y="200967"/>
                </a:lnTo>
                <a:lnTo>
                  <a:pt x="33495" y="200967"/>
                </a:lnTo>
                <a:lnTo>
                  <a:pt x="33495" y="234462"/>
                </a:lnTo>
                <a:cubicBezTo>
                  <a:pt x="33495" y="243725"/>
                  <a:pt x="26011" y="251209"/>
                  <a:pt x="16747" y="251209"/>
                </a:cubicBezTo>
                <a:cubicBezTo>
                  <a:pt x="7484" y="251209"/>
                  <a:pt x="0" y="243725"/>
                  <a:pt x="0" y="234462"/>
                </a:cubicBezTo>
                <a:lnTo>
                  <a:pt x="0" y="33495"/>
                </a:lnTo>
                <a:cubicBezTo>
                  <a:pt x="0" y="24231"/>
                  <a:pt x="7484" y="16747"/>
                  <a:pt x="16747" y="16747"/>
                </a:cubicBezTo>
                <a:close/>
                <a:moveTo>
                  <a:pt x="58615" y="100484"/>
                </a:moveTo>
                <a:cubicBezTo>
                  <a:pt x="58615" y="81997"/>
                  <a:pt x="73624" y="66989"/>
                  <a:pt x="92110" y="66989"/>
                </a:cubicBezTo>
                <a:cubicBezTo>
                  <a:pt x="110596" y="66989"/>
                  <a:pt x="125604" y="81997"/>
                  <a:pt x="125604" y="100484"/>
                </a:cubicBezTo>
                <a:cubicBezTo>
                  <a:pt x="125604" y="118970"/>
                  <a:pt x="110596" y="133978"/>
                  <a:pt x="92110" y="133978"/>
                </a:cubicBezTo>
                <a:cubicBezTo>
                  <a:pt x="73624" y="133978"/>
                  <a:pt x="58615" y="118970"/>
                  <a:pt x="58615" y="100484"/>
                </a:cubicBezTo>
                <a:close/>
              </a:path>
            </a:pathLst>
          </a:custGeom>
          <a:solidFill>
            <a:srgbClr val="FFE66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1"/>
          <p:cNvSpPr/>
          <p:nvPr/>
        </p:nvSpPr>
        <p:spPr>
          <a:xfrm>
            <a:off x="10401160" y="4939323"/>
            <a:ext cx="1321916" cy="3126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85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PCR goes back to sleep</a:t>
            </a:r>
            <a:endParaRPr b="0" i="0" sz="1600" u="none" cap="none" strike="noStrike"/>
          </a:p>
        </p:txBody>
      </p:sp>
      <p:sp>
        <p:nvSpPr>
          <p:cNvPr id="259" name="Google Shape;259;p11"/>
          <p:cNvSpPr/>
          <p:nvPr/>
        </p:nvSpPr>
        <p:spPr>
          <a:xfrm>
            <a:off x="10695317" y="5332325"/>
            <a:ext cx="732413" cy="232229"/>
          </a:xfrm>
          <a:custGeom>
            <a:rect b="b" l="l" r="r" t="t"/>
            <a:pathLst>
              <a:path extrusionOk="0" h="232229" w="732413">
                <a:moveTo>
                  <a:pt x="0" y="0"/>
                </a:moveTo>
                <a:lnTo>
                  <a:pt x="732413" y="0"/>
                </a:lnTo>
                <a:lnTo>
                  <a:pt x="732413" y="232229"/>
                </a:lnTo>
                <a:lnTo>
                  <a:pt x="0" y="232229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p11"/>
          <p:cNvSpPr/>
          <p:nvPr/>
        </p:nvSpPr>
        <p:spPr>
          <a:xfrm>
            <a:off x="10659589" y="5323393"/>
            <a:ext cx="768141" cy="2143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5725" lIns="71450" spcFirstLastPara="1" rIns="71450" wrap="square" tIns="35725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44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Save power</a:t>
            </a:r>
            <a:endParaRPr b="0" i="0" sz="1600" u="none" cap="none" strike="noStrike"/>
          </a:p>
        </p:txBody>
      </p:sp>
      <p:sp>
        <p:nvSpPr>
          <p:cNvPr id="261" name="Google Shape;261;p11"/>
          <p:cNvSpPr/>
          <p:nvPr/>
        </p:nvSpPr>
        <p:spPr>
          <a:xfrm>
            <a:off x="375138" y="5912897"/>
            <a:ext cx="11441723" cy="571640"/>
          </a:xfrm>
          <a:custGeom>
            <a:rect b="b" l="l" r="r" t="t"/>
            <a:pathLst>
              <a:path extrusionOk="0" h="571640" w="11441723">
                <a:moveTo>
                  <a:pt x="0" y="0"/>
                </a:moveTo>
                <a:lnTo>
                  <a:pt x="11441723" y="0"/>
                </a:lnTo>
                <a:lnTo>
                  <a:pt x="11441723" y="571640"/>
                </a:lnTo>
                <a:lnTo>
                  <a:pt x="0" y="571640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cap="flat" cmpd="sng" w="508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3591">
              <a:srgbClr val="2D3436"/>
            </a:outerShdw>
          </a:effectLst>
        </p:spPr>
      </p:sp>
      <p:sp>
        <p:nvSpPr>
          <p:cNvPr id="262" name="Google Shape;262;p11"/>
          <p:cNvSpPr/>
          <p:nvPr/>
        </p:nvSpPr>
        <p:spPr>
          <a:xfrm>
            <a:off x="2762329" y="6109398"/>
            <a:ext cx="120580" cy="160774"/>
          </a:xfrm>
          <a:custGeom>
            <a:rect b="b" l="l" r="r" t="t"/>
            <a:pathLst>
              <a:path extrusionOk="0" h="160774" w="120580">
                <a:moveTo>
                  <a:pt x="91974" y="120580"/>
                </a:moveTo>
                <a:cubicBezTo>
                  <a:pt x="94266" y="113578"/>
                  <a:pt x="98851" y="107235"/>
                  <a:pt x="104032" y="101771"/>
                </a:cubicBezTo>
                <a:cubicBezTo>
                  <a:pt x="114300" y="90969"/>
                  <a:pt x="120580" y="76367"/>
                  <a:pt x="120580" y="60290"/>
                </a:cubicBezTo>
                <a:cubicBezTo>
                  <a:pt x="120580" y="27005"/>
                  <a:pt x="93575" y="0"/>
                  <a:pt x="60290" y="0"/>
                </a:cubicBezTo>
                <a:cubicBezTo>
                  <a:pt x="27005" y="0"/>
                  <a:pt x="0" y="27005"/>
                  <a:pt x="0" y="60290"/>
                </a:cubicBezTo>
                <a:cubicBezTo>
                  <a:pt x="0" y="76367"/>
                  <a:pt x="6280" y="90969"/>
                  <a:pt x="16548" y="101771"/>
                </a:cubicBezTo>
                <a:cubicBezTo>
                  <a:pt x="21730" y="107235"/>
                  <a:pt x="26346" y="113578"/>
                  <a:pt x="28606" y="120580"/>
                </a:cubicBezTo>
                <a:lnTo>
                  <a:pt x="91942" y="120580"/>
                </a:lnTo>
                <a:close/>
                <a:moveTo>
                  <a:pt x="90435" y="135653"/>
                </a:moveTo>
                <a:lnTo>
                  <a:pt x="30145" y="135653"/>
                </a:lnTo>
                <a:lnTo>
                  <a:pt x="30145" y="140677"/>
                </a:lnTo>
                <a:cubicBezTo>
                  <a:pt x="30145" y="154556"/>
                  <a:pt x="41387" y="165798"/>
                  <a:pt x="55266" y="165798"/>
                </a:cubicBezTo>
                <a:lnTo>
                  <a:pt x="65314" y="165798"/>
                </a:lnTo>
                <a:cubicBezTo>
                  <a:pt x="79194" y="165798"/>
                  <a:pt x="90435" y="154556"/>
                  <a:pt x="90435" y="140677"/>
                </a:cubicBezTo>
                <a:lnTo>
                  <a:pt x="90435" y="135653"/>
                </a:lnTo>
                <a:close/>
                <a:moveTo>
                  <a:pt x="57778" y="35169"/>
                </a:moveTo>
                <a:cubicBezTo>
                  <a:pt x="45280" y="35169"/>
                  <a:pt x="35169" y="45280"/>
                  <a:pt x="35169" y="57778"/>
                </a:cubicBezTo>
                <a:cubicBezTo>
                  <a:pt x="35169" y="61954"/>
                  <a:pt x="31809" y="65314"/>
                  <a:pt x="27633" y="65314"/>
                </a:cubicBezTo>
                <a:cubicBezTo>
                  <a:pt x="23457" y="65314"/>
                  <a:pt x="20097" y="61954"/>
                  <a:pt x="20097" y="57778"/>
                </a:cubicBezTo>
                <a:cubicBezTo>
                  <a:pt x="20097" y="36959"/>
                  <a:pt x="36959" y="20097"/>
                  <a:pt x="57778" y="20097"/>
                </a:cubicBezTo>
                <a:cubicBezTo>
                  <a:pt x="61954" y="20097"/>
                  <a:pt x="65314" y="23457"/>
                  <a:pt x="65314" y="27633"/>
                </a:cubicBezTo>
                <a:cubicBezTo>
                  <a:pt x="65314" y="31809"/>
                  <a:pt x="61954" y="35169"/>
                  <a:pt x="57778" y="35169"/>
                </a:cubicBezTo>
                <a:close/>
              </a:path>
            </a:pathLst>
          </a:custGeom>
          <a:solidFill>
            <a:srgbClr val="2D34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1"/>
          <p:cNvSpPr/>
          <p:nvPr/>
        </p:nvSpPr>
        <p:spPr>
          <a:xfrm>
            <a:off x="751406" y="6073670"/>
            <a:ext cx="10944876" cy="2500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66" u="none" cap="none" strike="noStrike">
                <a:solidFill>
                  <a:srgbClr val="2D3436"/>
                </a:solidFill>
                <a:latin typeface="Coda"/>
                <a:ea typeface="Coda"/>
                <a:cs typeface="Coda"/>
                <a:sym typeface="Coda"/>
              </a:rPr>
              <a:t>The PCR only consumes power when actively transmitting data—otherwise, it's asleep!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5F5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2"/>
          <p:cNvSpPr/>
          <p:nvPr/>
        </p:nvSpPr>
        <p:spPr>
          <a:xfrm>
            <a:off x="0" y="0"/>
            <a:ext cx="4762500" cy="6858000"/>
          </a:xfrm>
          <a:custGeom>
            <a:rect b="b" l="l" r="r" t="t"/>
            <a:pathLst>
              <a:path extrusionOk="0" h="6858000" w="4762500">
                <a:moveTo>
                  <a:pt x="0" y="0"/>
                </a:moveTo>
                <a:lnTo>
                  <a:pt x="4762500" y="0"/>
                </a:lnTo>
                <a:lnTo>
                  <a:pt x="47625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>
              <a:alpha val="90196"/>
            </a:srgbClr>
          </a:solidFill>
          <a:ln>
            <a:noFill/>
          </a:ln>
        </p:spPr>
      </p:sp>
      <p:sp>
        <p:nvSpPr>
          <p:cNvPr id="270" name="Google Shape;270;p12"/>
          <p:cNvSpPr/>
          <p:nvPr/>
        </p:nvSpPr>
        <p:spPr>
          <a:xfrm rot="-720000">
            <a:off x="695960" y="1153162"/>
            <a:ext cx="876300" cy="876300"/>
          </a:xfrm>
          <a:custGeom>
            <a:rect b="b" l="l" r="r" t="t"/>
            <a:pathLst>
              <a:path extrusionOk="0" h="876300" w="876300">
                <a:moveTo>
                  <a:pt x="0" y="0"/>
                </a:moveTo>
                <a:lnTo>
                  <a:pt x="876300" y="0"/>
                </a:lnTo>
                <a:lnTo>
                  <a:pt x="876300" y="876300"/>
                </a:ln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flat" cmpd="sng" w="508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7150">
              <a:srgbClr val="2D3436"/>
            </a:outerShdw>
          </a:effectLst>
        </p:spPr>
      </p:sp>
      <p:sp>
        <p:nvSpPr>
          <p:cNvPr id="271" name="Google Shape;271;p12"/>
          <p:cNvSpPr/>
          <p:nvPr/>
        </p:nvSpPr>
        <p:spPr>
          <a:xfrm rot="720000">
            <a:off x="1486376" y="4686774"/>
            <a:ext cx="571500" cy="571500"/>
          </a:xfrm>
          <a:custGeom>
            <a:rect b="b" l="l" r="r" t="t"/>
            <a:pathLst>
              <a:path extrusionOk="0" h="571500" w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cap="flat" cmpd="sng" w="508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7150">
              <a:srgbClr val="2D3436"/>
            </a:outerShdw>
          </a:effectLst>
        </p:spPr>
      </p:sp>
      <p:sp>
        <p:nvSpPr>
          <p:cNvPr id="272" name="Google Shape;272;p12"/>
          <p:cNvSpPr/>
          <p:nvPr/>
        </p:nvSpPr>
        <p:spPr>
          <a:xfrm rot="-2700000">
            <a:off x="2147253" y="3290250"/>
            <a:ext cx="723900" cy="723900"/>
          </a:xfrm>
          <a:custGeom>
            <a:rect b="b" l="l" r="r" t="t"/>
            <a:pathLst>
              <a:path extrusionOk="0" h="723900" w="723900">
                <a:moveTo>
                  <a:pt x="0" y="0"/>
                </a:moveTo>
                <a:lnTo>
                  <a:pt x="723900" y="0"/>
                </a:lnTo>
                <a:lnTo>
                  <a:pt x="723900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cap="flat" cmpd="sng" w="508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7150">
              <a:srgbClr val="2D3436"/>
            </a:outerShdw>
          </a:effectLst>
        </p:spPr>
      </p:sp>
      <p:sp>
        <p:nvSpPr>
          <p:cNvPr id="273" name="Google Shape;273;p12"/>
          <p:cNvSpPr/>
          <p:nvPr/>
        </p:nvSpPr>
        <p:spPr>
          <a:xfrm rot="-720000">
            <a:off x="9778524" y="634524"/>
            <a:ext cx="1495425" cy="1495425"/>
          </a:xfrm>
          <a:custGeom>
            <a:rect b="b" l="l" r="r" t="t"/>
            <a:pathLst>
              <a:path extrusionOk="0" h="1495425" w="1495425">
                <a:moveTo>
                  <a:pt x="0" y="0"/>
                </a:moveTo>
                <a:lnTo>
                  <a:pt x="1495425" y="0"/>
                </a:lnTo>
                <a:lnTo>
                  <a:pt x="1495425" y="1495425"/>
                </a:lnTo>
                <a:lnTo>
                  <a:pt x="0" y="1495425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cap="flat" cmpd="sng" w="381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7150">
              <a:srgbClr val="2D3436"/>
            </a:outerShdw>
          </a:effectLst>
        </p:spPr>
      </p:sp>
      <p:sp>
        <p:nvSpPr>
          <p:cNvPr id="274" name="Google Shape;274;p12"/>
          <p:cNvSpPr/>
          <p:nvPr/>
        </p:nvSpPr>
        <p:spPr>
          <a:xfrm rot="-2700000">
            <a:off x="8664099" y="1348899"/>
            <a:ext cx="885825" cy="885825"/>
          </a:xfrm>
          <a:custGeom>
            <a:rect b="b" l="l" r="r" t="t"/>
            <a:pathLst>
              <a:path extrusionOk="0" h="885825" w="885825">
                <a:moveTo>
                  <a:pt x="0" y="0"/>
                </a:moveTo>
                <a:lnTo>
                  <a:pt x="885825" y="0"/>
                </a:lnTo>
                <a:lnTo>
                  <a:pt x="885825" y="885825"/>
                </a:lnTo>
                <a:lnTo>
                  <a:pt x="0" y="8858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flat" cmpd="sng" w="381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7150">
              <a:srgbClr val="2D3436"/>
            </a:outerShdw>
          </a:effectLst>
        </p:spPr>
      </p:sp>
      <p:sp>
        <p:nvSpPr>
          <p:cNvPr id="275" name="Google Shape;275;p12"/>
          <p:cNvSpPr/>
          <p:nvPr/>
        </p:nvSpPr>
        <p:spPr>
          <a:xfrm>
            <a:off x="9861233" y="1376363"/>
            <a:ext cx="1933575" cy="571500"/>
          </a:xfrm>
          <a:custGeom>
            <a:rect b="b" l="l" r="r" t="t"/>
            <a:pathLst>
              <a:path extrusionOk="0" h="571500" w="1933575">
                <a:moveTo>
                  <a:pt x="0" y="0"/>
                </a:moveTo>
                <a:lnTo>
                  <a:pt x="1933575" y="0"/>
                </a:lnTo>
                <a:lnTo>
                  <a:pt x="193357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2D3436"/>
          </a:solidFill>
          <a:ln cap="flat" cmpd="sng" w="5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7150">
              <a:srgbClr val="2D3436"/>
            </a:outerShdw>
          </a:effectLst>
        </p:spPr>
      </p:sp>
      <p:sp>
        <p:nvSpPr>
          <p:cNvPr id="276" name="Google Shape;276;p12"/>
          <p:cNvSpPr/>
          <p:nvPr/>
        </p:nvSpPr>
        <p:spPr>
          <a:xfrm>
            <a:off x="9994583" y="1528763"/>
            <a:ext cx="1549717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CHAPTER 02</a:t>
            </a:r>
            <a:endParaRPr b="0" i="0" sz="1600" u="none" cap="none" strike="noStrike"/>
          </a:p>
        </p:txBody>
      </p:sp>
      <p:sp>
        <p:nvSpPr>
          <p:cNvPr id="277" name="Google Shape;277;p12"/>
          <p:cNvSpPr/>
          <p:nvPr/>
        </p:nvSpPr>
        <p:spPr>
          <a:xfrm>
            <a:off x="5930900" y="2838451"/>
            <a:ext cx="58770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2D3436"/>
                </a:solidFill>
                <a:latin typeface="Coda"/>
                <a:ea typeface="Coda"/>
                <a:cs typeface="Coda"/>
                <a:sym typeface="Coda"/>
              </a:rPr>
              <a:t>IEEE 802.11ba</a:t>
            </a:r>
            <a:endParaRPr b="0" i="0" sz="1600" u="none" cap="none" strike="noStrike"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2D3436"/>
                </a:solidFill>
                <a:latin typeface="Coda"/>
                <a:ea typeface="Coda"/>
                <a:cs typeface="Coda"/>
                <a:sym typeface="Coda"/>
              </a:rPr>
              <a:t>Standard</a:t>
            </a:r>
            <a:endParaRPr b="0" i="0" sz="1600" u="none" cap="none" strike="noStrike"/>
          </a:p>
        </p:txBody>
      </p:sp>
      <p:sp>
        <p:nvSpPr>
          <p:cNvPr id="278" name="Google Shape;278;p12"/>
          <p:cNvSpPr/>
          <p:nvPr/>
        </p:nvSpPr>
        <p:spPr>
          <a:xfrm>
            <a:off x="6102350" y="4698207"/>
            <a:ext cx="5705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6B6B"/>
                </a:solidFill>
                <a:latin typeface="Coda"/>
                <a:ea typeface="Coda"/>
                <a:cs typeface="Coda"/>
                <a:sym typeface="Coda"/>
              </a:rPr>
              <a:t>Technical Implementation</a:t>
            </a:r>
            <a:endParaRPr b="0" i="0" sz="1600" u="none" cap="none" strike="noStrike"/>
          </a:p>
        </p:txBody>
      </p:sp>
      <p:sp>
        <p:nvSpPr>
          <p:cNvPr id="279" name="Google Shape;279;p12"/>
          <p:cNvSpPr/>
          <p:nvPr/>
        </p:nvSpPr>
        <p:spPr>
          <a:xfrm>
            <a:off x="10601325" y="5286376"/>
            <a:ext cx="1200150" cy="57150"/>
          </a:xfrm>
          <a:custGeom>
            <a:rect b="b" l="l" r="r" t="t"/>
            <a:pathLst>
              <a:path extrusionOk="0" h="57150" w="1200150">
                <a:moveTo>
                  <a:pt x="0" y="0"/>
                </a:moveTo>
                <a:lnTo>
                  <a:pt x="1200150" y="0"/>
                </a:lnTo>
                <a:lnTo>
                  <a:pt x="120015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cap="flat" cmpd="sng" w="254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5F5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3"/>
          <p:cNvSpPr/>
          <p:nvPr/>
        </p:nvSpPr>
        <p:spPr>
          <a:xfrm rot="720000">
            <a:off x="10917050" y="139588"/>
            <a:ext cx="783591" cy="783591"/>
          </a:xfrm>
          <a:custGeom>
            <a:rect b="b" l="l" r="r" t="t"/>
            <a:pathLst>
              <a:path extrusionOk="0" h="783591" w="783591">
                <a:moveTo>
                  <a:pt x="0" y="0"/>
                </a:moveTo>
                <a:lnTo>
                  <a:pt x="783591" y="0"/>
                </a:lnTo>
                <a:lnTo>
                  <a:pt x="783591" y="783591"/>
                </a:lnTo>
                <a:lnTo>
                  <a:pt x="0" y="783591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cap="flat" cmpd="sng" w="381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0554">
              <a:srgbClr val="2D3436"/>
            </a:outerShdw>
          </a:effectLst>
        </p:spPr>
      </p:sp>
      <p:sp>
        <p:nvSpPr>
          <p:cNvPr id="286" name="Google Shape;286;p13"/>
          <p:cNvSpPr/>
          <p:nvPr/>
        </p:nvSpPr>
        <p:spPr>
          <a:xfrm rot="-719078">
            <a:off x="10390192" y="5904809"/>
            <a:ext cx="648314" cy="648314"/>
          </a:xfrm>
          <a:custGeom>
            <a:rect b="b" l="l" r="r" t="t"/>
            <a:pathLst>
              <a:path extrusionOk="0" h="648780" w="648780">
                <a:moveTo>
                  <a:pt x="0" y="0"/>
                </a:moveTo>
                <a:lnTo>
                  <a:pt x="648780" y="0"/>
                </a:lnTo>
                <a:lnTo>
                  <a:pt x="648780" y="648780"/>
                </a:lnTo>
                <a:lnTo>
                  <a:pt x="0" y="648780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cap="flat" cmpd="sng" w="381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0554">
              <a:srgbClr val="2D3436"/>
            </a:outerShdw>
          </a:effectLst>
        </p:spPr>
      </p:sp>
      <p:sp>
        <p:nvSpPr>
          <p:cNvPr id="287" name="Google Shape;287;p13"/>
          <p:cNvSpPr/>
          <p:nvPr/>
        </p:nvSpPr>
        <p:spPr>
          <a:xfrm>
            <a:off x="349667" y="349667"/>
            <a:ext cx="1525053" cy="362305"/>
          </a:xfrm>
          <a:custGeom>
            <a:rect b="b" l="l" r="r" t="t"/>
            <a:pathLst>
              <a:path extrusionOk="0" h="362305" w="1525053">
                <a:moveTo>
                  <a:pt x="0" y="0"/>
                </a:moveTo>
                <a:lnTo>
                  <a:pt x="1525053" y="0"/>
                </a:lnTo>
                <a:lnTo>
                  <a:pt x="1525053" y="362305"/>
                </a:lnTo>
                <a:lnTo>
                  <a:pt x="0" y="362305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cap="flat" cmpd="sng" w="381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0554">
              <a:srgbClr val="2D3436"/>
            </a:outerShdw>
          </a:effectLst>
        </p:spPr>
      </p:sp>
      <p:sp>
        <p:nvSpPr>
          <p:cNvPr id="288" name="Google Shape;288;p13"/>
          <p:cNvSpPr/>
          <p:nvPr/>
        </p:nvSpPr>
        <p:spPr>
          <a:xfrm>
            <a:off x="497117" y="450775"/>
            <a:ext cx="1296857" cy="160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2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STANDARDIZATION</a:t>
            </a:r>
            <a:endParaRPr b="0" i="0" sz="1600" u="none" cap="none" strike="noStrike"/>
          </a:p>
        </p:txBody>
      </p:sp>
      <p:sp>
        <p:nvSpPr>
          <p:cNvPr id="289" name="Google Shape;289;p13"/>
          <p:cNvSpPr/>
          <p:nvPr/>
        </p:nvSpPr>
        <p:spPr>
          <a:xfrm>
            <a:off x="337028" y="861438"/>
            <a:ext cx="11720100" cy="40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85" u="none" cap="none" strike="noStrike">
                <a:solidFill>
                  <a:srgbClr val="2D3436"/>
                </a:solidFill>
                <a:latin typeface="Coda"/>
                <a:ea typeface="Coda"/>
                <a:cs typeface="Coda"/>
                <a:sym typeface="Coda"/>
              </a:rPr>
              <a:t>IEEE 802.11ba Evolution</a:t>
            </a:r>
            <a:endParaRPr b="0" i="0" sz="1600" u="none" cap="none" strike="noStrike"/>
          </a:p>
        </p:txBody>
      </p:sp>
      <p:sp>
        <p:nvSpPr>
          <p:cNvPr id="290" name="Google Shape;290;p13"/>
          <p:cNvSpPr/>
          <p:nvPr/>
        </p:nvSpPr>
        <p:spPr>
          <a:xfrm>
            <a:off x="6071144" y="2255902"/>
            <a:ext cx="50554" cy="3353432"/>
          </a:xfrm>
          <a:custGeom>
            <a:rect b="b" l="l" r="r" t="t"/>
            <a:pathLst>
              <a:path extrusionOk="0" h="3353432" w="50554">
                <a:moveTo>
                  <a:pt x="0" y="0"/>
                </a:moveTo>
                <a:lnTo>
                  <a:pt x="50554" y="0"/>
                </a:lnTo>
                <a:lnTo>
                  <a:pt x="50554" y="3353432"/>
                </a:lnTo>
                <a:lnTo>
                  <a:pt x="0" y="3353432"/>
                </a:lnTo>
                <a:lnTo>
                  <a:pt x="0" y="0"/>
                </a:lnTo>
                <a:close/>
              </a:path>
            </a:pathLst>
          </a:custGeom>
          <a:solidFill>
            <a:srgbClr val="2D3436"/>
          </a:solidFill>
          <a:ln cap="flat" cmpd="sng" w="254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p13"/>
          <p:cNvSpPr/>
          <p:nvPr/>
        </p:nvSpPr>
        <p:spPr>
          <a:xfrm>
            <a:off x="1734713" y="1430181"/>
            <a:ext cx="4499328" cy="1533479"/>
          </a:xfrm>
          <a:custGeom>
            <a:rect b="b" l="l" r="r" t="t"/>
            <a:pathLst>
              <a:path extrusionOk="0" h="1533479" w="4499328">
                <a:moveTo>
                  <a:pt x="0" y="0"/>
                </a:moveTo>
                <a:lnTo>
                  <a:pt x="4499328" y="0"/>
                </a:lnTo>
                <a:lnTo>
                  <a:pt x="4499328" y="1533479"/>
                </a:lnTo>
                <a:lnTo>
                  <a:pt x="0" y="153347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flat" cmpd="sng" w="508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0554">
              <a:srgbClr val="2D3436"/>
            </a:outerShdw>
          </a:effectLst>
        </p:spPr>
      </p:sp>
      <p:sp>
        <p:nvSpPr>
          <p:cNvPr id="292" name="Google Shape;292;p13"/>
          <p:cNvSpPr/>
          <p:nvPr/>
        </p:nvSpPr>
        <p:spPr>
          <a:xfrm>
            <a:off x="5466038" y="1628186"/>
            <a:ext cx="564522" cy="328603"/>
          </a:xfrm>
          <a:custGeom>
            <a:rect b="b" l="l" r="r" t="t"/>
            <a:pathLst>
              <a:path extrusionOk="0" h="328603" w="564522">
                <a:moveTo>
                  <a:pt x="0" y="0"/>
                </a:moveTo>
                <a:lnTo>
                  <a:pt x="564522" y="0"/>
                </a:lnTo>
                <a:lnTo>
                  <a:pt x="564522" y="328603"/>
                </a:lnTo>
                <a:lnTo>
                  <a:pt x="0" y="328603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cap="flat" cmpd="sng" w="381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0554">
              <a:srgbClr val="2D3436"/>
            </a:outerShdw>
          </a:effectLst>
        </p:spPr>
      </p:sp>
      <p:sp>
        <p:nvSpPr>
          <p:cNvPr id="293" name="Google Shape;293;p13"/>
          <p:cNvSpPr/>
          <p:nvPr/>
        </p:nvSpPr>
        <p:spPr>
          <a:xfrm>
            <a:off x="5495528" y="1695592"/>
            <a:ext cx="4236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7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2017</a:t>
            </a:r>
            <a:endParaRPr b="0" i="0" sz="1600" u="none" cap="none" strike="noStrike"/>
          </a:p>
        </p:txBody>
      </p:sp>
      <p:sp>
        <p:nvSpPr>
          <p:cNvPr id="294" name="Google Shape;294;p13"/>
          <p:cNvSpPr/>
          <p:nvPr/>
        </p:nvSpPr>
        <p:spPr>
          <a:xfrm>
            <a:off x="1818970" y="2036833"/>
            <a:ext cx="42297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92" u="none" cap="none" strike="noStrike">
                <a:solidFill>
                  <a:srgbClr val="2D3436"/>
                </a:solidFill>
                <a:latin typeface="Coda"/>
                <a:ea typeface="Coda"/>
                <a:cs typeface="Coda"/>
                <a:sym typeface="Coda"/>
              </a:rPr>
              <a:t>First Draft Released</a:t>
            </a:r>
            <a:endParaRPr b="0" i="0" sz="1600" u="none" cap="none" strike="noStrike"/>
          </a:p>
        </p:txBody>
      </p:sp>
      <p:sp>
        <p:nvSpPr>
          <p:cNvPr id="295" name="Google Shape;295;p13"/>
          <p:cNvSpPr/>
          <p:nvPr/>
        </p:nvSpPr>
        <p:spPr>
          <a:xfrm>
            <a:off x="1852673" y="2373862"/>
            <a:ext cx="4196100" cy="40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2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Initial specification for Wake-Up Radio technology introduced to IEEE working group</a:t>
            </a:r>
            <a:endParaRPr b="1" i="0" sz="1600" u="none" cap="none" strike="noStrike">
              <a:solidFill>
                <a:schemeClr val="dk1"/>
              </a:solidFill>
            </a:endParaRPr>
          </a:p>
        </p:txBody>
      </p:sp>
      <p:sp>
        <p:nvSpPr>
          <p:cNvPr id="296" name="Google Shape;296;p13"/>
          <p:cNvSpPr/>
          <p:nvPr/>
        </p:nvSpPr>
        <p:spPr>
          <a:xfrm>
            <a:off x="6534137" y="1944150"/>
            <a:ext cx="505543" cy="505543"/>
          </a:xfrm>
          <a:custGeom>
            <a:rect b="b" l="l" r="r" t="t"/>
            <a:pathLst>
              <a:path extrusionOk="0" h="505543" w="505543">
                <a:moveTo>
                  <a:pt x="0" y="0"/>
                </a:moveTo>
                <a:lnTo>
                  <a:pt x="505543" y="0"/>
                </a:lnTo>
                <a:lnTo>
                  <a:pt x="505543" y="505543"/>
                </a:lnTo>
                <a:lnTo>
                  <a:pt x="0" y="505543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cap="flat" cmpd="sng" w="508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0554">
              <a:srgbClr val="2D3436"/>
            </a:outerShdw>
          </a:effectLst>
        </p:spPr>
      </p:sp>
      <p:sp>
        <p:nvSpPr>
          <p:cNvPr id="297" name="Google Shape;297;p13"/>
          <p:cNvSpPr/>
          <p:nvPr/>
        </p:nvSpPr>
        <p:spPr>
          <a:xfrm>
            <a:off x="6711077" y="2095813"/>
            <a:ext cx="151663" cy="202217"/>
          </a:xfrm>
          <a:custGeom>
            <a:rect b="b" l="l" r="r" t="t"/>
            <a:pathLst>
              <a:path extrusionOk="0" h="202217" w="151663">
                <a:moveTo>
                  <a:pt x="0" y="25277"/>
                </a:moveTo>
                <a:cubicBezTo>
                  <a:pt x="0" y="11335"/>
                  <a:pt x="11335" y="0"/>
                  <a:pt x="25277" y="0"/>
                </a:cubicBezTo>
                <a:lnTo>
                  <a:pt x="84323" y="0"/>
                </a:lnTo>
                <a:cubicBezTo>
                  <a:pt x="91037" y="0"/>
                  <a:pt x="97475" y="2646"/>
                  <a:pt x="102214" y="7386"/>
                </a:cubicBezTo>
                <a:lnTo>
                  <a:pt x="144277" y="49488"/>
                </a:lnTo>
                <a:cubicBezTo>
                  <a:pt x="149017" y="54227"/>
                  <a:pt x="151663" y="60665"/>
                  <a:pt x="151663" y="67379"/>
                </a:cubicBezTo>
                <a:lnTo>
                  <a:pt x="151663" y="176940"/>
                </a:lnTo>
                <a:cubicBezTo>
                  <a:pt x="151663" y="190882"/>
                  <a:pt x="140328" y="202217"/>
                  <a:pt x="126386" y="202217"/>
                </a:cubicBezTo>
                <a:lnTo>
                  <a:pt x="25277" y="202217"/>
                </a:lnTo>
                <a:cubicBezTo>
                  <a:pt x="11335" y="202217"/>
                  <a:pt x="0" y="190882"/>
                  <a:pt x="0" y="176940"/>
                </a:cubicBezTo>
                <a:lnTo>
                  <a:pt x="0" y="25277"/>
                </a:lnTo>
                <a:close/>
                <a:moveTo>
                  <a:pt x="82151" y="23105"/>
                </a:moveTo>
                <a:lnTo>
                  <a:pt x="82151" y="60033"/>
                </a:lnTo>
                <a:cubicBezTo>
                  <a:pt x="82151" y="65286"/>
                  <a:pt x="86377" y="69512"/>
                  <a:pt x="91630" y="69512"/>
                </a:cubicBezTo>
                <a:lnTo>
                  <a:pt x="128558" y="69512"/>
                </a:lnTo>
                <a:lnTo>
                  <a:pt x="82151" y="23105"/>
                </a:lnTo>
                <a:close/>
                <a:moveTo>
                  <a:pt x="47395" y="101109"/>
                </a:moveTo>
                <a:cubicBezTo>
                  <a:pt x="42142" y="101109"/>
                  <a:pt x="37916" y="105335"/>
                  <a:pt x="37916" y="110587"/>
                </a:cubicBezTo>
                <a:cubicBezTo>
                  <a:pt x="37916" y="115840"/>
                  <a:pt x="42142" y="120066"/>
                  <a:pt x="47395" y="120066"/>
                </a:cubicBezTo>
                <a:lnTo>
                  <a:pt x="104268" y="120066"/>
                </a:lnTo>
                <a:cubicBezTo>
                  <a:pt x="109521" y="120066"/>
                  <a:pt x="113747" y="115840"/>
                  <a:pt x="113747" y="110587"/>
                </a:cubicBezTo>
                <a:cubicBezTo>
                  <a:pt x="113747" y="105335"/>
                  <a:pt x="109521" y="101109"/>
                  <a:pt x="104268" y="101109"/>
                </a:cubicBezTo>
                <a:lnTo>
                  <a:pt x="47395" y="101109"/>
                </a:lnTo>
                <a:close/>
                <a:moveTo>
                  <a:pt x="47395" y="139024"/>
                </a:moveTo>
                <a:cubicBezTo>
                  <a:pt x="42142" y="139024"/>
                  <a:pt x="37916" y="143250"/>
                  <a:pt x="37916" y="148503"/>
                </a:cubicBezTo>
                <a:cubicBezTo>
                  <a:pt x="37916" y="153756"/>
                  <a:pt x="42142" y="157982"/>
                  <a:pt x="47395" y="157982"/>
                </a:cubicBezTo>
                <a:lnTo>
                  <a:pt x="104268" y="157982"/>
                </a:lnTo>
                <a:cubicBezTo>
                  <a:pt x="109521" y="157982"/>
                  <a:pt x="113747" y="153756"/>
                  <a:pt x="113747" y="148503"/>
                </a:cubicBezTo>
                <a:cubicBezTo>
                  <a:pt x="113747" y="143250"/>
                  <a:pt x="109521" y="139024"/>
                  <a:pt x="104268" y="139024"/>
                </a:cubicBezTo>
                <a:lnTo>
                  <a:pt x="47395" y="13902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3"/>
          <p:cNvSpPr/>
          <p:nvPr/>
        </p:nvSpPr>
        <p:spPr>
          <a:xfrm>
            <a:off x="5153304" y="3780955"/>
            <a:ext cx="505543" cy="505543"/>
          </a:xfrm>
          <a:custGeom>
            <a:rect b="b" l="l" r="r" t="t"/>
            <a:pathLst>
              <a:path extrusionOk="0" h="505543" w="505543">
                <a:moveTo>
                  <a:pt x="0" y="0"/>
                </a:moveTo>
                <a:lnTo>
                  <a:pt x="505543" y="0"/>
                </a:lnTo>
                <a:lnTo>
                  <a:pt x="505543" y="505543"/>
                </a:lnTo>
                <a:lnTo>
                  <a:pt x="0" y="505543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cap="flat" cmpd="sng" w="508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0554">
              <a:srgbClr val="2D3436"/>
            </a:outerShdw>
          </a:effectLst>
        </p:spPr>
      </p:sp>
      <p:sp>
        <p:nvSpPr>
          <p:cNvPr id="299" name="Google Shape;299;p13"/>
          <p:cNvSpPr/>
          <p:nvPr/>
        </p:nvSpPr>
        <p:spPr>
          <a:xfrm>
            <a:off x="5304967" y="3932618"/>
            <a:ext cx="202217" cy="202217"/>
          </a:xfrm>
          <a:custGeom>
            <a:rect b="b" l="l" r="r" t="t"/>
            <a:pathLst>
              <a:path extrusionOk="0" h="202217" w="202217">
                <a:moveTo>
                  <a:pt x="189618" y="75831"/>
                </a:moveTo>
                <a:lnTo>
                  <a:pt x="192738" y="75831"/>
                </a:lnTo>
                <a:cubicBezTo>
                  <a:pt x="197991" y="75831"/>
                  <a:pt x="202217" y="71605"/>
                  <a:pt x="202217" y="66352"/>
                </a:cubicBezTo>
                <a:lnTo>
                  <a:pt x="202217" y="9479"/>
                </a:lnTo>
                <a:cubicBezTo>
                  <a:pt x="202217" y="5648"/>
                  <a:pt x="199926" y="2172"/>
                  <a:pt x="196372" y="711"/>
                </a:cubicBezTo>
                <a:cubicBezTo>
                  <a:pt x="192817" y="-750"/>
                  <a:pt x="188749" y="79"/>
                  <a:pt x="186024" y="2765"/>
                </a:cubicBezTo>
                <a:lnTo>
                  <a:pt x="165605" y="23223"/>
                </a:lnTo>
                <a:cubicBezTo>
                  <a:pt x="148108" y="8729"/>
                  <a:pt x="125596" y="0"/>
                  <a:pt x="101109" y="0"/>
                </a:cubicBezTo>
                <a:cubicBezTo>
                  <a:pt x="50159" y="0"/>
                  <a:pt x="8018" y="37679"/>
                  <a:pt x="1027" y="86693"/>
                </a:cubicBezTo>
                <a:cubicBezTo>
                  <a:pt x="39" y="93604"/>
                  <a:pt x="4818" y="100003"/>
                  <a:pt x="11730" y="100990"/>
                </a:cubicBezTo>
                <a:cubicBezTo>
                  <a:pt x="18642" y="101977"/>
                  <a:pt x="25040" y="97159"/>
                  <a:pt x="26028" y="90287"/>
                </a:cubicBezTo>
                <a:cubicBezTo>
                  <a:pt x="31280" y="53516"/>
                  <a:pt x="62916" y="25277"/>
                  <a:pt x="101109" y="25277"/>
                </a:cubicBezTo>
                <a:cubicBezTo>
                  <a:pt x="118645" y="25277"/>
                  <a:pt x="134759" y="31201"/>
                  <a:pt x="147595" y="41194"/>
                </a:cubicBezTo>
                <a:lnTo>
                  <a:pt x="129150" y="59638"/>
                </a:lnTo>
                <a:cubicBezTo>
                  <a:pt x="126425" y="62363"/>
                  <a:pt x="125635" y="66431"/>
                  <a:pt x="127097" y="69986"/>
                </a:cubicBezTo>
                <a:cubicBezTo>
                  <a:pt x="128558" y="73541"/>
                  <a:pt x="132033" y="75831"/>
                  <a:pt x="135865" y="75831"/>
                </a:cubicBezTo>
                <a:lnTo>
                  <a:pt x="189618" y="75831"/>
                </a:lnTo>
                <a:close/>
                <a:moveTo>
                  <a:pt x="201230" y="115524"/>
                </a:moveTo>
                <a:cubicBezTo>
                  <a:pt x="202217" y="108613"/>
                  <a:pt x="197399" y="102214"/>
                  <a:pt x="190526" y="101227"/>
                </a:cubicBezTo>
                <a:cubicBezTo>
                  <a:pt x="183654" y="100240"/>
                  <a:pt x="177216" y="105058"/>
                  <a:pt x="176229" y="111930"/>
                </a:cubicBezTo>
                <a:cubicBezTo>
                  <a:pt x="170976" y="148661"/>
                  <a:pt x="139340" y="176900"/>
                  <a:pt x="101148" y="176900"/>
                </a:cubicBezTo>
                <a:cubicBezTo>
                  <a:pt x="83612" y="176900"/>
                  <a:pt x="67498" y="170976"/>
                  <a:pt x="54662" y="160984"/>
                </a:cubicBezTo>
                <a:lnTo>
                  <a:pt x="73067" y="142579"/>
                </a:lnTo>
                <a:cubicBezTo>
                  <a:pt x="75792" y="139854"/>
                  <a:pt x="76582" y="135786"/>
                  <a:pt x="75120" y="132231"/>
                </a:cubicBezTo>
                <a:cubicBezTo>
                  <a:pt x="73659" y="128676"/>
                  <a:pt x="70184" y="126386"/>
                  <a:pt x="66352" y="126386"/>
                </a:cubicBezTo>
                <a:lnTo>
                  <a:pt x="9479" y="126386"/>
                </a:lnTo>
                <a:cubicBezTo>
                  <a:pt x="4226" y="126386"/>
                  <a:pt x="0" y="130612"/>
                  <a:pt x="0" y="135865"/>
                </a:cubicBezTo>
                <a:lnTo>
                  <a:pt x="0" y="192738"/>
                </a:lnTo>
                <a:cubicBezTo>
                  <a:pt x="0" y="196569"/>
                  <a:pt x="2291" y="200045"/>
                  <a:pt x="5845" y="201506"/>
                </a:cubicBezTo>
                <a:cubicBezTo>
                  <a:pt x="9400" y="202967"/>
                  <a:pt x="13468" y="202138"/>
                  <a:pt x="16193" y="199452"/>
                </a:cubicBezTo>
                <a:lnTo>
                  <a:pt x="36652" y="178994"/>
                </a:lnTo>
                <a:cubicBezTo>
                  <a:pt x="54109" y="193488"/>
                  <a:pt x="76621" y="202217"/>
                  <a:pt x="101109" y="202217"/>
                </a:cubicBezTo>
                <a:cubicBezTo>
                  <a:pt x="152058" y="202217"/>
                  <a:pt x="194199" y="164538"/>
                  <a:pt x="201190" y="11552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3"/>
          <p:cNvSpPr/>
          <p:nvPr/>
        </p:nvSpPr>
        <p:spPr>
          <a:xfrm>
            <a:off x="5962172" y="3266987"/>
            <a:ext cx="4499328" cy="1533479"/>
          </a:xfrm>
          <a:custGeom>
            <a:rect b="b" l="l" r="r" t="t"/>
            <a:pathLst>
              <a:path extrusionOk="0" h="1533479" w="4499328">
                <a:moveTo>
                  <a:pt x="0" y="0"/>
                </a:moveTo>
                <a:lnTo>
                  <a:pt x="4499328" y="0"/>
                </a:lnTo>
                <a:lnTo>
                  <a:pt x="4499328" y="1533479"/>
                </a:lnTo>
                <a:lnTo>
                  <a:pt x="0" y="153347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flat" cmpd="sng" w="508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0554">
              <a:srgbClr val="2D3436"/>
            </a:outerShdw>
          </a:effectLst>
        </p:spPr>
      </p:sp>
      <p:sp>
        <p:nvSpPr>
          <p:cNvPr id="301" name="Google Shape;301;p13"/>
          <p:cNvSpPr/>
          <p:nvPr/>
        </p:nvSpPr>
        <p:spPr>
          <a:xfrm>
            <a:off x="6160176" y="3464991"/>
            <a:ext cx="1070065" cy="328603"/>
          </a:xfrm>
          <a:custGeom>
            <a:rect b="b" l="l" r="r" t="t"/>
            <a:pathLst>
              <a:path extrusionOk="0" h="328603" w="1070065">
                <a:moveTo>
                  <a:pt x="0" y="0"/>
                </a:moveTo>
                <a:lnTo>
                  <a:pt x="1070065" y="0"/>
                </a:lnTo>
                <a:lnTo>
                  <a:pt x="1070065" y="328603"/>
                </a:lnTo>
                <a:lnTo>
                  <a:pt x="0" y="328603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cap="flat" cmpd="sng" w="381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0554">
              <a:srgbClr val="2D3436"/>
            </a:outerShdw>
          </a:effectLst>
        </p:spPr>
      </p:sp>
      <p:sp>
        <p:nvSpPr>
          <p:cNvPr id="302" name="Google Shape;302;p13"/>
          <p:cNvSpPr/>
          <p:nvPr/>
        </p:nvSpPr>
        <p:spPr>
          <a:xfrm>
            <a:off x="6273923" y="3532396"/>
            <a:ext cx="9297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7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2018-2020</a:t>
            </a:r>
            <a:endParaRPr b="0" i="0" sz="1600" u="none" cap="none" strike="noStrike"/>
          </a:p>
        </p:txBody>
      </p:sp>
      <p:sp>
        <p:nvSpPr>
          <p:cNvPr id="303" name="Google Shape;303;p13"/>
          <p:cNvSpPr/>
          <p:nvPr/>
        </p:nvSpPr>
        <p:spPr>
          <a:xfrm>
            <a:off x="6147538" y="3873638"/>
            <a:ext cx="42297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92" u="none" cap="none" strike="noStrike">
                <a:solidFill>
                  <a:srgbClr val="2D3436"/>
                </a:solidFill>
                <a:latin typeface="Coda"/>
                <a:ea typeface="Coda"/>
                <a:cs typeface="Coda"/>
                <a:sym typeface="Coda"/>
              </a:rPr>
              <a:t>Draft Iterations</a:t>
            </a:r>
            <a:endParaRPr b="0" i="0" sz="1600" u="none" cap="none" strike="noStrike"/>
          </a:p>
        </p:txBody>
      </p:sp>
      <p:sp>
        <p:nvSpPr>
          <p:cNvPr id="304" name="Google Shape;304;p13"/>
          <p:cNvSpPr/>
          <p:nvPr/>
        </p:nvSpPr>
        <p:spPr>
          <a:xfrm>
            <a:off x="6147538" y="4210666"/>
            <a:ext cx="4196100" cy="40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2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Multiple revisions and refinements based on industry feedback and testing</a:t>
            </a:r>
            <a:endParaRPr b="1" i="0" sz="1600" u="none" cap="none" strike="noStrike">
              <a:solidFill>
                <a:schemeClr val="dk1"/>
              </a:solidFill>
            </a:endParaRPr>
          </a:p>
        </p:txBody>
      </p:sp>
      <p:sp>
        <p:nvSpPr>
          <p:cNvPr id="305" name="Google Shape;305;p13"/>
          <p:cNvSpPr/>
          <p:nvPr/>
        </p:nvSpPr>
        <p:spPr>
          <a:xfrm>
            <a:off x="1599902" y="5103791"/>
            <a:ext cx="4499328" cy="1331262"/>
          </a:xfrm>
          <a:custGeom>
            <a:rect b="b" l="l" r="r" t="t"/>
            <a:pathLst>
              <a:path extrusionOk="0" h="1331262" w="4499328">
                <a:moveTo>
                  <a:pt x="0" y="0"/>
                </a:moveTo>
                <a:lnTo>
                  <a:pt x="4499328" y="0"/>
                </a:lnTo>
                <a:lnTo>
                  <a:pt x="4499328" y="1331262"/>
                </a:lnTo>
                <a:lnTo>
                  <a:pt x="0" y="1331262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cap="flat" cmpd="sng" w="508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0554">
              <a:srgbClr val="2D3436"/>
            </a:outerShdw>
          </a:effectLst>
        </p:spPr>
      </p:sp>
      <p:sp>
        <p:nvSpPr>
          <p:cNvPr id="306" name="Google Shape;306;p13"/>
          <p:cNvSpPr/>
          <p:nvPr/>
        </p:nvSpPr>
        <p:spPr>
          <a:xfrm>
            <a:off x="5322520" y="5301795"/>
            <a:ext cx="572948" cy="328603"/>
          </a:xfrm>
          <a:custGeom>
            <a:rect b="b" l="l" r="r" t="t"/>
            <a:pathLst>
              <a:path extrusionOk="0" h="328603" w="572948">
                <a:moveTo>
                  <a:pt x="0" y="0"/>
                </a:moveTo>
                <a:lnTo>
                  <a:pt x="572948" y="0"/>
                </a:lnTo>
                <a:lnTo>
                  <a:pt x="572948" y="328603"/>
                </a:lnTo>
                <a:lnTo>
                  <a:pt x="0" y="328603"/>
                </a:lnTo>
                <a:lnTo>
                  <a:pt x="0" y="0"/>
                </a:lnTo>
                <a:close/>
              </a:path>
            </a:pathLst>
          </a:custGeom>
          <a:solidFill>
            <a:srgbClr val="2D3436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0554">
              <a:srgbClr val="2D3436"/>
            </a:outerShdw>
          </a:effectLst>
        </p:spPr>
      </p:sp>
      <p:sp>
        <p:nvSpPr>
          <p:cNvPr id="307" name="Google Shape;307;p13"/>
          <p:cNvSpPr/>
          <p:nvPr/>
        </p:nvSpPr>
        <p:spPr>
          <a:xfrm>
            <a:off x="5352010" y="5369201"/>
            <a:ext cx="4323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7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2021</a:t>
            </a:r>
            <a:endParaRPr b="0" i="0" sz="1600" u="none" cap="none" strike="noStrike"/>
          </a:p>
        </p:txBody>
      </p:sp>
      <p:sp>
        <p:nvSpPr>
          <p:cNvPr id="308" name="Google Shape;308;p13"/>
          <p:cNvSpPr/>
          <p:nvPr/>
        </p:nvSpPr>
        <p:spPr>
          <a:xfrm>
            <a:off x="1684159" y="5710442"/>
            <a:ext cx="42297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92" u="none" cap="none" strike="noStrike">
                <a:solidFill>
                  <a:srgbClr val="2D3436"/>
                </a:solidFill>
                <a:latin typeface="Coda"/>
                <a:ea typeface="Coda"/>
                <a:cs typeface="Coda"/>
                <a:sym typeface="Coda"/>
              </a:rPr>
              <a:t>Official Release</a:t>
            </a:r>
            <a:endParaRPr b="0" i="0" sz="1600" u="none" cap="none" strike="noStrike"/>
          </a:p>
        </p:txBody>
      </p:sp>
      <p:sp>
        <p:nvSpPr>
          <p:cNvPr id="309" name="Google Shape;309;p13"/>
          <p:cNvSpPr/>
          <p:nvPr/>
        </p:nvSpPr>
        <p:spPr>
          <a:xfrm>
            <a:off x="1717861" y="6047470"/>
            <a:ext cx="4196100" cy="20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2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IEEE 802.11ba officially published and ready for industry adoption</a:t>
            </a:r>
            <a:endParaRPr b="0" i="0" sz="1600" u="none" cap="none" strike="noStrike"/>
          </a:p>
        </p:txBody>
      </p:sp>
      <p:sp>
        <p:nvSpPr>
          <p:cNvPr id="310" name="Google Shape;310;p13"/>
          <p:cNvSpPr/>
          <p:nvPr/>
        </p:nvSpPr>
        <p:spPr>
          <a:xfrm>
            <a:off x="6399326" y="5449244"/>
            <a:ext cx="640354" cy="640354"/>
          </a:xfrm>
          <a:custGeom>
            <a:rect b="b" l="l" r="r" t="t"/>
            <a:pathLst>
              <a:path extrusionOk="0" h="640354" w="640354">
                <a:moveTo>
                  <a:pt x="0" y="0"/>
                </a:moveTo>
                <a:lnTo>
                  <a:pt x="640354" y="0"/>
                </a:lnTo>
                <a:lnTo>
                  <a:pt x="640354" y="640354"/>
                </a:lnTo>
                <a:lnTo>
                  <a:pt x="0" y="640354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cap="flat" cmpd="sng" w="508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0554">
              <a:srgbClr val="2D3436"/>
            </a:outerShdw>
          </a:effectLst>
        </p:spPr>
      </p:sp>
      <p:sp>
        <p:nvSpPr>
          <p:cNvPr id="311" name="Google Shape;311;p13"/>
          <p:cNvSpPr/>
          <p:nvPr/>
        </p:nvSpPr>
        <p:spPr>
          <a:xfrm>
            <a:off x="6595223" y="5643036"/>
            <a:ext cx="252771" cy="252771"/>
          </a:xfrm>
          <a:custGeom>
            <a:rect b="b" l="l" r="r" t="t"/>
            <a:pathLst>
              <a:path extrusionOk="0" h="252771" w="252771">
                <a:moveTo>
                  <a:pt x="126386" y="252771"/>
                </a:moveTo>
                <a:cubicBezTo>
                  <a:pt x="196140" y="252771"/>
                  <a:pt x="252771" y="196140"/>
                  <a:pt x="252771" y="126386"/>
                </a:cubicBezTo>
                <a:cubicBezTo>
                  <a:pt x="252771" y="56631"/>
                  <a:pt x="196140" y="0"/>
                  <a:pt x="126386" y="0"/>
                </a:cubicBezTo>
                <a:cubicBezTo>
                  <a:pt x="56631" y="0"/>
                  <a:pt x="0" y="56631"/>
                  <a:pt x="0" y="126386"/>
                </a:cubicBezTo>
                <a:cubicBezTo>
                  <a:pt x="0" y="196140"/>
                  <a:pt x="56631" y="252771"/>
                  <a:pt x="126386" y="252771"/>
                </a:cubicBezTo>
                <a:close/>
                <a:moveTo>
                  <a:pt x="168053" y="105009"/>
                </a:moveTo>
                <a:lnTo>
                  <a:pt x="128558" y="168201"/>
                </a:lnTo>
                <a:cubicBezTo>
                  <a:pt x="126484" y="171509"/>
                  <a:pt x="122930" y="173583"/>
                  <a:pt x="119030" y="173780"/>
                </a:cubicBezTo>
                <a:cubicBezTo>
                  <a:pt x="115129" y="173978"/>
                  <a:pt x="111377" y="172200"/>
                  <a:pt x="109057" y="169041"/>
                </a:cubicBezTo>
                <a:lnTo>
                  <a:pt x="85360" y="137444"/>
                </a:lnTo>
                <a:cubicBezTo>
                  <a:pt x="81410" y="132211"/>
                  <a:pt x="82496" y="124806"/>
                  <a:pt x="87729" y="120856"/>
                </a:cubicBezTo>
                <a:cubicBezTo>
                  <a:pt x="92963" y="116907"/>
                  <a:pt x="100368" y="117993"/>
                  <a:pt x="104318" y="123226"/>
                </a:cubicBezTo>
                <a:lnTo>
                  <a:pt x="117647" y="140999"/>
                </a:lnTo>
                <a:lnTo>
                  <a:pt x="147960" y="92469"/>
                </a:lnTo>
                <a:cubicBezTo>
                  <a:pt x="151416" y="86939"/>
                  <a:pt x="158723" y="85212"/>
                  <a:pt x="164301" y="88717"/>
                </a:cubicBezTo>
                <a:cubicBezTo>
                  <a:pt x="169880" y="92222"/>
                  <a:pt x="171559" y="99479"/>
                  <a:pt x="168053" y="105058"/>
                </a:cubicBezTo>
                <a:close/>
              </a:path>
            </a:pathLst>
          </a:custGeom>
          <a:solidFill>
            <a:srgbClr val="2D34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5F5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4"/>
          <p:cNvSpPr/>
          <p:nvPr/>
        </p:nvSpPr>
        <p:spPr>
          <a:xfrm rot="720000">
            <a:off x="166798" y="6070829"/>
            <a:ext cx="520442" cy="520442"/>
          </a:xfrm>
          <a:custGeom>
            <a:rect b="b" l="l" r="r" t="t"/>
            <a:pathLst>
              <a:path extrusionOk="0" h="520442" w="520442">
                <a:moveTo>
                  <a:pt x="0" y="0"/>
                </a:moveTo>
                <a:lnTo>
                  <a:pt x="520442" y="0"/>
                </a:lnTo>
                <a:lnTo>
                  <a:pt x="520442" y="520442"/>
                </a:lnTo>
                <a:lnTo>
                  <a:pt x="0" y="520442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cap="flat" cmpd="sng" w="381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1191">
              <a:srgbClr val="2D3436"/>
            </a:outerShdw>
          </a:effectLst>
        </p:spPr>
      </p:sp>
      <p:sp>
        <p:nvSpPr>
          <p:cNvPr id="318" name="Google Shape;318;p14"/>
          <p:cNvSpPr/>
          <p:nvPr/>
        </p:nvSpPr>
        <p:spPr>
          <a:xfrm>
            <a:off x="354071" y="354071"/>
            <a:ext cx="1766091" cy="366869"/>
          </a:xfrm>
          <a:custGeom>
            <a:rect b="b" l="l" r="r" t="t"/>
            <a:pathLst>
              <a:path extrusionOk="0" h="366869" w="1766091">
                <a:moveTo>
                  <a:pt x="0" y="0"/>
                </a:moveTo>
                <a:lnTo>
                  <a:pt x="1766091" y="0"/>
                </a:lnTo>
                <a:lnTo>
                  <a:pt x="1766091" y="366869"/>
                </a:lnTo>
                <a:lnTo>
                  <a:pt x="0" y="366869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cap="flat" cmpd="sng" w="381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1191">
              <a:srgbClr val="2D3436"/>
            </a:outerShdw>
          </a:effectLst>
        </p:spPr>
      </p:sp>
      <p:sp>
        <p:nvSpPr>
          <p:cNvPr id="319" name="Google Shape;319;p14"/>
          <p:cNvSpPr/>
          <p:nvPr/>
        </p:nvSpPr>
        <p:spPr>
          <a:xfrm>
            <a:off x="503379" y="456453"/>
            <a:ext cx="1538006" cy="1621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75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POWER OPTIMIZATION</a:t>
            </a:r>
            <a:endParaRPr b="0" i="0" sz="1600" u="none" cap="none" strike="noStrike"/>
          </a:p>
        </p:txBody>
      </p:sp>
      <p:sp>
        <p:nvSpPr>
          <p:cNvPr id="320" name="Google Shape;320;p14"/>
          <p:cNvSpPr/>
          <p:nvPr/>
        </p:nvSpPr>
        <p:spPr>
          <a:xfrm>
            <a:off x="341274" y="801993"/>
            <a:ext cx="11663026" cy="34127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18" u="none" cap="none" strike="noStrike">
                <a:solidFill>
                  <a:srgbClr val="2D3436"/>
                </a:solidFill>
                <a:latin typeface="Coda"/>
                <a:ea typeface="Coda"/>
                <a:cs typeface="Coda"/>
                <a:sym typeface="Coda"/>
              </a:rPr>
              <a:t>Duty Cycling: Let WUR Sleep Too</a:t>
            </a:r>
            <a:endParaRPr b="0" i="0" sz="1600" u="none" cap="none" strike="noStrike"/>
          </a:p>
        </p:txBody>
      </p:sp>
      <p:sp>
        <p:nvSpPr>
          <p:cNvPr id="321" name="Google Shape;321;p14"/>
          <p:cNvSpPr/>
          <p:nvPr/>
        </p:nvSpPr>
        <p:spPr>
          <a:xfrm>
            <a:off x="358337" y="1296840"/>
            <a:ext cx="11475325" cy="1535731"/>
          </a:xfrm>
          <a:custGeom>
            <a:rect b="b" l="l" r="r" t="t"/>
            <a:pathLst>
              <a:path extrusionOk="0" h="1535731" w="11475325">
                <a:moveTo>
                  <a:pt x="0" y="0"/>
                </a:moveTo>
                <a:lnTo>
                  <a:pt x="11475325" y="0"/>
                </a:lnTo>
                <a:lnTo>
                  <a:pt x="11475325" y="1535731"/>
                </a:lnTo>
                <a:lnTo>
                  <a:pt x="0" y="153573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flat" cmpd="sng" w="508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1191">
              <a:srgbClr val="2D3436"/>
            </a:outerShdw>
          </a:effectLst>
        </p:spPr>
      </p:sp>
      <p:sp>
        <p:nvSpPr>
          <p:cNvPr id="322" name="Google Shape;322;p14"/>
          <p:cNvSpPr/>
          <p:nvPr/>
        </p:nvSpPr>
        <p:spPr>
          <a:xfrm>
            <a:off x="460719" y="1450413"/>
            <a:ext cx="11270561" cy="2730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12" u="none" cap="none" strike="noStrike">
                <a:solidFill>
                  <a:srgbClr val="2D3436"/>
                </a:solidFill>
                <a:latin typeface="Coda"/>
                <a:ea typeface="Coda"/>
                <a:cs typeface="Coda"/>
                <a:sym typeface="Coda"/>
              </a:rPr>
              <a:t>The WUR's "Work Day"</a:t>
            </a:r>
            <a:endParaRPr b="0" i="0" sz="1600" u="none" cap="none" strike="noStrike"/>
          </a:p>
        </p:txBody>
      </p:sp>
      <p:sp>
        <p:nvSpPr>
          <p:cNvPr id="323" name="Google Shape;323;p14"/>
          <p:cNvSpPr/>
          <p:nvPr/>
        </p:nvSpPr>
        <p:spPr>
          <a:xfrm>
            <a:off x="3165028" y="1838612"/>
            <a:ext cx="1066480" cy="520442"/>
          </a:xfrm>
          <a:custGeom>
            <a:rect b="b" l="l" r="r" t="t"/>
            <a:pathLst>
              <a:path extrusionOk="0" h="520442" w="1066480">
                <a:moveTo>
                  <a:pt x="0" y="0"/>
                </a:moveTo>
                <a:lnTo>
                  <a:pt x="1066480" y="0"/>
                </a:lnTo>
                <a:lnTo>
                  <a:pt x="1066480" y="520442"/>
                </a:lnTo>
                <a:lnTo>
                  <a:pt x="0" y="520442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cap="flat" cmpd="sng" w="381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1191">
              <a:srgbClr val="2D3436"/>
            </a:outerShdw>
          </a:effectLst>
        </p:spPr>
      </p:sp>
      <p:sp>
        <p:nvSpPr>
          <p:cNvPr id="324" name="Google Shape;324;p14"/>
          <p:cNvSpPr/>
          <p:nvPr/>
        </p:nvSpPr>
        <p:spPr>
          <a:xfrm>
            <a:off x="3489665" y="1996451"/>
            <a:ext cx="486315" cy="204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75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Awake</a:t>
            </a:r>
            <a:endParaRPr b="0" i="0" sz="1600" u="none" cap="none" strike="noStrike"/>
          </a:p>
        </p:txBody>
      </p:sp>
      <p:sp>
        <p:nvSpPr>
          <p:cNvPr id="325" name="Google Shape;325;p14"/>
          <p:cNvSpPr/>
          <p:nvPr/>
        </p:nvSpPr>
        <p:spPr>
          <a:xfrm>
            <a:off x="4257104" y="1838612"/>
            <a:ext cx="1612518" cy="520442"/>
          </a:xfrm>
          <a:custGeom>
            <a:rect b="b" l="l" r="r" t="t"/>
            <a:pathLst>
              <a:path extrusionOk="0" h="520442" w="1612518">
                <a:moveTo>
                  <a:pt x="0" y="0"/>
                </a:moveTo>
                <a:lnTo>
                  <a:pt x="1612518" y="0"/>
                </a:lnTo>
                <a:lnTo>
                  <a:pt x="1612518" y="520442"/>
                </a:lnTo>
                <a:lnTo>
                  <a:pt x="0" y="520442"/>
                </a:lnTo>
                <a:lnTo>
                  <a:pt x="0" y="0"/>
                </a:lnTo>
                <a:close/>
              </a:path>
            </a:pathLst>
          </a:custGeom>
          <a:solidFill>
            <a:srgbClr val="2D3436"/>
          </a:solidFill>
          <a:ln cap="flat" cmpd="sng" w="381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1191">
              <a:srgbClr val="2D3436"/>
            </a:outerShdw>
          </a:effectLst>
        </p:spPr>
      </p:sp>
      <p:sp>
        <p:nvSpPr>
          <p:cNvPr id="326" name="Google Shape;326;p14"/>
          <p:cNvSpPr/>
          <p:nvPr/>
        </p:nvSpPr>
        <p:spPr>
          <a:xfrm>
            <a:off x="4801151" y="1996451"/>
            <a:ext cx="588697" cy="204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75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Sleeping</a:t>
            </a:r>
            <a:endParaRPr b="0" i="0" sz="1600" u="none" cap="none" strike="noStrike"/>
          </a:p>
        </p:txBody>
      </p:sp>
      <p:sp>
        <p:nvSpPr>
          <p:cNvPr id="327" name="Google Shape;327;p14"/>
          <p:cNvSpPr/>
          <p:nvPr/>
        </p:nvSpPr>
        <p:spPr>
          <a:xfrm>
            <a:off x="6018929" y="1962323"/>
            <a:ext cx="255955" cy="2730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12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...</a:t>
            </a:r>
            <a:endParaRPr b="0" i="0" sz="1600" u="none" cap="none" strike="noStrike"/>
          </a:p>
        </p:txBody>
      </p:sp>
      <p:sp>
        <p:nvSpPr>
          <p:cNvPr id="328" name="Google Shape;328;p14"/>
          <p:cNvSpPr/>
          <p:nvPr/>
        </p:nvSpPr>
        <p:spPr>
          <a:xfrm>
            <a:off x="6325222" y="1838612"/>
            <a:ext cx="1066480" cy="520442"/>
          </a:xfrm>
          <a:custGeom>
            <a:rect b="b" l="l" r="r" t="t"/>
            <a:pathLst>
              <a:path extrusionOk="0" h="520442" w="1066480">
                <a:moveTo>
                  <a:pt x="0" y="0"/>
                </a:moveTo>
                <a:lnTo>
                  <a:pt x="1066480" y="0"/>
                </a:lnTo>
                <a:lnTo>
                  <a:pt x="1066480" y="520442"/>
                </a:lnTo>
                <a:lnTo>
                  <a:pt x="0" y="520442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cap="flat" cmpd="sng" w="381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1191">
              <a:srgbClr val="2D3436"/>
            </a:outerShdw>
          </a:effectLst>
        </p:spPr>
      </p:sp>
      <p:sp>
        <p:nvSpPr>
          <p:cNvPr id="329" name="Google Shape;329;p14"/>
          <p:cNvSpPr/>
          <p:nvPr/>
        </p:nvSpPr>
        <p:spPr>
          <a:xfrm>
            <a:off x="6649859" y="1996451"/>
            <a:ext cx="486315" cy="204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75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Awake</a:t>
            </a:r>
            <a:endParaRPr b="0" i="0" sz="1600" u="none" cap="none" strike="noStrike"/>
          </a:p>
        </p:txBody>
      </p:sp>
      <p:sp>
        <p:nvSpPr>
          <p:cNvPr id="330" name="Google Shape;330;p14"/>
          <p:cNvSpPr/>
          <p:nvPr/>
        </p:nvSpPr>
        <p:spPr>
          <a:xfrm>
            <a:off x="7417298" y="1838612"/>
            <a:ext cx="1612518" cy="520442"/>
          </a:xfrm>
          <a:custGeom>
            <a:rect b="b" l="l" r="r" t="t"/>
            <a:pathLst>
              <a:path extrusionOk="0" h="520442" w="1612518">
                <a:moveTo>
                  <a:pt x="0" y="0"/>
                </a:moveTo>
                <a:lnTo>
                  <a:pt x="1612518" y="0"/>
                </a:lnTo>
                <a:lnTo>
                  <a:pt x="1612518" y="520442"/>
                </a:lnTo>
                <a:lnTo>
                  <a:pt x="0" y="520442"/>
                </a:lnTo>
                <a:lnTo>
                  <a:pt x="0" y="0"/>
                </a:lnTo>
                <a:close/>
              </a:path>
            </a:pathLst>
          </a:custGeom>
          <a:solidFill>
            <a:srgbClr val="2D3436"/>
          </a:solidFill>
          <a:ln cap="flat" cmpd="sng" w="381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1191">
              <a:srgbClr val="2D3436"/>
            </a:outerShdw>
          </a:effectLst>
        </p:spPr>
      </p:sp>
      <p:sp>
        <p:nvSpPr>
          <p:cNvPr id="331" name="Google Shape;331;p14"/>
          <p:cNvSpPr/>
          <p:nvPr/>
        </p:nvSpPr>
        <p:spPr>
          <a:xfrm>
            <a:off x="7961344" y="1996451"/>
            <a:ext cx="588697" cy="204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75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Sleeping</a:t>
            </a:r>
            <a:endParaRPr b="0" i="0" sz="1600" u="none" cap="none" strike="noStrike"/>
          </a:p>
        </p:txBody>
      </p:sp>
      <p:sp>
        <p:nvSpPr>
          <p:cNvPr id="332" name="Google Shape;332;p14"/>
          <p:cNvSpPr/>
          <p:nvPr/>
        </p:nvSpPr>
        <p:spPr>
          <a:xfrm>
            <a:off x="358337" y="3003208"/>
            <a:ext cx="5656610" cy="853184"/>
          </a:xfrm>
          <a:custGeom>
            <a:rect b="b" l="l" r="r" t="t"/>
            <a:pathLst>
              <a:path extrusionOk="0" h="853184" w="5656610">
                <a:moveTo>
                  <a:pt x="0" y="0"/>
                </a:moveTo>
                <a:lnTo>
                  <a:pt x="5656610" y="0"/>
                </a:lnTo>
                <a:lnTo>
                  <a:pt x="5656610" y="853184"/>
                </a:lnTo>
                <a:lnTo>
                  <a:pt x="0" y="85318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flat" cmpd="sng" w="508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1191">
              <a:srgbClr val="2D3436"/>
            </a:outerShdw>
          </a:effectLst>
        </p:spPr>
      </p:sp>
      <p:sp>
        <p:nvSpPr>
          <p:cNvPr id="333" name="Google Shape;333;p14"/>
          <p:cNvSpPr/>
          <p:nvPr/>
        </p:nvSpPr>
        <p:spPr>
          <a:xfrm>
            <a:off x="490581" y="3135451"/>
            <a:ext cx="315678" cy="315678"/>
          </a:xfrm>
          <a:custGeom>
            <a:rect b="b" l="l" r="r" t="t"/>
            <a:pathLst>
              <a:path extrusionOk="0" h="315678" w="315678">
                <a:moveTo>
                  <a:pt x="0" y="0"/>
                </a:moveTo>
                <a:lnTo>
                  <a:pt x="315678" y="0"/>
                </a:lnTo>
                <a:lnTo>
                  <a:pt x="315678" y="315678"/>
                </a:lnTo>
                <a:lnTo>
                  <a:pt x="0" y="315678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cap="flat" cmpd="sng" w="381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1191">
              <a:srgbClr val="2D3436"/>
            </a:outerShdw>
          </a:effectLst>
        </p:spPr>
      </p:sp>
      <p:sp>
        <p:nvSpPr>
          <p:cNvPr id="334" name="Google Shape;334;p14"/>
          <p:cNvSpPr/>
          <p:nvPr/>
        </p:nvSpPr>
        <p:spPr>
          <a:xfrm>
            <a:off x="625384" y="3190908"/>
            <a:ext cx="110914" cy="204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75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 b="0" i="0" sz="1600" u="none" cap="none" strike="noStrike"/>
          </a:p>
        </p:txBody>
      </p:sp>
      <p:sp>
        <p:nvSpPr>
          <p:cNvPr id="335" name="Google Shape;335;p14"/>
          <p:cNvSpPr/>
          <p:nvPr/>
        </p:nvSpPr>
        <p:spPr>
          <a:xfrm>
            <a:off x="921439" y="3173845"/>
            <a:ext cx="1808750" cy="2388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9" u="none" cap="none" strike="noStrike">
                <a:solidFill>
                  <a:srgbClr val="2D3436"/>
                </a:solidFill>
                <a:latin typeface="Coda"/>
                <a:ea typeface="Coda"/>
                <a:cs typeface="Coda"/>
                <a:sym typeface="Coda"/>
              </a:rPr>
              <a:t>Minimum Wake-Up Time</a:t>
            </a:r>
            <a:endParaRPr b="0" i="0" sz="1600" u="none" cap="none" strike="noStrike"/>
          </a:p>
        </p:txBody>
      </p:sp>
      <p:sp>
        <p:nvSpPr>
          <p:cNvPr id="336" name="Google Shape;336;p14"/>
          <p:cNvSpPr/>
          <p:nvPr/>
        </p:nvSpPr>
        <p:spPr>
          <a:xfrm>
            <a:off x="477783" y="3532182"/>
            <a:ext cx="5485973" cy="204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75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Minimum duration WUR must stay awake during a duty cycle</a:t>
            </a:r>
            <a:endParaRPr b="0" i="0" sz="1600" u="none" cap="none" strike="noStrike"/>
          </a:p>
        </p:txBody>
      </p:sp>
      <p:sp>
        <p:nvSpPr>
          <p:cNvPr id="337" name="Google Shape;337;p14"/>
          <p:cNvSpPr/>
          <p:nvPr/>
        </p:nvSpPr>
        <p:spPr>
          <a:xfrm>
            <a:off x="6182741" y="3003208"/>
            <a:ext cx="5656610" cy="853184"/>
          </a:xfrm>
          <a:custGeom>
            <a:rect b="b" l="l" r="r" t="t"/>
            <a:pathLst>
              <a:path extrusionOk="0" h="853184" w="5656610">
                <a:moveTo>
                  <a:pt x="0" y="0"/>
                </a:moveTo>
                <a:lnTo>
                  <a:pt x="5656610" y="0"/>
                </a:lnTo>
                <a:lnTo>
                  <a:pt x="5656610" y="853184"/>
                </a:lnTo>
                <a:lnTo>
                  <a:pt x="0" y="85318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flat" cmpd="sng" w="508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1191">
              <a:srgbClr val="2D3436"/>
            </a:outerShdw>
          </a:effectLst>
        </p:spPr>
      </p:sp>
      <p:sp>
        <p:nvSpPr>
          <p:cNvPr id="338" name="Google Shape;338;p14"/>
          <p:cNvSpPr/>
          <p:nvPr/>
        </p:nvSpPr>
        <p:spPr>
          <a:xfrm>
            <a:off x="6314984" y="3135451"/>
            <a:ext cx="315678" cy="315678"/>
          </a:xfrm>
          <a:custGeom>
            <a:rect b="b" l="l" r="r" t="t"/>
            <a:pathLst>
              <a:path extrusionOk="0" h="315678" w="315678">
                <a:moveTo>
                  <a:pt x="0" y="0"/>
                </a:moveTo>
                <a:lnTo>
                  <a:pt x="315678" y="0"/>
                </a:lnTo>
                <a:lnTo>
                  <a:pt x="315678" y="315678"/>
                </a:lnTo>
                <a:lnTo>
                  <a:pt x="0" y="315678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cap="flat" cmpd="sng" w="381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1191">
              <a:srgbClr val="2D3436"/>
            </a:outerShdw>
          </a:effectLst>
        </p:spPr>
      </p:sp>
      <p:sp>
        <p:nvSpPr>
          <p:cNvPr id="339" name="Google Shape;339;p14"/>
          <p:cNvSpPr/>
          <p:nvPr/>
        </p:nvSpPr>
        <p:spPr>
          <a:xfrm>
            <a:off x="6436705" y="3190908"/>
            <a:ext cx="136509" cy="204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75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 b="0" i="0" sz="1600" u="none" cap="none" strike="noStrike"/>
          </a:p>
        </p:txBody>
      </p:sp>
      <p:sp>
        <p:nvSpPr>
          <p:cNvPr id="340" name="Google Shape;340;p14"/>
          <p:cNvSpPr/>
          <p:nvPr/>
        </p:nvSpPr>
        <p:spPr>
          <a:xfrm>
            <a:off x="6745842" y="3173845"/>
            <a:ext cx="1348031" cy="2388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9" u="none" cap="none" strike="noStrike">
                <a:solidFill>
                  <a:srgbClr val="2D3436"/>
                </a:solidFill>
                <a:latin typeface="Coda"/>
                <a:ea typeface="Coda"/>
                <a:cs typeface="Coda"/>
                <a:sym typeface="Coda"/>
              </a:rPr>
              <a:t>Duty Cycle Period</a:t>
            </a:r>
            <a:endParaRPr b="0" i="0" sz="1600" u="none" cap="none" strike="noStrike"/>
          </a:p>
        </p:txBody>
      </p:sp>
      <p:sp>
        <p:nvSpPr>
          <p:cNvPr id="341" name="Google Shape;341;p14"/>
          <p:cNvSpPr/>
          <p:nvPr/>
        </p:nvSpPr>
        <p:spPr>
          <a:xfrm>
            <a:off x="6302186" y="3532182"/>
            <a:ext cx="5485973" cy="204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75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How long is one complete work day (awake + sleep)</a:t>
            </a:r>
            <a:endParaRPr b="0" i="0" sz="1600" u="none" cap="none" strike="noStrike"/>
          </a:p>
        </p:txBody>
      </p:sp>
      <p:sp>
        <p:nvSpPr>
          <p:cNvPr id="342" name="Google Shape;342;p14"/>
          <p:cNvSpPr/>
          <p:nvPr/>
        </p:nvSpPr>
        <p:spPr>
          <a:xfrm>
            <a:off x="358337" y="4027029"/>
            <a:ext cx="5656610" cy="853184"/>
          </a:xfrm>
          <a:custGeom>
            <a:rect b="b" l="l" r="r" t="t"/>
            <a:pathLst>
              <a:path extrusionOk="0" h="853184" w="5656610">
                <a:moveTo>
                  <a:pt x="0" y="0"/>
                </a:moveTo>
                <a:lnTo>
                  <a:pt x="5656610" y="0"/>
                </a:lnTo>
                <a:lnTo>
                  <a:pt x="5656610" y="853184"/>
                </a:lnTo>
                <a:lnTo>
                  <a:pt x="0" y="85318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flat" cmpd="sng" w="508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1191">
              <a:srgbClr val="2D3436"/>
            </a:outerShdw>
          </a:effectLst>
        </p:spPr>
      </p:sp>
      <p:sp>
        <p:nvSpPr>
          <p:cNvPr id="343" name="Google Shape;343;p14"/>
          <p:cNvSpPr/>
          <p:nvPr/>
        </p:nvSpPr>
        <p:spPr>
          <a:xfrm>
            <a:off x="490581" y="4159272"/>
            <a:ext cx="315678" cy="315678"/>
          </a:xfrm>
          <a:custGeom>
            <a:rect b="b" l="l" r="r" t="t"/>
            <a:pathLst>
              <a:path extrusionOk="0" h="315678" w="315678">
                <a:moveTo>
                  <a:pt x="0" y="0"/>
                </a:moveTo>
                <a:lnTo>
                  <a:pt x="315678" y="0"/>
                </a:lnTo>
                <a:lnTo>
                  <a:pt x="315678" y="315678"/>
                </a:lnTo>
                <a:lnTo>
                  <a:pt x="0" y="315678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cap="flat" cmpd="sng" w="381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1191">
              <a:srgbClr val="2D3436"/>
            </a:outerShdw>
          </a:effectLst>
        </p:spPr>
      </p:sp>
      <p:sp>
        <p:nvSpPr>
          <p:cNvPr id="344" name="Google Shape;344;p14"/>
          <p:cNvSpPr/>
          <p:nvPr/>
        </p:nvSpPr>
        <p:spPr>
          <a:xfrm>
            <a:off x="610453" y="4214729"/>
            <a:ext cx="145041" cy="204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75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 b="0" i="0" sz="1600" u="none" cap="none" strike="noStrike"/>
          </a:p>
        </p:txBody>
      </p:sp>
      <p:sp>
        <p:nvSpPr>
          <p:cNvPr id="345" name="Google Shape;345;p14"/>
          <p:cNvSpPr/>
          <p:nvPr/>
        </p:nvSpPr>
        <p:spPr>
          <a:xfrm>
            <a:off x="921439" y="4197666"/>
            <a:ext cx="1868473" cy="2388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9" u="none" cap="none" strike="noStrike">
                <a:solidFill>
                  <a:srgbClr val="2D3436"/>
                </a:solidFill>
                <a:latin typeface="Coda"/>
                <a:ea typeface="Coda"/>
                <a:cs typeface="Coda"/>
                <a:sym typeface="Coda"/>
              </a:rPr>
              <a:t>Length of "Awake" Period</a:t>
            </a:r>
            <a:endParaRPr b="0" i="0" sz="1600" u="none" cap="none" strike="noStrike"/>
          </a:p>
        </p:txBody>
      </p:sp>
      <p:sp>
        <p:nvSpPr>
          <p:cNvPr id="346" name="Google Shape;346;p14"/>
          <p:cNvSpPr/>
          <p:nvPr/>
        </p:nvSpPr>
        <p:spPr>
          <a:xfrm>
            <a:off x="477783" y="4556003"/>
            <a:ext cx="5485973" cy="204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75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How long does WUR stay awake during a work day</a:t>
            </a:r>
            <a:endParaRPr b="0" i="0" sz="1600" u="none" cap="none" strike="noStrike"/>
          </a:p>
        </p:txBody>
      </p:sp>
      <p:sp>
        <p:nvSpPr>
          <p:cNvPr id="347" name="Google Shape;347;p14"/>
          <p:cNvSpPr/>
          <p:nvPr/>
        </p:nvSpPr>
        <p:spPr>
          <a:xfrm>
            <a:off x="6182741" y="4027029"/>
            <a:ext cx="5656610" cy="853184"/>
          </a:xfrm>
          <a:custGeom>
            <a:rect b="b" l="l" r="r" t="t"/>
            <a:pathLst>
              <a:path extrusionOk="0" h="853184" w="5656610">
                <a:moveTo>
                  <a:pt x="0" y="0"/>
                </a:moveTo>
                <a:lnTo>
                  <a:pt x="5656610" y="0"/>
                </a:lnTo>
                <a:lnTo>
                  <a:pt x="5656610" y="853184"/>
                </a:lnTo>
                <a:lnTo>
                  <a:pt x="0" y="85318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flat" cmpd="sng" w="508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1191">
              <a:srgbClr val="2D3436"/>
            </a:outerShdw>
          </a:effectLst>
        </p:spPr>
      </p:sp>
      <p:sp>
        <p:nvSpPr>
          <p:cNvPr id="348" name="Google Shape;348;p14"/>
          <p:cNvSpPr/>
          <p:nvPr/>
        </p:nvSpPr>
        <p:spPr>
          <a:xfrm>
            <a:off x="6314984" y="4159272"/>
            <a:ext cx="315678" cy="315678"/>
          </a:xfrm>
          <a:custGeom>
            <a:rect b="b" l="l" r="r" t="t"/>
            <a:pathLst>
              <a:path extrusionOk="0" h="315678" w="315678">
                <a:moveTo>
                  <a:pt x="0" y="0"/>
                </a:moveTo>
                <a:lnTo>
                  <a:pt x="315678" y="0"/>
                </a:lnTo>
                <a:lnTo>
                  <a:pt x="315678" y="315678"/>
                </a:lnTo>
                <a:lnTo>
                  <a:pt x="0" y="315678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cap="flat" cmpd="sng" w="381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1191">
              <a:srgbClr val="2D3436"/>
            </a:outerShdw>
          </a:effectLst>
        </p:spPr>
      </p:sp>
      <p:sp>
        <p:nvSpPr>
          <p:cNvPr id="349" name="Google Shape;349;p14"/>
          <p:cNvSpPr/>
          <p:nvPr/>
        </p:nvSpPr>
        <p:spPr>
          <a:xfrm>
            <a:off x="6436705" y="4214729"/>
            <a:ext cx="136509" cy="204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75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 b="0" i="0" sz="1600" u="none" cap="none" strike="noStrike"/>
          </a:p>
        </p:txBody>
      </p:sp>
      <p:sp>
        <p:nvSpPr>
          <p:cNvPr id="350" name="Google Shape;350;p14"/>
          <p:cNvSpPr/>
          <p:nvPr/>
        </p:nvSpPr>
        <p:spPr>
          <a:xfrm>
            <a:off x="6745842" y="4197666"/>
            <a:ext cx="2320661" cy="2388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9" u="none" cap="none" strike="noStrike">
                <a:solidFill>
                  <a:srgbClr val="2D3436"/>
                </a:solidFill>
                <a:latin typeface="Coda"/>
                <a:ea typeface="Coda"/>
                <a:cs typeface="Coda"/>
                <a:sym typeface="Coda"/>
              </a:rPr>
              <a:t>Starting Time of "Awake" Period</a:t>
            </a:r>
            <a:endParaRPr b="0" i="0" sz="1600" u="none" cap="none" strike="noStrike"/>
          </a:p>
        </p:txBody>
      </p:sp>
      <p:sp>
        <p:nvSpPr>
          <p:cNvPr id="351" name="Google Shape;351;p14"/>
          <p:cNvSpPr/>
          <p:nvPr/>
        </p:nvSpPr>
        <p:spPr>
          <a:xfrm>
            <a:off x="6302186" y="4556003"/>
            <a:ext cx="5485973" cy="204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75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When does the awake period begin (synchronization)</a:t>
            </a:r>
            <a:endParaRPr b="0" i="0" sz="1600" u="none" cap="none" strike="noStrike"/>
          </a:p>
        </p:txBody>
      </p:sp>
      <p:sp>
        <p:nvSpPr>
          <p:cNvPr id="352" name="Google Shape;352;p14"/>
          <p:cNvSpPr/>
          <p:nvPr/>
        </p:nvSpPr>
        <p:spPr>
          <a:xfrm>
            <a:off x="358337" y="5050850"/>
            <a:ext cx="11475325" cy="1450413"/>
          </a:xfrm>
          <a:custGeom>
            <a:rect b="b" l="l" r="r" t="t"/>
            <a:pathLst>
              <a:path extrusionOk="0" h="1450413" w="11475325">
                <a:moveTo>
                  <a:pt x="0" y="0"/>
                </a:moveTo>
                <a:lnTo>
                  <a:pt x="11475325" y="0"/>
                </a:lnTo>
                <a:lnTo>
                  <a:pt x="11475325" y="1450413"/>
                </a:lnTo>
                <a:lnTo>
                  <a:pt x="0" y="1450413"/>
                </a:lnTo>
                <a:lnTo>
                  <a:pt x="0" y="0"/>
                </a:lnTo>
                <a:close/>
              </a:path>
            </a:pathLst>
          </a:custGeom>
          <a:solidFill>
            <a:srgbClr val="2D3436"/>
          </a:solidFill>
          <a:ln cap="flat" cmpd="sng" w="50800">
            <a:solidFill>
              <a:srgbClr val="FFE66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1191">
              <a:srgbClr val="2D3436"/>
            </a:outerShdw>
          </a:effectLst>
        </p:spPr>
      </p:sp>
      <p:sp>
        <p:nvSpPr>
          <p:cNvPr id="353" name="Google Shape;353;p14"/>
          <p:cNvSpPr/>
          <p:nvPr/>
        </p:nvSpPr>
        <p:spPr>
          <a:xfrm>
            <a:off x="435124" y="5170295"/>
            <a:ext cx="11321752" cy="2388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44" u="none" cap="none" strike="noStrike">
                <a:solidFill>
                  <a:srgbClr val="FFE66D"/>
                </a:solidFill>
                <a:latin typeface="Coda"/>
                <a:ea typeface="Coda"/>
                <a:cs typeface="Coda"/>
                <a:sym typeface="Coda"/>
              </a:rPr>
              <a:t>The Negotiation Process</a:t>
            </a:r>
            <a:endParaRPr b="0" i="0" sz="1600" u="none" cap="none" strike="noStrike"/>
          </a:p>
        </p:txBody>
      </p:sp>
      <p:sp>
        <p:nvSpPr>
          <p:cNvPr id="354" name="Google Shape;354;p14"/>
          <p:cNvSpPr/>
          <p:nvPr/>
        </p:nvSpPr>
        <p:spPr>
          <a:xfrm>
            <a:off x="490581" y="5490239"/>
            <a:ext cx="2704593" cy="878780"/>
          </a:xfrm>
          <a:custGeom>
            <a:rect b="b" l="l" r="r" t="t"/>
            <a:pathLst>
              <a:path extrusionOk="0" h="878780" w="2704593">
                <a:moveTo>
                  <a:pt x="0" y="0"/>
                </a:moveTo>
                <a:lnTo>
                  <a:pt x="2704593" y="0"/>
                </a:lnTo>
                <a:lnTo>
                  <a:pt x="2704593" y="878780"/>
                </a:lnTo>
                <a:lnTo>
                  <a:pt x="0" y="8787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flat" cmpd="sng" w="381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5" name="Google Shape;355;p14"/>
          <p:cNvSpPr/>
          <p:nvPr/>
        </p:nvSpPr>
        <p:spPr>
          <a:xfrm>
            <a:off x="1716322" y="5579824"/>
            <a:ext cx="255955" cy="255955"/>
          </a:xfrm>
          <a:custGeom>
            <a:rect b="b" l="l" r="r" t="t"/>
            <a:pathLst>
              <a:path extrusionOk="0" h="255955" w="255955">
                <a:moveTo>
                  <a:pt x="0" y="0"/>
                </a:moveTo>
                <a:lnTo>
                  <a:pt x="255955" y="0"/>
                </a:lnTo>
                <a:lnTo>
                  <a:pt x="255955" y="255955"/>
                </a:lnTo>
                <a:lnTo>
                  <a:pt x="0" y="255955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cap="flat" cmpd="sng" w="254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1191">
              <a:srgbClr val="2D3436"/>
            </a:outerShdw>
          </a:effectLst>
        </p:spPr>
      </p:sp>
      <p:sp>
        <p:nvSpPr>
          <p:cNvPr id="356" name="Google Shape;356;p14"/>
          <p:cNvSpPr/>
          <p:nvPr/>
        </p:nvSpPr>
        <p:spPr>
          <a:xfrm>
            <a:off x="1794246" y="5622483"/>
            <a:ext cx="102382" cy="170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41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 b="0" i="0" sz="1600" u="none" cap="none" strike="noStrike"/>
          </a:p>
        </p:txBody>
      </p:sp>
      <p:sp>
        <p:nvSpPr>
          <p:cNvPr id="357" name="Google Shape;357;p14"/>
          <p:cNvSpPr/>
          <p:nvPr/>
        </p:nvSpPr>
        <p:spPr>
          <a:xfrm>
            <a:off x="537506" y="5878438"/>
            <a:ext cx="2610743" cy="204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75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 advertises Min Wake-Up Time</a:t>
            </a:r>
            <a:endParaRPr b="0" i="0" sz="1600" u="none" cap="none" strike="noStrike"/>
          </a:p>
        </p:txBody>
      </p:sp>
      <p:sp>
        <p:nvSpPr>
          <p:cNvPr id="358" name="Google Shape;358;p14"/>
          <p:cNvSpPr/>
          <p:nvPr/>
        </p:nvSpPr>
        <p:spPr>
          <a:xfrm>
            <a:off x="3325996" y="5490239"/>
            <a:ext cx="2704593" cy="878780"/>
          </a:xfrm>
          <a:custGeom>
            <a:rect b="b" l="l" r="r" t="t"/>
            <a:pathLst>
              <a:path extrusionOk="0" h="878780" w="2704593">
                <a:moveTo>
                  <a:pt x="0" y="0"/>
                </a:moveTo>
                <a:lnTo>
                  <a:pt x="2704593" y="0"/>
                </a:lnTo>
                <a:lnTo>
                  <a:pt x="2704593" y="878780"/>
                </a:lnTo>
                <a:lnTo>
                  <a:pt x="0" y="8787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flat" cmpd="sng" w="381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" name="Google Shape;359;p14"/>
          <p:cNvSpPr/>
          <p:nvPr/>
        </p:nvSpPr>
        <p:spPr>
          <a:xfrm>
            <a:off x="4551737" y="5579824"/>
            <a:ext cx="255955" cy="255955"/>
          </a:xfrm>
          <a:custGeom>
            <a:rect b="b" l="l" r="r" t="t"/>
            <a:pathLst>
              <a:path extrusionOk="0" h="255955" w="255955">
                <a:moveTo>
                  <a:pt x="0" y="0"/>
                </a:moveTo>
                <a:lnTo>
                  <a:pt x="255955" y="0"/>
                </a:lnTo>
                <a:lnTo>
                  <a:pt x="255955" y="255955"/>
                </a:lnTo>
                <a:lnTo>
                  <a:pt x="0" y="255955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cap="flat" cmpd="sng" w="254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1191">
              <a:srgbClr val="2D3436"/>
            </a:outerShdw>
          </a:effectLst>
        </p:spPr>
      </p:sp>
      <p:sp>
        <p:nvSpPr>
          <p:cNvPr id="360" name="Google Shape;360;p14"/>
          <p:cNvSpPr/>
          <p:nvPr/>
        </p:nvSpPr>
        <p:spPr>
          <a:xfrm>
            <a:off x="4618285" y="5622483"/>
            <a:ext cx="119446" cy="170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41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 b="0" i="0" sz="1600" u="none" cap="none" strike="noStrike"/>
          </a:p>
        </p:txBody>
      </p:sp>
      <p:sp>
        <p:nvSpPr>
          <p:cNvPr id="361" name="Google Shape;361;p14"/>
          <p:cNvSpPr/>
          <p:nvPr/>
        </p:nvSpPr>
        <p:spPr>
          <a:xfrm>
            <a:off x="3372921" y="5878438"/>
            <a:ext cx="2610743" cy="409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75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STA replies with Duty Cycle &amp; Awake Length</a:t>
            </a:r>
            <a:endParaRPr b="0" i="0" sz="1600" u="none" cap="none" strike="noStrike"/>
          </a:p>
        </p:txBody>
      </p:sp>
      <p:sp>
        <p:nvSpPr>
          <p:cNvPr id="362" name="Google Shape;362;p14"/>
          <p:cNvSpPr/>
          <p:nvPr/>
        </p:nvSpPr>
        <p:spPr>
          <a:xfrm>
            <a:off x="6161411" y="5490239"/>
            <a:ext cx="2704593" cy="878780"/>
          </a:xfrm>
          <a:custGeom>
            <a:rect b="b" l="l" r="r" t="t"/>
            <a:pathLst>
              <a:path extrusionOk="0" h="878780" w="2704593">
                <a:moveTo>
                  <a:pt x="0" y="0"/>
                </a:moveTo>
                <a:lnTo>
                  <a:pt x="2704593" y="0"/>
                </a:lnTo>
                <a:lnTo>
                  <a:pt x="2704593" y="878780"/>
                </a:lnTo>
                <a:lnTo>
                  <a:pt x="0" y="8787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flat" cmpd="sng" w="381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3" name="Google Shape;363;p14"/>
          <p:cNvSpPr/>
          <p:nvPr/>
        </p:nvSpPr>
        <p:spPr>
          <a:xfrm>
            <a:off x="7387152" y="5579824"/>
            <a:ext cx="255955" cy="255955"/>
          </a:xfrm>
          <a:custGeom>
            <a:rect b="b" l="l" r="r" t="t"/>
            <a:pathLst>
              <a:path extrusionOk="0" h="255955" w="255955">
                <a:moveTo>
                  <a:pt x="0" y="0"/>
                </a:moveTo>
                <a:lnTo>
                  <a:pt x="255955" y="0"/>
                </a:lnTo>
                <a:lnTo>
                  <a:pt x="255955" y="255955"/>
                </a:lnTo>
                <a:lnTo>
                  <a:pt x="0" y="255955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cap="flat" cmpd="sng" w="254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1191">
              <a:srgbClr val="2D3436"/>
            </a:outerShdw>
          </a:effectLst>
        </p:spPr>
      </p:sp>
      <p:sp>
        <p:nvSpPr>
          <p:cNvPr id="364" name="Google Shape;364;p14"/>
          <p:cNvSpPr/>
          <p:nvPr/>
        </p:nvSpPr>
        <p:spPr>
          <a:xfrm>
            <a:off x="7452136" y="5622483"/>
            <a:ext cx="127978" cy="170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41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 b="0" i="0" sz="1600" u="none" cap="none" strike="noStrike"/>
          </a:p>
        </p:txBody>
      </p:sp>
      <p:sp>
        <p:nvSpPr>
          <p:cNvPr id="365" name="Google Shape;365;p14"/>
          <p:cNvSpPr/>
          <p:nvPr/>
        </p:nvSpPr>
        <p:spPr>
          <a:xfrm>
            <a:off x="6208336" y="5878438"/>
            <a:ext cx="2610743" cy="204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75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 replies with Starting Time</a:t>
            </a:r>
            <a:endParaRPr b="0" i="0" sz="1600" u="none" cap="none" strike="noStrike"/>
          </a:p>
        </p:txBody>
      </p:sp>
      <p:sp>
        <p:nvSpPr>
          <p:cNvPr id="366" name="Google Shape;366;p14"/>
          <p:cNvSpPr/>
          <p:nvPr/>
        </p:nvSpPr>
        <p:spPr>
          <a:xfrm>
            <a:off x="8996826" y="5490239"/>
            <a:ext cx="2704593" cy="878780"/>
          </a:xfrm>
          <a:custGeom>
            <a:rect b="b" l="l" r="r" t="t"/>
            <a:pathLst>
              <a:path extrusionOk="0" h="878780" w="2704593">
                <a:moveTo>
                  <a:pt x="0" y="0"/>
                </a:moveTo>
                <a:lnTo>
                  <a:pt x="2704593" y="0"/>
                </a:lnTo>
                <a:lnTo>
                  <a:pt x="2704593" y="878780"/>
                </a:lnTo>
                <a:lnTo>
                  <a:pt x="0" y="878780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cap="flat" cmpd="sng" w="381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7" name="Google Shape;367;p14"/>
          <p:cNvSpPr/>
          <p:nvPr/>
        </p:nvSpPr>
        <p:spPr>
          <a:xfrm>
            <a:off x="10222566" y="5579824"/>
            <a:ext cx="255955" cy="255955"/>
          </a:xfrm>
          <a:custGeom>
            <a:rect b="b" l="l" r="r" t="t"/>
            <a:pathLst>
              <a:path extrusionOk="0" h="255955" w="255955">
                <a:moveTo>
                  <a:pt x="0" y="0"/>
                </a:moveTo>
                <a:lnTo>
                  <a:pt x="255955" y="0"/>
                </a:lnTo>
                <a:lnTo>
                  <a:pt x="255955" y="255955"/>
                </a:lnTo>
                <a:lnTo>
                  <a:pt x="0" y="255955"/>
                </a:lnTo>
                <a:lnTo>
                  <a:pt x="0" y="0"/>
                </a:lnTo>
                <a:close/>
              </a:path>
            </a:pathLst>
          </a:custGeom>
          <a:solidFill>
            <a:srgbClr val="2D3436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1191">
              <a:srgbClr val="2D3436"/>
            </a:outerShdw>
          </a:effectLst>
        </p:spPr>
      </p:sp>
      <p:sp>
        <p:nvSpPr>
          <p:cNvPr id="368" name="Google Shape;368;p14"/>
          <p:cNvSpPr/>
          <p:nvPr/>
        </p:nvSpPr>
        <p:spPr>
          <a:xfrm>
            <a:off x="10300420" y="5648078"/>
            <a:ext cx="104515" cy="119446"/>
          </a:xfrm>
          <a:custGeom>
            <a:rect b="b" l="l" r="r" t="t"/>
            <a:pathLst>
              <a:path extrusionOk="0" h="119446" w="104515">
                <a:moveTo>
                  <a:pt x="101436" y="16354"/>
                </a:moveTo>
                <a:cubicBezTo>
                  <a:pt x="104772" y="18780"/>
                  <a:pt x="105518" y="23446"/>
                  <a:pt x="103092" y="26782"/>
                </a:cubicBezTo>
                <a:lnTo>
                  <a:pt x="43369" y="108901"/>
                </a:lnTo>
                <a:cubicBezTo>
                  <a:pt x="42086" y="110674"/>
                  <a:pt x="40103" y="111770"/>
                  <a:pt x="37910" y="111957"/>
                </a:cubicBezTo>
                <a:cubicBezTo>
                  <a:pt x="35717" y="112144"/>
                  <a:pt x="33594" y="111327"/>
                  <a:pt x="32054" y="109787"/>
                </a:cubicBezTo>
                <a:lnTo>
                  <a:pt x="2193" y="79926"/>
                </a:lnTo>
                <a:cubicBezTo>
                  <a:pt x="-723" y="77010"/>
                  <a:pt x="-723" y="72274"/>
                  <a:pt x="2193" y="69358"/>
                </a:cubicBezTo>
                <a:cubicBezTo>
                  <a:pt x="5109" y="66442"/>
                  <a:pt x="9845" y="66442"/>
                  <a:pt x="12761" y="69358"/>
                </a:cubicBezTo>
                <a:lnTo>
                  <a:pt x="36440" y="93037"/>
                </a:lnTo>
                <a:lnTo>
                  <a:pt x="91031" y="17987"/>
                </a:lnTo>
                <a:cubicBezTo>
                  <a:pt x="93457" y="14651"/>
                  <a:pt x="98123" y="13904"/>
                  <a:pt x="101459" y="1633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4"/>
          <p:cNvSpPr/>
          <p:nvPr/>
        </p:nvSpPr>
        <p:spPr>
          <a:xfrm>
            <a:off x="9043751" y="5878438"/>
            <a:ext cx="2610743" cy="204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75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Negotiation Complete!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5F5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5"/>
          <p:cNvSpPr/>
          <p:nvPr/>
        </p:nvSpPr>
        <p:spPr>
          <a:xfrm rot="720000">
            <a:off x="232004" y="156451"/>
            <a:ext cx="878277" cy="878277"/>
          </a:xfrm>
          <a:custGeom>
            <a:rect b="b" l="l" r="r" t="t"/>
            <a:pathLst>
              <a:path extrusionOk="0" h="878277" w="878277">
                <a:moveTo>
                  <a:pt x="0" y="0"/>
                </a:moveTo>
                <a:lnTo>
                  <a:pt x="878277" y="0"/>
                </a:lnTo>
                <a:lnTo>
                  <a:pt x="878277" y="878277"/>
                </a:lnTo>
                <a:lnTo>
                  <a:pt x="0" y="878277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cap="flat" cmpd="sng" w="381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6663">
              <a:srgbClr val="2D3436"/>
            </a:outerShdw>
          </a:effectLst>
        </p:spPr>
      </p:sp>
      <p:sp>
        <p:nvSpPr>
          <p:cNvPr id="376" name="Google Shape;376;p15"/>
          <p:cNvSpPr/>
          <p:nvPr/>
        </p:nvSpPr>
        <p:spPr>
          <a:xfrm rot="-719078">
            <a:off x="850294" y="5042668"/>
            <a:ext cx="726653" cy="726653"/>
          </a:xfrm>
          <a:custGeom>
            <a:rect b="b" l="l" r="r" t="t"/>
            <a:pathLst>
              <a:path extrusionOk="0" h="727176" w="727176">
                <a:moveTo>
                  <a:pt x="0" y="0"/>
                </a:moveTo>
                <a:lnTo>
                  <a:pt x="727176" y="0"/>
                </a:lnTo>
                <a:lnTo>
                  <a:pt x="727176" y="727176"/>
                </a:lnTo>
                <a:lnTo>
                  <a:pt x="0" y="727176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cap="flat" cmpd="sng" w="381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6663">
              <a:srgbClr val="2D3436"/>
            </a:outerShdw>
          </a:effectLst>
        </p:spPr>
      </p:sp>
      <p:sp>
        <p:nvSpPr>
          <p:cNvPr id="377" name="Google Shape;377;p15"/>
          <p:cNvSpPr/>
          <p:nvPr/>
        </p:nvSpPr>
        <p:spPr>
          <a:xfrm>
            <a:off x="391919" y="391919"/>
            <a:ext cx="1728223" cy="406085"/>
          </a:xfrm>
          <a:custGeom>
            <a:rect b="b" l="l" r="r" t="t"/>
            <a:pathLst>
              <a:path extrusionOk="0" h="406085" w="1728223">
                <a:moveTo>
                  <a:pt x="0" y="0"/>
                </a:moveTo>
                <a:lnTo>
                  <a:pt x="1728223" y="0"/>
                </a:lnTo>
                <a:lnTo>
                  <a:pt x="1728223" y="406085"/>
                </a:lnTo>
                <a:lnTo>
                  <a:pt x="0" y="406085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cap="flat" cmpd="sng" w="381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6663">
              <a:srgbClr val="2D3436"/>
            </a:outerShdw>
          </a:effectLst>
        </p:spPr>
      </p:sp>
      <p:sp>
        <p:nvSpPr>
          <p:cNvPr id="378" name="Google Shape;378;p15"/>
          <p:cNvSpPr/>
          <p:nvPr/>
        </p:nvSpPr>
        <p:spPr>
          <a:xfrm>
            <a:off x="557187" y="505246"/>
            <a:ext cx="1475758" cy="179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9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SYNCHRONIZATION</a:t>
            </a:r>
            <a:endParaRPr b="0" i="0" sz="1600" u="none" cap="none" strike="noStrike"/>
          </a:p>
        </p:txBody>
      </p:sp>
      <p:sp>
        <p:nvSpPr>
          <p:cNvPr id="379" name="Google Shape;379;p15"/>
          <p:cNvSpPr/>
          <p:nvPr/>
        </p:nvSpPr>
        <p:spPr>
          <a:xfrm>
            <a:off x="377751" y="1228050"/>
            <a:ext cx="8172300" cy="45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69" u="none" cap="none" strike="noStrike">
                <a:solidFill>
                  <a:srgbClr val="2D3436"/>
                </a:solidFill>
                <a:latin typeface="Coda"/>
                <a:ea typeface="Coda"/>
                <a:cs typeface="Coda"/>
                <a:sym typeface="Coda"/>
              </a:rPr>
              <a:t>WUR Beacon: Maintaining Connection</a:t>
            </a:r>
            <a:endParaRPr b="0" i="0" sz="1600" u="none" cap="none" strike="noStrike"/>
          </a:p>
        </p:txBody>
      </p:sp>
      <p:sp>
        <p:nvSpPr>
          <p:cNvPr id="380" name="Google Shape;380;p15"/>
          <p:cNvSpPr/>
          <p:nvPr/>
        </p:nvSpPr>
        <p:spPr>
          <a:xfrm>
            <a:off x="396641" y="2086100"/>
            <a:ext cx="5562423" cy="2587613"/>
          </a:xfrm>
          <a:custGeom>
            <a:rect b="b" l="l" r="r" t="t"/>
            <a:pathLst>
              <a:path extrusionOk="0" h="2587613" w="5562423">
                <a:moveTo>
                  <a:pt x="0" y="0"/>
                </a:moveTo>
                <a:lnTo>
                  <a:pt x="5562423" y="0"/>
                </a:lnTo>
                <a:lnTo>
                  <a:pt x="5562423" y="2587613"/>
                </a:lnTo>
                <a:lnTo>
                  <a:pt x="0" y="258761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flat" cmpd="sng" w="508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6663">
              <a:srgbClr val="2D3436"/>
            </a:outerShdw>
          </a:effectLst>
        </p:spPr>
      </p:sp>
      <p:sp>
        <p:nvSpPr>
          <p:cNvPr id="381" name="Google Shape;381;p15"/>
          <p:cNvSpPr/>
          <p:nvPr/>
        </p:nvSpPr>
        <p:spPr>
          <a:xfrm>
            <a:off x="618572" y="2308030"/>
            <a:ext cx="424973" cy="424973"/>
          </a:xfrm>
          <a:custGeom>
            <a:rect b="b" l="l" r="r" t="t"/>
            <a:pathLst>
              <a:path extrusionOk="0" h="424973" w="424973">
                <a:moveTo>
                  <a:pt x="0" y="0"/>
                </a:moveTo>
                <a:lnTo>
                  <a:pt x="424973" y="0"/>
                </a:lnTo>
                <a:lnTo>
                  <a:pt x="424973" y="424973"/>
                </a:lnTo>
                <a:lnTo>
                  <a:pt x="0" y="424973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cap="flat" cmpd="sng" w="381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6663">
              <a:srgbClr val="2D3436"/>
            </a:outerShdw>
          </a:effectLst>
        </p:spPr>
      </p:sp>
      <p:sp>
        <p:nvSpPr>
          <p:cNvPr id="382" name="Google Shape;382;p15"/>
          <p:cNvSpPr/>
          <p:nvPr/>
        </p:nvSpPr>
        <p:spPr>
          <a:xfrm>
            <a:off x="724815" y="2426078"/>
            <a:ext cx="212486" cy="188877"/>
          </a:xfrm>
          <a:custGeom>
            <a:rect b="b" l="l" r="r" t="t"/>
            <a:pathLst>
              <a:path extrusionOk="0" h="188877" w="212486">
                <a:moveTo>
                  <a:pt x="106243" y="35414"/>
                </a:moveTo>
                <a:cubicBezTo>
                  <a:pt x="72710" y="35414"/>
                  <a:pt x="42350" y="48695"/>
                  <a:pt x="20031" y="70312"/>
                </a:cubicBezTo>
                <a:cubicBezTo>
                  <a:pt x="15346" y="74850"/>
                  <a:pt x="7858" y="74739"/>
                  <a:pt x="3357" y="70054"/>
                </a:cubicBezTo>
                <a:cubicBezTo>
                  <a:pt x="-1144" y="65369"/>
                  <a:pt x="-1070" y="57880"/>
                  <a:pt x="3615" y="53380"/>
                </a:cubicBezTo>
                <a:cubicBezTo>
                  <a:pt x="30139" y="27631"/>
                  <a:pt x="66365" y="11805"/>
                  <a:pt x="106243" y="11805"/>
                </a:cubicBezTo>
                <a:cubicBezTo>
                  <a:pt x="146121" y="11805"/>
                  <a:pt x="182347" y="27631"/>
                  <a:pt x="208908" y="53380"/>
                </a:cubicBezTo>
                <a:cubicBezTo>
                  <a:pt x="213593" y="57917"/>
                  <a:pt x="213704" y="65406"/>
                  <a:pt x="209166" y="70054"/>
                </a:cubicBezTo>
                <a:cubicBezTo>
                  <a:pt x="204629" y="74702"/>
                  <a:pt x="197140" y="74850"/>
                  <a:pt x="192492" y="70312"/>
                </a:cubicBezTo>
                <a:cubicBezTo>
                  <a:pt x="170137" y="48695"/>
                  <a:pt x="139776" y="35414"/>
                  <a:pt x="106243" y="35414"/>
                </a:cubicBezTo>
                <a:close/>
                <a:moveTo>
                  <a:pt x="88536" y="159365"/>
                </a:moveTo>
                <a:cubicBezTo>
                  <a:pt x="88536" y="149592"/>
                  <a:pt x="96470" y="141658"/>
                  <a:pt x="106243" y="141658"/>
                </a:cubicBezTo>
                <a:cubicBezTo>
                  <a:pt x="116016" y="141658"/>
                  <a:pt x="123950" y="149592"/>
                  <a:pt x="123950" y="159365"/>
                </a:cubicBezTo>
                <a:cubicBezTo>
                  <a:pt x="123950" y="169138"/>
                  <a:pt x="116016" y="177072"/>
                  <a:pt x="106243" y="177072"/>
                </a:cubicBezTo>
                <a:cubicBezTo>
                  <a:pt x="96470" y="177072"/>
                  <a:pt x="88536" y="169138"/>
                  <a:pt x="88536" y="159365"/>
                </a:cubicBezTo>
                <a:close/>
                <a:moveTo>
                  <a:pt x="61975" y="120335"/>
                </a:moveTo>
                <a:cubicBezTo>
                  <a:pt x="57659" y="125242"/>
                  <a:pt x="50207" y="125684"/>
                  <a:pt x="45301" y="121368"/>
                </a:cubicBezTo>
                <a:cubicBezTo>
                  <a:pt x="40395" y="117052"/>
                  <a:pt x="39952" y="109600"/>
                  <a:pt x="44268" y="104694"/>
                </a:cubicBezTo>
                <a:cubicBezTo>
                  <a:pt x="59393" y="87577"/>
                  <a:pt x="81564" y="76731"/>
                  <a:pt x="106243" y="76731"/>
                </a:cubicBezTo>
                <a:cubicBezTo>
                  <a:pt x="130923" y="76731"/>
                  <a:pt x="153094" y="87577"/>
                  <a:pt x="168218" y="104694"/>
                </a:cubicBezTo>
                <a:cubicBezTo>
                  <a:pt x="172535" y="109600"/>
                  <a:pt x="172055" y="117052"/>
                  <a:pt x="167186" y="121368"/>
                </a:cubicBezTo>
                <a:cubicBezTo>
                  <a:pt x="162316" y="125684"/>
                  <a:pt x="154827" y="125205"/>
                  <a:pt x="150511" y="120335"/>
                </a:cubicBezTo>
                <a:cubicBezTo>
                  <a:pt x="139666" y="108051"/>
                  <a:pt x="123877" y="100341"/>
                  <a:pt x="106243" y="100341"/>
                </a:cubicBezTo>
                <a:cubicBezTo>
                  <a:pt x="88610" y="100341"/>
                  <a:pt x="72821" y="108051"/>
                  <a:pt x="61975" y="12033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5"/>
          <p:cNvSpPr/>
          <p:nvPr/>
        </p:nvSpPr>
        <p:spPr>
          <a:xfrm>
            <a:off x="1171036" y="2369415"/>
            <a:ext cx="1539300" cy="30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85" u="none" cap="none" strike="noStrike">
                <a:solidFill>
                  <a:srgbClr val="2D3436"/>
                </a:solidFill>
                <a:latin typeface="Coda"/>
                <a:ea typeface="Coda"/>
                <a:cs typeface="Coda"/>
                <a:sym typeface="Coda"/>
              </a:rPr>
              <a:t>Normal 802.11</a:t>
            </a:r>
            <a:endParaRPr b="0" i="0" sz="1600" u="none" cap="none" strike="noStrike"/>
          </a:p>
        </p:txBody>
      </p:sp>
      <p:sp>
        <p:nvSpPr>
          <p:cNvPr id="384" name="Google Shape;384;p15"/>
          <p:cNvSpPr/>
          <p:nvPr/>
        </p:nvSpPr>
        <p:spPr>
          <a:xfrm>
            <a:off x="618572" y="2874661"/>
            <a:ext cx="5118562" cy="783839"/>
          </a:xfrm>
          <a:custGeom>
            <a:rect b="b" l="l" r="r" t="t"/>
            <a:pathLst>
              <a:path extrusionOk="0" h="783839" w="5118562">
                <a:moveTo>
                  <a:pt x="0" y="0"/>
                </a:moveTo>
                <a:lnTo>
                  <a:pt x="5118562" y="0"/>
                </a:lnTo>
                <a:lnTo>
                  <a:pt x="5118562" y="783839"/>
                </a:lnTo>
                <a:lnTo>
                  <a:pt x="0" y="783839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cap="flat" cmpd="sng" w="381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6663">
              <a:srgbClr val="2D3436"/>
            </a:outerShdw>
          </a:effectLst>
        </p:spPr>
      </p:sp>
      <p:sp>
        <p:nvSpPr>
          <p:cNvPr id="385" name="Google Shape;385;p15"/>
          <p:cNvSpPr/>
          <p:nvPr/>
        </p:nvSpPr>
        <p:spPr>
          <a:xfrm>
            <a:off x="746064" y="3002153"/>
            <a:ext cx="4948500" cy="26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39" u="none" cap="none" strike="noStrike">
                <a:solidFill>
                  <a:srgbClr val="2D3436"/>
                </a:solidFill>
                <a:latin typeface="Coda"/>
                <a:ea typeface="Coda"/>
                <a:cs typeface="Coda"/>
                <a:sym typeface="Coda"/>
              </a:rPr>
              <a:t>Beacon Frames</a:t>
            </a:r>
            <a:endParaRPr b="0" i="0" sz="1600" u="none" cap="none" strike="noStrike"/>
          </a:p>
        </p:txBody>
      </p:sp>
      <p:sp>
        <p:nvSpPr>
          <p:cNvPr id="386" name="Google Shape;386;p15"/>
          <p:cNvSpPr/>
          <p:nvPr/>
        </p:nvSpPr>
        <p:spPr>
          <a:xfrm>
            <a:off x="746064" y="3304356"/>
            <a:ext cx="49392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9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 broadcasts periodically with 64-bit timestamp</a:t>
            </a:r>
            <a:endParaRPr b="0" i="0" sz="1600" u="none" cap="none" strike="noStrike"/>
          </a:p>
        </p:txBody>
      </p:sp>
      <p:sp>
        <p:nvSpPr>
          <p:cNvPr id="387" name="Google Shape;387;p15"/>
          <p:cNvSpPr/>
          <p:nvPr/>
        </p:nvSpPr>
        <p:spPr>
          <a:xfrm>
            <a:off x="613850" y="3795435"/>
            <a:ext cx="283315" cy="283315"/>
          </a:xfrm>
          <a:custGeom>
            <a:rect b="b" l="l" r="r" t="t"/>
            <a:pathLst>
              <a:path extrusionOk="0" h="283315" w="283315">
                <a:moveTo>
                  <a:pt x="0" y="0"/>
                </a:moveTo>
                <a:lnTo>
                  <a:pt x="283315" y="0"/>
                </a:lnTo>
                <a:lnTo>
                  <a:pt x="283315" y="283315"/>
                </a:lnTo>
                <a:lnTo>
                  <a:pt x="0" y="283315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cap="flat" cmpd="sng" w="254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6663">
              <a:srgbClr val="2D3436"/>
            </a:outerShdw>
          </a:effectLst>
        </p:spPr>
      </p:sp>
      <p:sp>
        <p:nvSpPr>
          <p:cNvPr id="388" name="Google Shape;388;p15"/>
          <p:cNvSpPr/>
          <p:nvPr/>
        </p:nvSpPr>
        <p:spPr>
          <a:xfrm>
            <a:off x="691761" y="3870986"/>
            <a:ext cx="132214" cy="132214"/>
          </a:xfrm>
          <a:custGeom>
            <a:rect b="b" l="l" r="r" t="t"/>
            <a:pathLst>
              <a:path extrusionOk="0" h="132214" w="132214">
                <a:moveTo>
                  <a:pt x="66107" y="0"/>
                </a:moveTo>
                <a:cubicBezTo>
                  <a:pt x="102592" y="0"/>
                  <a:pt x="132214" y="29622"/>
                  <a:pt x="132214" y="66107"/>
                </a:cubicBezTo>
                <a:cubicBezTo>
                  <a:pt x="132214" y="102592"/>
                  <a:pt x="102592" y="132214"/>
                  <a:pt x="66107" y="132214"/>
                </a:cubicBezTo>
                <a:cubicBezTo>
                  <a:pt x="29622" y="132214"/>
                  <a:pt x="0" y="102592"/>
                  <a:pt x="0" y="66107"/>
                </a:cubicBezTo>
                <a:cubicBezTo>
                  <a:pt x="0" y="29622"/>
                  <a:pt x="29622" y="0"/>
                  <a:pt x="66107" y="0"/>
                </a:cubicBezTo>
                <a:close/>
                <a:moveTo>
                  <a:pt x="59909" y="30988"/>
                </a:moveTo>
                <a:lnTo>
                  <a:pt x="59909" y="66107"/>
                </a:lnTo>
                <a:cubicBezTo>
                  <a:pt x="59909" y="68173"/>
                  <a:pt x="60942" y="70109"/>
                  <a:pt x="62672" y="71271"/>
                </a:cubicBezTo>
                <a:lnTo>
                  <a:pt x="87463" y="87798"/>
                </a:lnTo>
                <a:cubicBezTo>
                  <a:pt x="90303" y="89709"/>
                  <a:pt x="94151" y="88934"/>
                  <a:pt x="96062" y="86068"/>
                </a:cubicBezTo>
                <a:cubicBezTo>
                  <a:pt x="97972" y="83202"/>
                  <a:pt x="97198" y="79380"/>
                  <a:pt x="94331" y="77469"/>
                </a:cubicBezTo>
                <a:lnTo>
                  <a:pt x="72304" y="62802"/>
                </a:lnTo>
                <a:lnTo>
                  <a:pt x="72304" y="30988"/>
                </a:lnTo>
                <a:cubicBezTo>
                  <a:pt x="72304" y="27553"/>
                  <a:pt x="69541" y="24790"/>
                  <a:pt x="66107" y="24790"/>
                </a:cubicBezTo>
                <a:cubicBezTo>
                  <a:pt x="62672" y="24790"/>
                  <a:pt x="59909" y="27553"/>
                  <a:pt x="59909" y="3098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5"/>
          <p:cNvSpPr/>
          <p:nvPr/>
        </p:nvSpPr>
        <p:spPr>
          <a:xfrm>
            <a:off x="982160" y="3823767"/>
            <a:ext cx="28047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9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Synchronize</a:t>
            </a:r>
            <a:r>
              <a:rPr b="0" i="0" lang="en-US" sz="119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all devices to common clock</a:t>
            </a:r>
            <a:endParaRPr b="0" i="0" sz="1600" u="none" cap="none" strike="noStrike"/>
          </a:p>
        </p:txBody>
      </p:sp>
      <p:sp>
        <p:nvSpPr>
          <p:cNvPr id="390" name="Google Shape;390;p15"/>
          <p:cNvSpPr/>
          <p:nvPr/>
        </p:nvSpPr>
        <p:spPr>
          <a:xfrm>
            <a:off x="613850" y="4173189"/>
            <a:ext cx="283315" cy="283315"/>
          </a:xfrm>
          <a:custGeom>
            <a:rect b="b" l="l" r="r" t="t"/>
            <a:pathLst>
              <a:path extrusionOk="0" h="283315" w="283315">
                <a:moveTo>
                  <a:pt x="0" y="0"/>
                </a:moveTo>
                <a:lnTo>
                  <a:pt x="283315" y="0"/>
                </a:lnTo>
                <a:lnTo>
                  <a:pt x="283315" y="283315"/>
                </a:lnTo>
                <a:lnTo>
                  <a:pt x="0" y="283315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cap="flat" cmpd="sng" w="254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6663">
              <a:srgbClr val="2D3436"/>
            </a:outerShdw>
          </a:effectLst>
        </p:spPr>
      </p:sp>
      <p:sp>
        <p:nvSpPr>
          <p:cNvPr id="391" name="Google Shape;391;p15"/>
          <p:cNvSpPr/>
          <p:nvPr/>
        </p:nvSpPr>
        <p:spPr>
          <a:xfrm>
            <a:off x="691761" y="4248740"/>
            <a:ext cx="132214" cy="132214"/>
          </a:xfrm>
          <a:custGeom>
            <a:rect b="b" l="l" r="r" t="t"/>
            <a:pathLst>
              <a:path extrusionOk="0" h="132214" w="132214">
                <a:moveTo>
                  <a:pt x="66107" y="27863"/>
                </a:moveTo>
                <a:lnTo>
                  <a:pt x="62233" y="22492"/>
                </a:lnTo>
                <a:cubicBezTo>
                  <a:pt x="55778" y="13557"/>
                  <a:pt x="45423" y="8263"/>
                  <a:pt x="34370" y="8263"/>
                </a:cubicBezTo>
                <a:cubicBezTo>
                  <a:pt x="15391" y="8263"/>
                  <a:pt x="0" y="23654"/>
                  <a:pt x="0" y="42634"/>
                </a:cubicBezTo>
                <a:lnTo>
                  <a:pt x="0" y="43305"/>
                </a:lnTo>
                <a:cubicBezTo>
                  <a:pt x="0" y="49399"/>
                  <a:pt x="1601" y="55700"/>
                  <a:pt x="4287" y="61975"/>
                </a:cubicBezTo>
                <a:lnTo>
                  <a:pt x="31659" y="61975"/>
                </a:lnTo>
                <a:cubicBezTo>
                  <a:pt x="32485" y="61975"/>
                  <a:pt x="33234" y="61485"/>
                  <a:pt x="33570" y="60710"/>
                </a:cubicBezTo>
                <a:lnTo>
                  <a:pt x="41782" y="41007"/>
                </a:lnTo>
                <a:cubicBezTo>
                  <a:pt x="42737" y="38735"/>
                  <a:pt x="44958" y="37237"/>
                  <a:pt x="47411" y="37185"/>
                </a:cubicBezTo>
                <a:cubicBezTo>
                  <a:pt x="49864" y="37133"/>
                  <a:pt x="52137" y="38580"/>
                  <a:pt x="53144" y="40826"/>
                </a:cubicBezTo>
                <a:lnTo>
                  <a:pt x="66391" y="70239"/>
                </a:lnTo>
                <a:lnTo>
                  <a:pt x="77082" y="48857"/>
                </a:lnTo>
                <a:cubicBezTo>
                  <a:pt x="78140" y="46765"/>
                  <a:pt x="80284" y="45423"/>
                  <a:pt x="82634" y="45423"/>
                </a:cubicBezTo>
                <a:cubicBezTo>
                  <a:pt x="84984" y="45423"/>
                  <a:pt x="87127" y="46740"/>
                  <a:pt x="88186" y="48857"/>
                </a:cubicBezTo>
                <a:lnTo>
                  <a:pt x="94177" y="60813"/>
                </a:lnTo>
                <a:cubicBezTo>
                  <a:pt x="94538" y="61510"/>
                  <a:pt x="95235" y="61949"/>
                  <a:pt x="96036" y="61949"/>
                </a:cubicBezTo>
                <a:lnTo>
                  <a:pt x="127953" y="61949"/>
                </a:lnTo>
                <a:cubicBezTo>
                  <a:pt x="130664" y="55674"/>
                  <a:pt x="132240" y="49374"/>
                  <a:pt x="132240" y="43279"/>
                </a:cubicBezTo>
                <a:lnTo>
                  <a:pt x="132240" y="42608"/>
                </a:lnTo>
                <a:cubicBezTo>
                  <a:pt x="132214" y="23654"/>
                  <a:pt x="116823" y="8263"/>
                  <a:pt x="97843" y="8263"/>
                </a:cubicBezTo>
                <a:cubicBezTo>
                  <a:pt x="86817" y="8263"/>
                  <a:pt x="76436" y="13557"/>
                  <a:pt x="69980" y="22492"/>
                </a:cubicBezTo>
                <a:lnTo>
                  <a:pt x="66107" y="27837"/>
                </a:lnTo>
                <a:close/>
                <a:moveTo>
                  <a:pt x="121265" y="74370"/>
                </a:moveTo>
                <a:lnTo>
                  <a:pt x="96010" y="74370"/>
                </a:lnTo>
                <a:cubicBezTo>
                  <a:pt x="90535" y="74370"/>
                  <a:pt x="85526" y="71271"/>
                  <a:pt x="83073" y="66365"/>
                </a:cubicBezTo>
                <a:lnTo>
                  <a:pt x="82634" y="65487"/>
                </a:lnTo>
                <a:lnTo>
                  <a:pt x="71659" y="87463"/>
                </a:lnTo>
                <a:cubicBezTo>
                  <a:pt x="70600" y="89606"/>
                  <a:pt x="68379" y="90949"/>
                  <a:pt x="65978" y="90897"/>
                </a:cubicBezTo>
                <a:cubicBezTo>
                  <a:pt x="63576" y="90845"/>
                  <a:pt x="61433" y="89425"/>
                  <a:pt x="60452" y="87256"/>
                </a:cubicBezTo>
                <a:lnTo>
                  <a:pt x="47721" y="58980"/>
                </a:lnTo>
                <a:lnTo>
                  <a:pt x="45009" y="65487"/>
                </a:lnTo>
                <a:cubicBezTo>
                  <a:pt x="42763" y="70884"/>
                  <a:pt x="37495" y="74396"/>
                  <a:pt x="31659" y="74396"/>
                </a:cubicBezTo>
                <a:lnTo>
                  <a:pt x="10949" y="74396"/>
                </a:lnTo>
                <a:cubicBezTo>
                  <a:pt x="23137" y="93453"/>
                  <a:pt x="42711" y="110987"/>
                  <a:pt x="54951" y="120335"/>
                </a:cubicBezTo>
                <a:cubicBezTo>
                  <a:pt x="58153" y="122763"/>
                  <a:pt x="62079" y="123976"/>
                  <a:pt x="66081" y="123976"/>
                </a:cubicBezTo>
                <a:cubicBezTo>
                  <a:pt x="70084" y="123976"/>
                  <a:pt x="74035" y="122788"/>
                  <a:pt x="77211" y="120335"/>
                </a:cubicBezTo>
                <a:cubicBezTo>
                  <a:pt x="89503" y="110961"/>
                  <a:pt x="109076" y="93428"/>
                  <a:pt x="121265" y="7437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5"/>
          <p:cNvSpPr/>
          <p:nvPr/>
        </p:nvSpPr>
        <p:spPr>
          <a:xfrm>
            <a:off x="982160" y="4201521"/>
            <a:ext cx="2332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9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Heartbeat:</a:t>
            </a:r>
            <a:r>
              <a:rPr b="0" i="0" lang="en-US" sz="119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"You're still connected"</a:t>
            </a:r>
            <a:endParaRPr b="0" i="0" sz="1600" u="none" cap="none" strike="noStrike"/>
          </a:p>
        </p:txBody>
      </p:sp>
      <p:sp>
        <p:nvSpPr>
          <p:cNvPr id="393" name="Google Shape;393;p15"/>
          <p:cNvSpPr/>
          <p:nvPr/>
        </p:nvSpPr>
        <p:spPr>
          <a:xfrm>
            <a:off x="396641" y="4862590"/>
            <a:ext cx="5562423" cy="604406"/>
          </a:xfrm>
          <a:custGeom>
            <a:rect b="b" l="l" r="r" t="t"/>
            <a:pathLst>
              <a:path extrusionOk="0" h="604406" w="5562423">
                <a:moveTo>
                  <a:pt x="0" y="0"/>
                </a:moveTo>
                <a:lnTo>
                  <a:pt x="5562423" y="0"/>
                </a:lnTo>
                <a:lnTo>
                  <a:pt x="5562423" y="604406"/>
                </a:lnTo>
                <a:lnTo>
                  <a:pt x="0" y="604406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cap="flat" cmpd="sng" w="508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6663">
              <a:srgbClr val="2D3436"/>
            </a:outerShdw>
          </a:effectLst>
        </p:spPr>
      </p:sp>
      <p:sp>
        <p:nvSpPr>
          <p:cNvPr id="394" name="Google Shape;394;p15"/>
          <p:cNvSpPr/>
          <p:nvPr/>
        </p:nvSpPr>
        <p:spPr>
          <a:xfrm>
            <a:off x="1498108" y="5070354"/>
            <a:ext cx="169989" cy="169989"/>
          </a:xfrm>
          <a:custGeom>
            <a:rect b="b" l="l" r="r" t="t"/>
            <a:pathLst>
              <a:path extrusionOk="0" h="169989" w="169989">
                <a:moveTo>
                  <a:pt x="84995" y="0"/>
                </a:moveTo>
                <a:cubicBezTo>
                  <a:pt x="89875" y="0"/>
                  <a:pt x="94357" y="2689"/>
                  <a:pt x="96681" y="6972"/>
                </a:cubicBezTo>
                <a:lnTo>
                  <a:pt x="168396" y="139776"/>
                </a:lnTo>
                <a:cubicBezTo>
                  <a:pt x="170620" y="143893"/>
                  <a:pt x="170520" y="148873"/>
                  <a:pt x="168130" y="152891"/>
                </a:cubicBezTo>
                <a:cubicBezTo>
                  <a:pt x="165739" y="156908"/>
                  <a:pt x="161390" y="159365"/>
                  <a:pt x="156709" y="159365"/>
                </a:cubicBezTo>
                <a:lnTo>
                  <a:pt x="13280" y="159365"/>
                </a:lnTo>
                <a:cubicBezTo>
                  <a:pt x="8599" y="159365"/>
                  <a:pt x="4283" y="156908"/>
                  <a:pt x="1859" y="152891"/>
                </a:cubicBezTo>
                <a:cubicBezTo>
                  <a:pt x="-564" y="148873"/>
                  <a:pt x="-631" y="143893"/>
                  <a:pt x="1594" y="139776"/>
                </a:cubicBezTo>
                <a:lnTo>
                  <a:pt x="73308" y="6972"/>
                </a:lnTo>
                <a:cubicBezTo>
                  <a:pt x="75632" y="2689"/>
                  <a:pt x="80114" y="0"/>
                  <a:pt x="84995" y="0"/>
                </a:cubicBezTo>
                <a:close/>
                <a:moveTo>
                  <a:pt x="84995" y="55778"/>
                </a:moveTo>
                <a:cubicBezTo>
                  <a:pt x="80579" y="55778"/>
                  <a:pt x="77026" y="59330"/>
                  <a:pt x="77026" y="63746"/>
                </a:cubicBezTo>
                <a:lnTo>
                  <a:pt x="77026" y="100931"/>
                </a:lnTo>
                <a:cubicBezTo>
                  <a:pt x="77026" y="105347"/>
                  <a:pt x="80579" y="108899"/>
                  <a:pt x="84995" y="108899"/>
                </a:cubicBezTo>
                <a:cubicBezTo>
                  <a:pt x="89410" y="108899"/>
                  <a:pt x="92963" y="105347"/>
                  <a:pt x="92963" y="100931"/>
                </a:cubicBezTo>
                <a:lnTo>
                  <a:pt x="92963" y="63746"/>
                </a:lnTo>
                <a:cubicBezTo>
                  <a:pt x="92963" y="59330"/>
                  <a:pt x="89410" y="55778"/>
                  <a:pt x="84995" y="55778"/>
                </a:cubicBezTo>
                <a:close/>
                <a:moveTo>
                  <a:pt x="93859" y="127492"/>
                </a:moveTo>
                <a:cubicBezTo>
                  <a:pt x="94061" y="124201"/>
                  <a:pt x="92420" y="121071"/>
                  <a:pt x="89599" y="119365"/>
                </a:cubicBezTo>
                <a:cubicBezTo>
                  <a:pt x="86778" y="117658"/>
                  <a:pt x="83244" y="117658"/>
                  <a:pt x="80423" y="119365"/>
                </a:cubicBezTo>
                <a:cubicBezTo>
                  <a:pt x="77602" y="121071"/>
                  <a:pt x="75961" y="124201"/>
                  <a:pt x="76163" y="127492"/>
                </a:cubicBezTo>
                <a:cubicBezTo>
                  <a:pt x="75961" y="130782"/>
                  <a:pt x="77602" y="133913"/>
                  <a:pt x="80423" y="135619"/>
                </a:cubicBezTo>
                <a:cubicBezTo>
                  <a:pt x="83244" y="137325"/>
                  <a:pt x="86778" y="137325"/>
                  <a:pt x="89599" y="135619"/>
                </a:cubicBezTo>
                <a:cubicBezTo>
                  <a:pt x="92420" y="133913"/>
                  <a:pt x="94061" y="130782"/>
                  <a:pt x="93859" y="12749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5"/>
          <p:cNvSpPr/>
          <p:nvPr/>
        </p:nvSpPr>
        <p:spPr>
          <a:xfrm>
            <a:off x="797522" y="5032579"/>
            <a:ext cx="5034000" cy="26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39" u="none" cap="none" strike="noStrike">
                <a:solidFill>
                  <a:srgbClr val="FFFFFF"/>
                </a:solidFill>
                <a:latin typeface="Coda"/>
                <a:ea typeface="Coda"/>
                <a:cs typeface="Coda"/>
                <a:sym typeface="Coda"/>
              </a:rPr>
              <a:t>Problem: </a:t>
            </a:r>
            <a:r>
              <a:rPr b="1" lang="en-US" sz="1339">
                <a:solidFill>
                  <a:srgbClr val="FFFFFF"/>
                </a:solidFill>
                <a:latin typeface="Coda"/>
                <a:ea typeface="Coda"/>
                <a:cs typeface="Coda"/>
                <a:sym typeface="Coda"/>
              </a:rPr>
              <a:t>PCR</a:t>
            </a:r>
            <a:r>
              <a:rPr b="1" i="0" lang="en-US" sz="1339" u="none" cap="none" strike="noStrike">
                <a:solidFill>
                  <a:srgbClr val="FFFFFF"/>
                </a:solidFill>
                <a:latin typeface="Coda"/>
                <a:ea typeface="Coda"/>
                <a:cs typeface="Coda"/>
                <a:sym typeface="Coda"/>
              </a:rPr>
              <a:t> loses sync when asleep!</a:t>
            </a:r>
            <a:endParaRPr b="0" i="0" sz="1600" u="none" cap="none" strike="noStrike"/>
          </a:p>
        </p:txBody>
      </p:sp>
      <p:grpSp>
        <p:nvGrpSpPr>
          <p:cNvPr id="396" name="Google Shape;396;p15"/>
          <p:cNvGrpSpPr/>
          <p:nvPr/>
        </p:nvGrpSpPr>
        <p:grpSpPr>
          <a:xfrm>
            <a:off x="6226640" y="2077645"/>
            <a:ext cx="5562423" cy="3890863"/>
            <a:chOff x="6226640" y="2077645"/>
            <a:chExt cx="5562423" cy="3890863"/>
          </a:xfrm>
        </p:grpSpPr>
        <p:sp>
          <p:nvSpPr>
            <p:cNvPr id="397" name="Google Shape;397;p15"/>
            <p:cNvSpPr/>
            <p:nvPr/>
          </p:nvSpPr>
          <p:spPr>
            <a:xfrm>
              <a:off x="6226640" y="2077645"/>
              <a:ext cx="5562423" cy="3890863"/>
            </a:xfrm>
            <a:custGeom>
              <a:rect b="b" l="l" r="r" t="t"/>
              <a:pathLst>
                <a:path extrusionOk="0" h="3890863" w="5562423">
                  <a:moveTo>
                    <a:pt x="0" y="0"/>
                  </a:moveTo>
                  <a:lnTo>
                    <a:pt x="5562423" y="0"/>
                  </a:lnTo>
                  <a:lnTo>
                    <a:pt x="5562423" y="3890863"/>
                  </a:lnTo>
                  <a:lnTo>
                    <a:pt x="0" y="38908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ECDC4"/>
            </a:solidFill>
            <a:ln cap="flat" cmpd="sng" w="50800">
              <a:solidFill>
                <a:srgbClr val="2D343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01600" rotWithShape="0" algn="bl" dir="2700000" dist="56663">
                <a:srgbClr val="2D3436"/>
              </a:outerShdw>
            </a:effectLst>
          </p:spPr>
        </p:sp>
        <p:sp>
          <p:nvSpPr>
            <p:cNvPr id="398" name="Google Shape;398;p15"/>
            <p:cNvSpPr/>
            <p:nvPr/>
          </p:nvSpPr>
          <p:spPr>
            <a:xfrm>
              <a:off x="6448570" y="2299576"/>
              <a:ext cx="424973" cy="424973"/>
            </a:xfrm>
            <a:custGeom>
              <a:rect b="b" l="l" r="r" t="t"/>
              <a:pathLst>
                <a:path extrusionOk="0" h="424973" w="424973">
                  <a:moveTo>
                    <a:pt x="0" y="0"/>
                  </a:moveTo>
                  <a:lnTo>
                    <a:pt x="424973" y="0"/>
                  </a:lnTo>
                  <a:lnTo>
                    <a:pt x="424973" y="424973"/>
                  </a:lnTo>
                  <a:lnTo>
                    <a:pt x="0" y="4249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38100">
              <a:solidFill>
                <a:srgbClr val="2D343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01600" rotWithShape="0" algn="bl" dir="2700000" dist="56663">
                <a:srgbClr val="2D3436"/>
              </a:outerShdw>
            </a:effectLst>
          </p:spPr>
        </p:sp>
        <p:sp>
          <p:nvSpPr>
            <p:cNvPr id="399" name="Google Shape;399;p15"/>
            <p:cNvSpPr/>
            <p:nvPr/>
          </p:nvSpPr>
          <p:spPr>
            <a:xfrm>
              <a:off x="6566618" y="2417624"/>
              <a:ext cx="188877" cy="188877"/>
            </a:xfrm>
            <a:custGeom>
              <a:rect b="b" l="l" r="r" t="t"/>
              <a:pathLst>
                <a:path extrusionOk="0" h="188877" w="188877">
                  <a:moveTo>
                    <a:pt x="85585" y="0"/>
                  </a:moveTo>
                  <a:cubicBezTo>
                    <a:pt x="142617" y="0"/>
                    <a:pt x="188877" y="46260"/>
                    <a:pt x="188877" y="103292"/>
                  </a:cubicBezTo>
                  <a:cubicBezTo>
                    <a:pt x="188877" y="108198"/>
                    <a:pt x="184930" y="112146"/>
                    <a:pt x="180023" y="112146"/>
                  </a:cubicBezTo>
                  <a:cubicBezTo>
                    <a:pt x="175117" y="112146"/>
                    <a:pt x="171170" y="108198"/>
                    <a:pt x="171170" y="103292"/>
                  </a:cubicBezTo>
                  <a:cubicBezTo>
                    <a:pt x="171170" y="56036"/>
                    <a:pt x="132841" y="17707"/>
                    <a:pt x="85585" y="17707"/>
                  </a:cubicBezTo>
                  <a:cubicBezTo>
                    <a:pt x="80678" y="17707"/>
                    <a:pt x="76731" y="13760"/>
                    <a:pt x="76731" y="8854"/>
                  </a:cubicBezTo>
                  <a:cubicBezTo>
                    <a:pt x="76731" y="3947"/>
                    <a:pt x="80678" y="0"/>
                    <a:pt x="85585" y="0"/>
                  </a:cubicBezTo>
                  <a:close/>
                  <a:moveTo>
                    <a:pt x="76731" y="44268"/>
                  </a:moveTo>
                  <a:cubicBezTo>
                    <a:pt x="76731" y="39362"/>
                    <a:pt x="80678" y="35414"/>
                    <a:pt x="85585" y="35414"/>
                  </a:cubicBezTo>
                  <a:cubicBezTo>
                    <a:pt x="123065" y="35414"/>
                    <a:pt x="153462" y="65812"/>
                    <a:pt x="153462" y="103292"/>
                  </a:cubicBezTo>
                  <a:cubicBezTo>
                    <a:pt x="153462" y="108198"/>
                    <a:pt x="149515" y="112146"/>
                    <a:pt x="144609" y="112146"/>
                  </a:cubicBezTo>
                  <a:cubicBezTo>
                    <a:pt x="139702" y="112146"/>
                    <a:pt x="135755" y="108198"/>
                    <a:pt x="135755" y="103292"/>
                  </a:cubicBezTo>
                  <a:cubicBezTo>
                    <a:pt x="135755" y="75588"/>
                    <a:pt x="113289" y="53122"/>
                    <a:pt x="85585" y="53122"/>
                  </a:cubicBezTo>
                  <a:cubicBezTo>
                    <a:pt x="80678" y="53122"/>
                    <a:pt x="76731" y="49174"/>
                    <a:pt x="76731" y="44268"/>
                  </a:cubicBezTo>
                  <a:close/>
                  <a:moveTo>
                    <a:pt x="9739" y="52642"/>
                  </a:moveTo>
                  <a:cubicBezTo>
                    <a:pt x="12985" y="46039"/>
                    <a:pt x="21691" y="45301"/>
                    <a:pt x="26893" y="50502"/>
                  </a:cubicBezTo>
                  <a:lnTo>
                    <a:pt x="74296" y="97906"/>
                  </a:lnTo>
                  <a:lnTo>
                    <a:pt x="86101" y="86101"/>
                  </a:lnTo>
                  <a:cubicBezTo>
                    <a:pt x="90713" y="81490"/>
                    <a:pt x="98201" y="81490"/>
                    <a:pt x="102812" y="86101"/>
                  </a:cubicBezTo>
                  <a:cubicBezTo>
                    <a:pt x="107424" y="90713"/>
                    <a:pt x="107424" y="98201"/>
                    <a:pt x="102812" y="102812"/>
                  </a:cubicBezTo>
                  <a:lnTo>
                    <a:pt x="91008" y="114617"/>
                  </a:lnTo>
                  <a:lnTo>
                    <a:pt x="138411" y="162021"/>
                  </a:lnTo>
                  <a:cubicBezTo>
                    <a:pt x="143613" y="167222"/>
                    <a:pt x="142838" y="175892"/>
                    <a:pt x="136272" y="179175"/>
                  </a:cubicBezTo>
                  <a:cubicBezTo>
                    <a:pt x="123655" y="185409"/>
                    <a:pt x="109490" y="188914"/>
                    <a:pt x="94475" y="188914"/>
                  </a:cubicBezTo>
                  <a:cubicBezTo>
                    <a:pt x="42313" y="188914"/>
                    <a:pt x="37" y="146638"/>
                    <a:pt x="37" y="94475"/>
                  </a:cubicBezTo>
                  <a:cubicBezTo>
                    <a:pt x="37" y="79461"/>
                    <a:pt x="3541" y="65258"/>
                    <a:pt x="9776" y="52679"/>
                  </a:cubicBezTo>
                  <a:close/>
                </a:path>
              </a:pathLst>
            </a:custGeom>
            <a:solidFill>
              <a:srgbClr val="4ECD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15"/>
            <p:cNvSpPr/>
            <p:nvPr/>
          </p:nvSpPr>
          <p:spPr>
            <a:xfrm>
              <a:off x="7001035" y="2360960"/>
              <a:ext cx="1558234" cy="3022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85" u="none" cap="none" strike="noStrike">
                  <a:solidFill>
                    <a:srgbClr val="FFFFFF"/>
                  </a:solidFill>
                  <a:latin typeface="Coda"/>
                  <a:ea typeface="Coda"/>
                  <a:cs typeface="Coda"/>
                  <a:sym typeface="Coda"/>
                </a:rPr>
                <a:t>WUR Solution</a:t>
              </a:r>
              <a:endParaRPr b="0" i="0" sz="1600" u="none" cap="none" strike="noStrike"/>
            </a:p>
          </p:txBody>
        </p:sp>
        <p:sp>
          <p:nvSpPr>
            <p:cNvPr id="401" name="Google Shape;401;p15"/>
            <p:cNvSpPr/>
            <p:nvPr/>
          </p:nvSpPr>
          <p:spPr>
            <a:xfrm>
              <a:off x="6448570" y="2866206"/>
              <a:ext cx="5118562" cy="2030426"/>
            </a:xfrm>
            <a:custGeom>
              <a:rect b="b" l="l" r="r" t="t"/>
              <a:pathLst>
                <a:path extrusionOk="0" h="2030426" w="5118562">
                  <a:moveTo>
                    <a:pt x="0" y="0"/>
                  </a:moveTo>
                  <a:lnTo>
                    <a:pt x="5118562" y="0"/>
                  </a:lnTo>
                  <a:lnTo>
                    <a:pt x="5118562" y="2030426"/>
                  </a:lnTo>
                  <a:lnTo>
                    <a:pt x="0" y="20304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38100">
              <a:solidFill>
                <a:srgbClr val="2D343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01600" rotWithShape="0" algn="bl" dir="2700000" dist="56663">
                <a:srgbClr val="2D3436"/>
              </a:outerShdw>
            </a:effectLst>
          </p:spPr>
        </p:sp>
        <p:sp>
          <p:nvSpPr>
            <p:cNvPr id="402" name="Google Shape;402;p15"/>
            <p:cNvSpPr/>
            <p:nvPr/>
          </p:nvSpPr>
          <p:spPr>
            <a:xfrm>
              <a:off x="6613837" y="3031473"/>
              <a:ext cx="4882466" cy="2644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87" u="none" cap="none" strike="noStrike">
                  <a:solidFill>
                    <a:srgbClr val="2D3436"/>
                  </a:solidFill>
                  <a:latin typeface="Coda"/>
                  <a:ea typeface="Coda"/>
                  <a:cs typeface="Coda"/>
                  <a:sym typeface="Coda"/>
                </a:rPr>
                <a:t>WUR Beacon Frame</a:t>
              </a:r>
              <a:endParaRPr b="0" i="0" sz="1600" u="none" cap="none" strike="noStrike"/>
            </a:p>
          </p:txBody>
        </p:sp>
        <p:sp>
          <p:nvSpPr>
            <p:cNvPr id="403" name="Google Shape;403;p15"/>
            <p:cNvSpPr/>
            <p:nvPr/>
          </p:nvSpPr>
          <p:spPr>
            <a:xfrm>
              <a:off x="6613837" y="3315423"/>
              <a:ext cx="4863600" cy="22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90" u="none" cap="none" strike="noStrike">
                  <a:solidFill>
                    <a:srgbClr val="2D343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New frame type introduced specifically for wake-up radios</a:t>
              </a:r>
              <a:endParaRPr b="0" i="0" sz="1600" u="none" cap="none" strike="noStrike"/>
            </a:p>
          </p:txBody>
        </p:sp>
        <p:sp>
          <p:nvSpPr>
            <p:cNvPr id="404" name="Google Shape;404;p15"/>
            <p:cNvSpPr/>
            <p:nvPr/>
          </p:nvSpPr>
          <p:spPr>
            <a:xfrm>
              <a:off x="6623281" y="3683098"/>
              <a:ext cx="283315" cy="283315"/>
            </a:xfrm>
            <a:custGeom>
              <a:rect b="b" l="l" r="r" t="t"/>
              <a:pathLst>
                <a:path extrusionOk="0" h="283315" w="283315">
                  <a:moveTo>
                    <a:pt x="0" y="0"/>
                  </a:moveTo>
                  <a:lnTo>
                    <a:pt x="283315" y="0"/>
                  </a:lnTo>
                  <a:lnTo>
                    <a:pt x="283315" y="283315"/>
                  </a:lnTo>
                  <a:lnTo>
                    <a:pt x="0" y="2833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ECDC4"/>
            </a:solidFill>
            <a:ln cap="flat" cmpd="sng" w="25400">
              <a:solidFill>
                <a:srgbClr val="2D343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01600" rotWithShape="0" algn="bl" dir="2700000" dist="56663">
                <a:srgbClr val="2D3436"/>
              </a:outerShdw>
            </a:effectLst>
          </p:spPr>
        </p:sp>
        <p:sp>
          <p:nvSpPr>
            <p:cNvPr id="405" name="Google Shape;405;p15"/>
            <p:cNvSpPr/>
            <p:nvPr/>
          </p:nvSpPr>
          <p:spPr>
            <a:xfrm>
              <a:off x="6692929" y="3758649"/>
              <a:ext cx="148741" cy="132214"/>
            </a:xfrm>
            <a:custGeom>
              <a:rect b="b" l="l" r="r" t="t"/>
              <a:pathLst>
                <a:path extrusionOk="0" h="132214" w="148741">
                  <a:moveTo>
                    <a:pt x="22698" y="2970"/>
                  </a:moveTo>
                  <a:cubicBezTo>
                    <a:pt x="19780" y="1188"/>
                    <a:pt x="15959" y="2143"/>
                    <a:pt x="14177" y="5061"/>
                  </a:cubicBezTo>
                  <a:cubicBezTo>
                    <a:pt x="7773" y="15649"/>
                    <a:pt x="4106" y="28070"/>
                    <a:pt x="4106" y="41317"/>
                  </a:cubicBezTo>
                  <a:cubicBezTo>
                    <a:pt x="4106" y="54564"/>
                    <a:pt x="7773" y="66985"/>
                    <a:pt x="14177" y="77572"/>
                  </a:cubicBezTo>
                  <a:cubicBezTo>
                    <a:pt x="15959" y="80490"/>
                    <a:pt x="19755" y="81446"/>
                    <a:pt x="22698" y="79664"/>
                  </a:cubicBezTo>
                  <a:cubicBezTo>
                    <a:pt x="25642" y="77882"/>
                    <a:pt x="26572" y="74086"/>
                    <a:pt x="24790" y="71142"/>
                  </a:cubicBezTo>
                  <a:cubicBezTo>
                    <a:pt x="19548" y="62466"/>
                    <a:pt x="16527" y="52240"/>
                    <a:pt x="16527" y="41317"/>
                  </a:cubicBezTo>
                  <a:cubicBezTo>
                    <a:pt x="16527" y="30394"/>
                    <a:pt x="19548" y="20168"/>
                    <a:pt x="24816" y="11465"/>
                  </a:cubicBezTo>
                  <a:cubicBezTo>
                    <a:pt x="26598" y="8547"/>
                    <a:pt x="25642" y="4726"/>
                    <a:pt x="22724" y="2944"/>
                  </a:cubicBezTo>
                  <a:close/>
                  <a:moveTo>
                    <a:pt x="126016" y="2970"/>
                  </a:moveTo>
                  <a:cubicBezTo>
                    <a:pt x="123098" y="4751"/>
                    <a:pt x="122143" y="8547"/>
                    <a:pt x="123925" y="11491"/>
                  </a:cubicBezTo>
                  <a:cubicBezTo>
                    <a:pt x="129192" y="20194"/>
                    <a:pt x="132214" y="30420"/>
                    <a:pt x="132214" y="41343"/>
                  </a:cubicBezTo>
                  <a:cubicBezTo>
                    <a:pt x="132214" y="52266"/>
                    <a:pt x="129192" y="62492"/>
                    <a:pt x="123925" y="71194"/>
                  </a:cubicBezTo>
                  <a:cubicBezTo>
                    <a:pt x="122143" y="74112"/>
                    <a:pt x="123098" y="77934"/>
                    <a:pt x="126016" y="79716"/>
                  </a:cubicBezTo>
                  <a:cubicBezTo>
                    <a:pt x="128934" y="81497"/>
                    <a:pt x="132756" y="80542"/>
                    <a:pt x="134538" y="77624"/>
                  </a:cubicBezTo>
                  <a:cubicBezTo>
                    <a:pt x="140942" y="67037"/>
                    <a:pt x="144609" y="54616"/>
                    <a:pt x="144609" y="41368"/>
                  </a:cubicBezTo>
                  <a:cubicBezTo>
                    <a:pt x="144609" y="28121"/>
                    <a:pt x="140942" y="15649"/>
                    <a:pt x="134538" y="5061"/>
                  </a:cubicBezTo>
                  <a:cubicBezTo>
                    <a:pt x="132756" y="2143"/>
                    <a:pt x="128960" y="1188"/>
                    <a:pt x="126016" y="2970"/>
                  </a:cubicBezTo>
                  <a:close/>
                  <a:moveTo>
                    <a:pt x="82634" y="55623"/>
                  </a:moveTo>
                  <a:cubicBezTo>
                    <a:pt x="87566" y="52756"/>
                    <a:pt x="90897" y="47437"/>
                    <a:pt x="90897" y="41317"/>
                  </a:cubicBezTo>
                  <a:cubicBezTo>
                    <a:pt x="90897" y="32201"/>
                    <a:pt x="83486" y="24790"/>
                    <a:pt x="74370" y="24790"/>
                  </a:cubicBezTo>
                  <a:cubicBezTo>
                    <a:pt x="65255" y="24790"/>
                    <a:pt x="57844" y="32201"/>
                    <a:pt x="57844" y="41317"/>
                  </a:cubicBezTo>
                  <a:cubicBezTo>
                    <a:pt x="57844" y="47437"/>
                    <a:pt x="61175" y="52782"/>
                    <a:pt x="66107" y="55623"/>
                  </a:cubicBezTo>
                  <a:lnTo>
                    <a:pt x="66107" y="123950"/>
                  </a:lnTo>
                  <a:cubicBezTo>
                    <a:pt x="66107" y="128521"/>
                    <a:pt x="69800" y="132214"/>
                    <a:pt x="74370" y="132214"/>
                  </a:cubicBezTo>
                  <a:cubicBezTo>
                    <a:pt x="78941" y="132214"/>
                    <a:pt x="82634" y="128521"/>
                    <a:pt x="82634" y="123950"/>
                  </a:cubicBezTo>
                  <a:lnTo>
                    <a:pt x="82634" y="55623"/>
                  </a:lnTo>
                  <a:close/>
                  <a:moveTo>
                    <a:pt x="46533" y="23499"/>
                  </a:moveTo>
                  <a:cubicBezTo>
                    <a:pt x="48392" y="20607"/>
                    <a:pt x="47540" y="16785"/>
                    <a:pt x="44674" y="14926"/>
                  </a:cubicBezTo>
                  <a:cubicBezTo>
                    <a:pt x="41807" y="13066"/>
                    <a:pt x="37960" y="13919"/>
                    <a:pt x="36101" y="16785"/>
                  </a:cubicBezTo>
                  <a:cubicBezTo>
                    <a:pt x="31556" y="23860"/>
                    <a:pt x="28922" y="32279"/>
                    <a:pt x="28922" y="41317"/>
                  </a:cubicBezTo>
                  <a:cubicBezTo>
                    <a:pt x="28922" y="50355"/>
                    <a:pt x="31556" y="58773"/>
                    <a:pt x="36101" y="65849"/>
                  </a:cubicBezTo>
                  <a:cubicBezTo>
                    <a:pt x="37960" y="68741"/>
                    <a:pt x="41782" y="69567"/>
                    <a:pt x="44674" y="67708"/>
                  </a:cubicBezTo>
                  <a:cubicBezTo>
                    <a:pt x="47566" y="65849"/>
                    <a:pt x="48392" y="62027"/>
                    <a:pt x="46533" y="59135"/>
                  </a:cubicBezTo>
                  <a:cubicBezTo>
                    <a:pt x="43228" y="53996"/>
                    <a:pt x="41317" y="47876"/>
                    <a:pt x="41317" y="41317"/>
                  </a:cubicBezTo>
                  <a:cubicBezTo>
                    <a:pt x="41317" y="34758"/>
                    <a:pt x="43228" y="28638"/>
                    <a:pt x="46533" y="23499"/>
                  </a:cubicBezTo>
                  <a:close/>
                  <a:moveTo>
                    <a:pt x="112640" y="16785"/>
                  </a:moveTo>
                  <a:cubicBezTo>
                    <a:pt x="110781" y="13893"/>
                    <a:pt x="106959" y="13066"/>
                    <a:pt x="104067" y="14926"/>
                  </a:cubicBezTo>
                  <a:cubicBezTo>
                    <a:pt x="101175" y="16785"/>
                    <a:pt x="100348" y="20607"/>
                    <a:pt x="102207" y="23499"/>
                  </a:cubicBezTo>
                  <a:cubicBezTo>
                    <a:pt x="105513" y="28638"/>
                    <a:pt x="107424" y="34758"/>
                    <a:pt x="107424" y="41317"/>
                  </a:cubicBezTo>
                  <a:cubicBezTo>
                    <a:pt x="107424" y="47876"/>
                    <a:pt x="105513" y="53996"/>
                    <a:pt x="102207" y="59135"/>
                  </a:cubicBezTo>
                  <a:cubicBezTo>
                    <a:pt x="100348" y="62027"/>
                    <a:pt x="101200" y="65849"/>
                    <a:pt x="104067" y="67708"/>
                  </a:cubicBezTo>
                  <a:cubicBezTo>
                    <a:pt x="106933" y="69567"/>
                    <a:pt x="110781" y="68715"/>
                    <a:pt x="112640" y="65849"/>
                  </a:cubicBezTo>
                  <a:cubicBezTo>
                    <a:pt x="117185" y="58773"/>
                    <a:pt x="119819" y="50355"/>
                    <a:pt x="119819" y="41317"/>
                  </a:cubicBezTo>
                  <a:cubicBezTo>
                    <a:pt x="119819" y="32279"/>
                    <a:pt x="117185" y="23860"/>
                    <a:pt x="112640" y="1678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15"/>
            <p:cNvSpPr/>
            <p:nvPr/>
          </p:nvSpPr>
          <p:spPr>
            <a:xfrm>
              <a:off x="6991591" y="3711430"/>
              <a:ext cx="2672607" cy="2266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90" u="none" cap="none" strike="noStrike">
                  <a:solidFill>
                    <a:srgbClr val="2D343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AP periodically transmits </a:t>
              </a:r>
              <a:r>
                <a:rPr b="1" i="0" lang="en-US" sz="1190" u="none" cap="none" strike="noStrike">
                  <a:solidFill>
                    <a:srgbClr val="2D343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WUR beacons</a:t>
              </a:r>
              <a:endParaRPr b="1" i="0" sz="1600" u="none" cap="none" strike="noStrike"/>
            </a:p>
          </p:txBody>
        </p:sp>
        <p:sp>
          <p:nvSpPr>
            <p:cNvPr id="407" name="Google Shape;407;p15"/>
            <p:cNvSpPr/>
            <p:nvPr/>
          </p:nvSpPr>
          <p:spPr>
            <a:xfrm>
              <a:off x="6623281" y="4060852"/>
              <a:ext cx="283315" cy="283315"/>
            </a:xfrm>
            <a:custGeom>
              <a:rect b="b" l="l" r="r" t="t"/>
              <a:pathLst>
                <a:path extrusionOk="0" h="283315" w="283315">
                  <a:moveTo>
                    <a:pt x="0" y="0"/>
                  </a:moveTo>
                  <a:lnTo>
                    <a:pt x="283315" y="0"/>
                  </a:lnTo>
                  <a:lnTo>
                    <a:pt x="283315" y="283315"/>
                  </a:lnTo>
                  <a:lnTo>
                    <a:pt x="0" y="2833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E66D"/>
            </a:solidFill>
            <a:ln cap="flat" cmpd="sng" w="25400">
              <a:solidFill>
                <a:srgbClr val="2D343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01600" rotWithShape="0" algn="bl" dir="2700000" dist="56663">
                <a:srgbClr val="2D3436"/>
              </a:outerShdw>
            </a:effectLst>
          </p:spPr>
        </p:sp>
        <p:sp>
          <p:nvSpPr>
            <p:cNvPr id="408" name="Google Shape;408;p15"/>
            <p:cNvSpPr/>
            <p:nvPr/>
          </p:nvSpPr>
          <p:spPr>
            <a:xfrm>
              <a:off x="6701193" y="4136403"/>
              <a:ext cx="132214" cy="132214"/>
            </a:xfrm>
            <a:custGeom>
              <a:rect b="b" l="l" r="r" t="t"/>
              <a:pathLst>
                <a:path extrusionOk="0" h="132214" w="132214">
                  <a:moveTo>
                    <a:pt x="62233" y="22492"/>
                  </a:moveTo>
                  <a:lnTo>
                    <a:pt x="66107" y="27837"/>
                  </a:lnTo>
                  <a:lnTo>
                    <a:pt x="69980" y="22492"/>
                  </a:lnTo>
                  <a:cubicBezTo>
                    <a:pt x="76436" y="13557"/>
                    <a:pt x="86817" y="8263"/>
                    <a:pt x="97843" y="8263"/>
                  </a:cubicBezTo>
                  <a:cubicBezTo>
                    <a:pt x="116823" y="8263"/>
                    <a:pt x="132214" y="23654"/>
                    <a:pt x="132214" y="42634"/>
                  </a:cubicBezTo>
                  <a:lnTo>
                    <a:pt x="132214" y="43305"/>
                  </a:lnTo>
                  <a:cubicBezTo>
                    <a:pt x="132214" y="72279"/>
                    <a:pt x="96087" y="105926"/>
                    <a:pt x="77237" y="120309"/>
                  </a:cubicBezTo>
                  <a:cubicBezTo>
                    <a:pt x="74035" y="122737"/>
                    <a:pt x="70109" y="123950"/>
                    <a:pt x="66107" y="123950"/>
                  </a:cubicBezTo>
                  <a:cubicBezTo>
                    <a:pt x="62104" y="123950"/>
                    <a:pt x="58153" y="122763"/>
                    <a:pt x="54977" y="120309"/>
                  </a:cubicBezTo>
                  <a:cubicBezTo>
                    <a:pt x="36126" y="105926"/>
                    <a:pt x="0" y="72279"/>
                    <a:pt x="0" y="43305"/>
                  </a:cubicBezTo>
                  <a:lnTo>
                    <a:pt x="0" y="42634"/>
                  </a:lnTo>
                  <a:cubicBezTo>
                    <a:pt x="0" y="23654"/>
                    <a:pt x="15391" y="8263"/>
                    <a:pt x="34370" y="8263"/>
                  </a:cubicBezTo>
                  <a:cubicBezTo>
                    <a:pt x="45397" y="8263"/>
                    <a:pt x="55778" y="13557"/>
                    <a:pt x="62233" y="22492"/>
                  </a:cubicBezTo>
                  <a:close/>
                </a:path>
              </a:pathLst>
            </a:custGeom>
            <a:solidFill>
              <a:srgbClr val="2D34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15"/>
            <p:cNvSpPr/>
            <p:nvPr/>
          </p:nvSpPr>
          <p:spPr>
            <a:xfrm>
              <a:off x="6991591" y="4089184"/>
              <a:ext cx="1973763" cy="2266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90" u="none" cap="none" strike="noStrike">
                  <a:solidFill>
                    <a:srgbClr val="2D343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Provides "</a:t>
              </a:r>
              <a:r>
                <a:rPr b="1" i="0" lang="en-US" sz="1190" u="none" cap="none" strike="noStrike">
                  <a:solidFill>
                    <a:srgbClr val="2D343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heartbeat</a:t>
              </a:r>
              <a:r>
                <a:rPr b="0" i="0" lang="en-US" sz="1190" u="none" cap="none" strike="noStrike">
                  <a:solidFill>
                    <a:srgbClr val="2D343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" function</a:t>
              </a:r>
              <a:endParaRPr b="0" i="0" sz="1600" u="none" cap="none" strike="noStrike"/>
            </a:p>
          </p:txBody>
        </p:sp>
        <p:sp>
          <p:nvSpPr>
            <p:cNvPr id="410" name="Google Shape;410;p15"/>
            <p:cNvSpPr/>
            <p:nvPr/>
          </p:nvSpPr>
          <p:spPr>
            <a:xfrm>
              <a:off x="6623281" y="4438606"/>
              <a:ext cx="283315" cy="283315"/>
            </a:xfrm>
            <a:custGeom>
              <a:rect b="b" l="l" r="r" t="t"/>
              <a:pathLst>
                <a:path extrusionOk="0" h="283315" w="283315">
                  <a:moveTo>
                    <a:pt x="0" y="0"/>
                  </a:moveTo>
                  <a:lnTo>
                    <a:pt x="283315" y="0"/>
                  </a:lnTo>
                  <a:lnTo>
                    <a:pt x="283315" y="283315"/>
                  </a:lnTo>
                  <a:lnTo>
                    <a:pt x="0" y="2833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B6B"/>
            </a:solidFill>
            <a:ln cap="flat" cmpd="sng" w="25400">
              <a:solidFill>
                <a:srgbClr val="2D343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01600" rotWithShape="0" algn="bl" dir="2700000" dist="56663">
                <a:srgbClr val="2D3436"/>
              </a:outerShdw>
            </a:effectLst>
          </p:spPr>
        </p:sp>
        <p:sp>
          <p:nvSpPr>
            <p:cNvPr id="411" name="Google Shape;411;p15"/>
            <p:cNvSpPr/>
            <p:nvPr/>
          </p:nvSpPr>
          <p:spPr>
            <a:xfrm>
              <a:off x="6701193" y="4514156"/>
              <a:ext cx="132214" cy="132214"/>
            </a:xfrm>
            <a:custGeom>
              <a:rect b="b" l="l" r="r" t="t"/>
              <a:pathLst>
                <a:path extrusionOk="0" h="132214" w="132214">
                  <a:moveTo>
                    <a:pt x="113492" y="1808"/>
                  </a:moveTo>
                  <a:cubicBezTo>
                    <a:pt x="115919" y="-620"/>
                    <a:pt x="119845" y="-620"/>
                    <a:pt x="122246" y="1808"/>
                  </a:cubicBezTo>
                  <a:lnTo>
                    <a:pt x="130509" y="10071"/>
                  </a:lnTo>
                  <a:cubicBezTo>
                    <a:pt x="132937" y="12498"/>
                    <a:pt x="132937" y="16423"/>
                    <a:pt x="130509" y="18825"/>
                  </a:cubicBezTo>
                  <a:lnTo>
                    <a:pt x="108043" y="41291"/>
                  </a:lnTo>
                  <a:lnTo>
                    <a:pt x="118114" y="51362"/>
                  </a:lnTo>
                  <a:cubicBezTo>
                    <a:pt x="119896" y="53144"/>
                    <a:pt x="120413" y="55804"/>
                    <a:pt x="119457" y="58128"/>
                  </a:cubicBezTo>
                  <a:cubicBezTo>
                    <a:pt x="118502" y="60452"/>
                    <a:pt x="116255" y="61975"/>
                    <a:pt x="113750" y="61975"/>
                  </a:cubicBezTo>
                  <a:lnTo>
                    <a:pt x="76565" y="61975"/>
                  </a:lnTo>
                  <a:cubicBezTo>
                    <a:pt x="73131" y="61975"/>
                    <a:pt x="70368" y="59212"/>
                    <a:pt x="70368" y="55778"/>
                  </a:cubicBezTo>
                  <a:lnTo>
                    <a:pt x="70368" y="18593"/>
                  </a:lnTo>
                  <a:cubicBezTo>
                    <a:pt x="70368" y="16088"/>
                    <a:pt x="71865" y="13815"/>
                    <a:pt x="74189" y="12860"/>
                  </a:cubicBezTo>
                  <a:cubicBezTo>
                    <a:pt x="76514" y="11904"/>
                    <a:pt x="79173" y="12421"/>
                    <a:pt x="80955" y="14203"/>
                  </a:cubicBezTo>
                  <a:lnTo>
                    <a:pt x="91026" y="24274"/>
                  </a:lnTo>
                  <a:lnTo>
                    <a:pt x="113492" y="1808"/>
                  </a:lnTo>
                  <a:close/>
                  <a:moveTo>
                    <a:pt x="18722" y="70239"/>
                  </a:moveTo>
                  <a:lnTo>
                    <a:pt x="55907" y="70239"/>
                  </a:lnTo>
                  <a:cubicBezTo>
                    <a:pt x="59341" y="70239"/>
                    <a:pt x="62104" y="73002"/>
                    <a:pt x="62104" y="76436"/>
                  </a:cubicBezTo>
                  <a:lnTo>
                    <a:pt x="62104" y="113621"/>
                  </a:lnTo>
                  <a:cubicBezTo>
                    <a:pt x="62104" y="116126"/>
                    <a:pt x="60607" y="118398"/>
                    <a:pt x="58283" y="119354"/>
                  </a:cubicBezTo>
                  <a:cubicBezTo>
                    <a:pt x="55958" y="120309"/>
                    <a:pt x="53299" y="119793"/>
                    <a:pt x="51517" y="118011"/>
                  </a:cubicBezTo>
                  <a:lnTo>
                    <a:pt x="41446" y="107940"/>
                  </a:lnTo>
                  <a:lnTo>
                    <a:pt x="18980" y="130406"/>
                  </a:lnTo>
                  <a:cubicBezTo>
                    <a:pt x="16553" y="132834"/>
                    <a:pt x="12627" y="132834"/>
                    <a:pt x="10226" y="130406"/>
                  </a:cubicBezTo>
                  <a:lnTo>
                    <a:pt x="1963" y="122143"/>
                  </a:lnTo>
                  <a:cubicBezTo>
                    <a:pt x="-465" y="119715"/>
                    <a:pt x="-465" y="115790"/>
                    <a:pt x="1963" y="113389"/>
                  </a:cubicBezTo>
                  <a:lnTo>
                    <a:pt x="24429" y="90923"/>
                  </a:lnTo>
                  <a:lnTo>
                    <a:pt x="14358" y="80852"/>
                  </a:lnTo>
                  <a:cubicBezTo>
                    <a:pt x="12576" y="79070"/>
                    <a:pt x="12059" y="76410"/>
                    <a:pt x="13015" y="74086"/>
                  </a:cubicBezTo>
                  <a:cubicBezTo>
                    <a:pt x="13970" y="71762"/>
                    <a:pt x="16217" y="70239"/>
                    <a:pt x="18722" y="7023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15"/>
            <p:cNvSpPr/>
            <p:nvPr/>
          </p:nvSpPr>
          <p:spPr>
            <a:xfrm>
              <a:off x="6991591" y="4466937"/>
              <a:ext cx="2417624" cy="2266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90" u="none" cap="none" strike="noStrike">
                  <a:solidFill>
                    <a:srgbClr val="2D343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Compressed</a:t>
              </a:r>
              <a:r>
                <a:rPr b="0" i="0" lang="en-US" sz="1190" u="none" cap="none" strike="noStrike">
                  <a:solidFill>
                    <a:srgbClr val="2D343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 timestamp (not 64-bit)</a:t>
              </a:r>
              <a:endParaRPr b="0" i="0" sz="1600" u="none" cap="none" strike="noStrike"/>
            </a:p>
          </p:txBody>
        </p:sp>
        <p:sp>
          <p:nvSpPr>
            <p:cNvPr id="413" name="Google Shape;413;p15"/>
            <p:cNvSpPr/>
            <p:nvPr/>
          </p:nvSpPr>
          <p:spPr>
            <a:xfrm>
              <a:off x="6448570" y="5038290"/>
              <a:ext cx="5118562" cy="708288"/>
            </a:xfrm>
            <a:custGeom>
              <a:rect b="b" l="l" r="r" t="t"/>
              <a:pathLst>
                <a:path extrusionOk="0" h="708288" w="5118562">
                  <a:moveTo>
                    <a:pt x="0" y="0"/>
                  </a:moveTo>
                  <a:lnTo>
                    <a:pt x="5118562" y="0"/>
                  </a:lnTo>
                  <a:lnTo>
                    <a:pt x="5118562" y="708288"/>
                  </a:lnTo>
                  <a:lnTo>
                    <a:pt x="0" y="708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E66D"/>
            </a:solidFill>
            <a:ln cap="flat" cmpd="sng" w="38100">
              <a:solidFill>
                <a:srgbClr val="2D343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01600" rotWithShape="0" algn="bl" dir="2700000" dist="56663">
                <a:srgbClr val="2D3436"/>
              </a:outerShdw>
            </a:effectLst>
          </p:spPr>
        </p:sp>
        <p:sp>
          <p:nvSpPr>
            <p:cNvPr id="414" name="Google Shape;414;p15"/>
            <p:cNvSpPr/>
            <p:nvPr/>
          </p:nvSpPr>
          <p:spPr>
            <a:xfrm>
              <a:off x="6818611" y="5184669"/>
              <a:ext cx="132214" cy="151101"/>
            </a:xfrm>
            <a:custGeom>
              <a:rect b="b" l="l" r="r" t="t"/>
              <a:pathLst>
                <a:path extrusionOk="0" h="151101" w="132214">
                  <a:moveTo>
                    <a:pt x="99987" y="-2922"/>
                  </a:moveTo>
                  <a:cubicBezTo>
                    <a:pt x="103499" y="-384"/>
                    <a:pt x="104797" y="4220"/>
                    <a:pt x="103203" y="8234"/>
                  </a:cubicBezTo>
                  <a:lnTo>
                    <a:pt x="80066" y="66107"/>
                  </a:lnTo>
                  <a:lnTo>
                    <a:pt x="122770" y="66107"/>
                  </a:lnTo>
                  <a:cubicBezTo>
                    <a:pt x="126754" y="66107"/>
                    <a:pt x="130296" y="68586"/>
                    <a:pt x="131653" y="72334"/>
                  </a:cubicBezTo>
                  <a:cubicBezTo>
                    <a:pt x="133011" y="76082"/>
                    <a:pt x="131860" y="80273"/>
                    <a:pt x="128820" y="82811"/>
                  </a:cubicBezTo>
                  <a:lnTo>
                    <a:pt x="43825" y="153640"/>
                  </a:lnTo>
                  <a:cubicBezTo>
                    <a:pt x="40490" y="156414"/>
                    <a:pt x="35739" y="156561"/>
                    <a:pt x="32227" y="154023"/>
                  </a:cubicBezTo>
                  <a:cubicBezTo>
                    <a:pt x="28715" y="151485"/>
                    <a:pt x="27417" y="146881"/>
                    <a:pt x="29010" y="142868"/>
                  </a:cubicBezTo>
                  <a:lnTo>
                    <a:pt x="52148" y="84995"/>
                  </a:lnTo>
                  <a:lnTo>
                    <a:pt x="9444" y="84995"/>
                  </a:lnTo>
                  <a:cubicBezTo>
                    <a:pt x="5460" y="84995"/>
                    <a:pt x="1918" y="82516"/>
                    <a:pt x="561" y="78768"/>
                  </a:cubicBezTo>
                  <a:cubicBezTo>
                    <a:pt x="-797" y="75020"/>
                    <a:pt x="354" y="70829"/>
                    <a:pt x="3394" y="68291"/>
                  </a:cubicBezTo>
                  <a:lnTo>
                    <a:pt x="88388" y="-2538"/>
                  </a:lnTo>
                  <a:cubicBezTo>
                    <a:pt x="91723" y="-5312"/>
                    <a:pt x="96475" y="-5460"/>
                    <a:pt x="99987" y="-2922"/>
                  </a:cubicBezTo>
                  <a:close/>
                </a:path>
              </a:pathLst>
            </a:custGeom>
            <a:solidFill>
              <a:srgbClr val="2D34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15"/>
            <p:cNvSpPr/>
            <p:nvPr/>
          </p:nvSpPr>
          <p:spPr>
            <a:xfrm>
              <a:off x="6783343" y="5165782"/>
              <a:ext cx="4694072" cy="4533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90" u="none" cap="none" strike="noStrike">
                  <a:solidFill>
                    <a:srgbClr val="2D3436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Compressed format saves transmission time—WUR needs to sleep!</a:t>
              </a:r>
              <a:endParaRPr b="0" i="0" sz="1600" u="none" cap="none" strike="noStrike"/>
            </a:p>
          </p:txBody>
        </p:sp>
      </p:grpSp>
      <p:sp>
        <p:nvSpPr>
          <p:cNvPr id="416" name="Google Shape;416;p15"/>
          <p:cNvSpPr/>
          <p:nvPr/>
        </p:nvSpPr>
        <p:spPr>
          <a:xfrm rot="-719078">
            <a:off x="11435179" y="6100632"/>
            <a:ext cx="500119" cy="500119"/>
          </a:xfrm>
          <a:custGeom>
            <a:rect b="b" l="l" r="r" t="t"/>
            <a:pathLst>
              <a:path extrusionOk="0" h="500479" w="500479">
                <a:moveTo>
                  <a:pt x="0" y="0"/>
                </a:moveTo>
                <a:lnTo>
                  <a:pt x="500479" y="0"/>
                </a:lnTo>
                <a:lnTo>
                  <a:pt x="500479" y="500479"/>
                </a:lnTo>
                <a:lnTo>
                  <a:pt x="0" y="500479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cap="flat" cmpd="sng" w="381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49227">
              <a:srgbClr val="2D3436"/>
            </a:outerShdw>
          </a:effectLst>
        </p:spPr>
      </p: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5F5"/>
        </a:solidFill>
      </p:bgPr>
    </p:bg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6"/>
          <p:cNvSpPr/>
          <p:nvPr/>
        </p:nvSpPr>
        <p:spPr>
          <a:xfrm rot="-720000">
            <a:off x="11435264" y="6100511"/>
            <a:ext cx="500479" cy="500479"/>
          </a:xfrm>
          <a:custGeom>
            <a:rect b="b" l="l" r="r" t="t"/>
            <a:pathLst>
              <a:path extrusionOk="0" h="500479" w="500479">
                <a:moveTo>
                  <a:pt x="0" y="0"/>
                </a:moveTo>
                <a:lnTo>
                  <a:pt x="500479" y="0"/>
                </a:lnTo>
                <a:lnTo>
                  <a:pt x="500479" y="500479"/>
                </a:lnTo>
                <a:lnTo>
                  <a:pt x="0" y="500479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cap="flat" cmpd="sng" w="381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49227">
              <a:srgbClr val="2D3436"/>
            </a:outerShdw>
          </a:effectLst>
        </p:spPr>
      </p:sp>
      <p:sp>
        <p:nvSpPr>
          <p:cNvPr id="423" name="Google Shape;423;p16"/>
          <p:cNvSpPr/>
          <p:nvPr/>
        </p:nvSpPr>
        <p:spPr>
          <a:xfrm>
            <a:off x="340490" y="340490"/>
            <a:ext cx="1887052" cy="352797"/>
          </a:xfrm>
          <a:custGeom>
            <a:rect b="b" l="l" r="r" t="t"/>
            <a:pathLst>
              <a:path extrusionOk="0" h="352797" w="1887052">
                <a:moveTo>
                  <a:pt x="0" y="0"/>
                </a:moveTo>
                <a:lnTo>
                  <a:pt x="1887052" y="0"/>
                </a:lnTo>
                <a:lnTo>
                  <a:pt x="1887052" y="352797"/>
                </a:lnTo>
                <a:lnTo>
                  <a:pt x="0" y="352797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cap="flat" cmpd="sng" w="381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49227">
              <a:srgbClr val="2D3436"/>
            </a:outerShdw>
          </a:effectLst>
        </p:spPr>
      </p:sp>
      <p:sp>
        <p:nvSpPr>
          <p:cNvPr id="424" name="Google Shape;424;p16"/>
          <p:cNvSpPr/>
          <p:nvPr/>
        </p:nvSpPr>
        <p:spPr>
          <a:xfrm>
            <a:off x="484070" y="438945"/>
            <a:ext cx="1661427" cy="155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34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NETWORK MAINTENANCE</a:t>
            </a:r>
            <a:endParaRPr b="0" i="0" sz="1600" u="none" cap="none" strike="noStrike"/>
          </a:p>
        </p:txBody>
      </p:sp>
      <p:sp>
        <p:nvSpPr>
          <p:cNvPr id="425" name="Google Shape;425;p16"/>
          <p:cNvSpPr/>
          <p:nvPr/>
        </p:nvSpPr>
        <p:spPr>
          <a:xfrm>
            <a:off x="328180" y="771225"/>
            <a:ext cx="4288800" cy="32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26" u="none" cap="none" strike="noStrike">
                <a:solidFill>
                  <a:srgbClr val="2D3436"/>
                </a:solidFill>
                <a:latin typeface="Coda"/>
                <a:ea typeface="Coda"/>
                <a:cs typeface="Coda"/>
                <a:sym typeface="Coda"/>
              </a:rPr>
              <a:t>Re-Discovery: Finding Your AP</a:t>
            </a:r>
            <a:endParaRPr b="0" i="0" sz="1600" u="none" cap="none" strike="noStrike"/>
          </a:p>
        </p:txBody>
      </p:sp>
      <p:sp>
        <p:nvSpPr>
          <p:cNvPr id="426" name="Google Shape;426;p16"/>
          <p:cNvSpPr/>
          <p:nvPr/>
        </p:nvSpPr>
        <p:spPr>
          <a:xfrm>
            <a:off x="355811" y="1247100"/>
            <a:ext cx="7221647" cy="4881395"/>
          </a:xfrm>
          <a:custGeom>
            <a:rect b="b" l="l" r="r" t="t"/>
            <a:pathLst>
              <a:path extrusionOk="0" h="3642832" w="5652953">
                <a:moveTo>
                  <a:pt x="0" y="0"/>
                </a:moveTo>
                <a:lnTo>
                  <a:pt x="5652953" y="0"/>
                </a:lnTo>
                <a:lnTo>
                  <a:pt x="5652953" y="3642832"/>
                </a:lnTo>
                <a:lnTo>
                  <a:pt x="0" y="364283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flat" cmpd="sng" w="6805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36127" rotWithShape="0" algn="bl" dir="2700000" dist="65956">
              <a:srgbClr val="2D3436"/>
            </a:outerShdw>
          </a:effectLst>
        </p:spPr>
      </p:sp>
      <p:sp>
        <p:nvSpPr>
          <p:cNvPr id="427" name="Google Shape;427;p16"/>
          <p:cNvSpPr/>
          <p:nvPr/>
        </p:nvSpPr>
        <p:spPr>
          <a:xfrm>
            <a:off x="570172" y="1461460"/>
            <a:ext cx="494736" cy="494736"/>
          </a:xfrm>
          <a:custGeom>
            <a:rect b="b" l="l" r="r" t="t"/>
            <a:pathLst>
              <a:path extrusionOk="0" h="369206" w="369206">
                <a:moveTo>
                  <a:pt x="0" y="0"/>
                </a:moveTo>
                <a:lnTo>
                  <a:pt x="369206" y="0"/>
                </a:lnTo>
                <a:lnTo>
                  <a:pt x="369206" y="369206"/>
                </a:lnTo>
                <a:lnTo>
                  <a:pt x="0" y="369206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cap="flat" cmpd="sng" w="5105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36127" rotWithShape="0" algn="bl" dir="2700000" dist="65956">
              <a:srgbClr val="2D3436"/>
            </a:outerShdw>
          </a:effectLst>
        </p:spPr>
      </p:sp>
      <p:sp>
        <p:nvSpPr>
          <p:cNvPr id="428" name="Google Shape;428;p16"/>
          <p:cNvSpPr/>
          <p:nvPr/>
        </p:nvSpPr>
        <p:spPr>
          <a:xfrm>
            <a:off x="693841" y="1598870"/>
            <a:ext cx="247368" cy="219883"/>
          </a:xfrm>
          <a:custGeom>
            <a:rect b="b" l="l" r="r" t="t"/>
            <a:pathLst>
              <a:path extrusionOk="0" h="164092" w="184603">
                <a:moveTo>
                  <a:pt x="92301" y="30767"/>
                </a:moveTo>
                <a:cubicBezTo>
                  <a:pt x="63169" y="30767"/>
                  <a:pt x="36792" y="42305"/>
                  <a:pt x="17403" y="61086"/>
                </a:cubicBezTo>
                <a:cubicBezTo>
                  <a:pt x="13332" y="65028"/>
                  <a:pt x="6826" y="64932"/>
                  <a:pt x="2916" y="60861"/>
                </a:cubicBezTo>
                <a:cubicBezTo>
                  <a:pt x="-994" y="56791"/>
                  <a:pt x="-929" y="50285"/>
                  <a:pt x="3141" y="46375"/>
                </a:cubicBezTo>
                <a:cubicBezTo>
                  <a:pt x="26184" y="24005"/>
                  <a:pt x="57656" y="10256"/>
                  <a:pt x="92301" y="10256"/>
                </a:cubicBezTo>
                <a:cubicBezTo>
                  <a:pt x="126947" y="10256"/>
                  <a:pt x="158419" y="24005"/>
                  <a:pt x="181494" y="46375"/>
                </a:cubicBezTo>
                <a:cubicBezTo>
                  <a:pt x="185564" y="50317"/>
                  <a:pt x="185661" y="56823"/>
                  <a:pt x="181719" y="60861"/>
                </a:cubicBezTo>
                <a:cubicBezTo>
                  <a:pt x="177776" y="64899"/>
                  <a:pt x="171271" y="65028"/>
                  <a:pt x="167232" y="61086"/>
                </a:cubicBezTo>
                <a:cubicBezTo>
                  <a:pt x="147811" y="42305"/>
                  <a:pt x="121434" y="30767"/>
                  <a:pt x="92301" y="30767"/>
                </a:cubicBezTo>
                <a:close/>
                <a:moveTo>
                  <a:pt x="76918" y="138452"/>
                </a:moveTo>
                <a:cubicBezTo>
                  <a:pt x="76918" y="129962"/>
                  <a:pt x="83811" y="123069"/>
                  <a:pt x="92301" y="123069"/>
                </a:cubicBezTo>
                <a:cubicBezTo>
                  <a:pt x="100792" y="123069"/>
                  <a:pt x="107685" y="129962"/>
                  <a:pt x="107685" y="138452"/>
                </a:cubicBezTo>
                <a:cubicBezTo>
                  <a:pt x="107685" y="146943"/>
                  <a:pt x="100792" y="153836"/>
                  <a:pt x="92301" y="153836"/>
                </a:cubicBezTo>
                <a:cubicBezTo>
                  <a:pt x="83811" y="153836"/>
                  <a:pt x="76918" y="146943"/>
                  <a:pt x="76918" y="138452"/>
                </a:cubicBezTo>
                <a:close/>
                <a:moveTo>
                  <a:pt x="53843" y="104544"/>
                </a:moveTo>
                <a:cubicBezTo>
                  <a:pt x="50093" y="108807"/>
                  <a:pt x="43619" y="109191"/>
                  <a:pt x="39356" y="105442"/>
                </a:cubicBezTo>
                <a:cubicBezTo>
                  <a:pt x="35094" y="101692"/>
                  <a:pt x="34709" y="95218"/>
                  <a:pt x="38459" y="90955"/>
                </a:cubicBezTo>
                <a:cubicBezTo>
                  <a:pt x="51599" y="76085"/>
                  <a:pt x="70861" y="66662"/>
                  <a:pt x="92301" y="66662"/>
                </a:cubicBezTo>
                <a:cubicBezTo>
                  <a:pt x="113742" y="66662"/>
                  <a:pt x="133004" y="76085"/>
                  <a:pt x="146144" y="90955"/>
                </a:cubicBezTo>
                <a:cubicBezTo>
                  <a:pt x="149894" y="95218"/>
                  <a:pt x="149477" y="101692"/>
                  <a:pt x="145247" y="105442"/>
                </a:cubicBezTo>
                <a:cubicBezTo>
                  <a:pt x="141016" y="109191"/>
                  <a:pt x="134510" y="108775"/>
                  <a:pt x="130760" y="104544"/>
                </a:cubicBezTo>
                <a:cubicBezTo>
                  <a:pt x="121338" y="93872"/>
                  <a:pt x="107621" y="87174"/>
                  <a:pt x="92301" y="87174"/>
                </a:cubicBezTo>
                <a:cubicBezTo>
                  <a:pt x="76982" y="87174"/>
                  <a:pt x="63265" y="93872"/>
                  <a:pt x="53843" y="10454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122500" lIns="122500" spcFirstLastPara="1" rIns="122500" wrap="square" tIns="122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6"/>
          <p:cNvSpPr/>
          <p:nvPr/>
        </p:nvSpPr>
        <p:spPr>
          <a:xfrm>
            <a:off x="1213251" y="1532914"/>
            <a:ext cx="17919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77" u="none" cap="none" strike="noStrike">
                <a:solidFill>
                  <a:srgbClr val="2D3436"/>
                </a:solidFill>
                <a:latin typeface="Coda"/>
                <a:ea typeface="Coda"/>
                <a:cs typeface="Coda"/>
                <a:sym typeface="Coda"/>
              </a:rPr>
              <a:t>Normal 802.11</a:t>
            </a:r>
            <a:endParaRPr b="0" i="0" sz="2144" u="none" cap="none" strike="noStrike"/>
          </a:p>
        </p:txBody>
      </p:sp>
      <p:sp>
        <p:nvSpPr>
          <p:cNvPr id="430" name="Google Shape;430;p16"/>
          <p:cNvSpPr/>
          <p:nvPr/>
        </p:nvSpPr>
        <p:spPr>
          <a:xfrm>
            <a:off x="553697" y="2104544"/>
            <a:ext cx="68427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85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If device stops receiving beacon frames, it assumes it's out of range and needs to find a new AP.</a:t>
            </a:r>
            <a:endParaRPr b="1" i="0" sz="2144" u="none" cap="none" strike="noStrike"/>
          </a:p>
        </p:txBody>
      </p:sp>
      <p:sp>
        <p:nvSpPr>
          <p:cNvPr id="431" name="Google Shape;431;p16"/>
          <p:cNvSpPr/>
          <p:nvPr/>
        </p:nvSpPr>
        <p:spPr>
          <a:xfrm>
            <a:off x="570178" y="2824553"/>
            <a:ext cx="6839539" cy="2363739"/>
          </a:xfrm>
          <a:custGeom>
            <a:rect b="b" l="l" r="r" t="t"/>
            <a:pathLst>
              <a:path extrusionOk="0" h="1763984" w="5332974">
                <a:moveTo>
                  <a:pt x="0" y="0"/>
                </a:moveTo>
                <a:lnTo>
                  <a:pt x="5332974" y="0"/>
                </a:lnTo>
                <a:lnTo>
                  <a:pt x="5332974" y="1763984"/>
                </a:lnTo>
                <a:lnTo>
                  <a:pt x="0" y="1763984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cap="flat" cmpd="sng" w="5105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36127" rotWithShape="0" algn="bl" dir="2700000" dist="65956">
              <a:srgbClr val="2D3436"/>
            </a:outerShdw>
          </a:effectLst>
        </p:spPr>
      </p:sp>
      <p:sp>
        <p:nvSpPr>
          <p:cNvPr id="432" name="Google Shape;432;p16"/>
          <p:cNvSpPr/>
          <p:nvPr/>
        </p:nvSpPr>
        <p:spPr>
          <a:xfrm>
            <a:off x="718575" y="2972969"/>
            <a:ext cx="6947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8" u="none" cap="none" strike="noStrike">
                <a:solidFill>
                  <a:srgbClr val="FFFFFF"/>
                </a:solidFill>
                <a:latin typeface="Coda"/>
                <a:ea typeface="Coda"/>
                <a:cs typeface="Coda"/>
                <a:sym typeface="Coda"/>
              </a:rPr>
              <a:t>Re-Discovery Process:</a:t>
            </a:r>
            <a:endParaRPr b="0" i="0" sz="2144" u="none" cap="none" strike="noStrike"/>
          </a:p>
        </p:txBody>
      </p:sp>
      <p:sp>
        <p:nvSpPr>
          <p:cNvPr id="433" name="Google Shape;433;p16"/>
          <p:cNvSpPr/>
          <p:nvPr/>
        </p:nvSpPr>
        <p:spPr>
          <a:xfrm>
            <a:off x="729568" y="3379701"/>
            <a:ext cx="329824" cy="329824"/>
          </a:xfrm>
          <a:custGeom>
            <a:rect b="b" l="l" r="r" t="t"/>
            <a:pathLst>
              <a:path extrusionOk="0" h="246137" w="246137">
                <a:moveTo>
                  <a:pt x="0" y="0"/>
                </a:moveTo>
                <a:lnTo>
                  <a:pt x="246137" y="0"/>
                </a:lnTo>
                <a:lnTo>
                  <a:pt x="246137" y="246137"/>
                </a:lnTo>
                <a:lnTo>
                  <a:pt x="0" y="2461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flat" cmpd="sng" w="34025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36127" rotWithShape="0" algn="bl" dir="2700000" dist="65956">
              <a:srgbClr val="2D3436"/>
            </a:outerShdw>
          </a:effectLst>
        </p:spPr>
      </p:sp>
      <p:sp>
        <p:nvSpPr>
          <p:cNvPr id="434" name="Google Shape;434;p16"/>
          <p:cNvSpPr/>
          <p:nvPr/>
        </p:nvSpPr>
        <p:spPr>
          <a:xfrm>
            <a:off x="868444" y="3434666"/>
            <a:ext cx="1317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11" u="none" cap="none" strike="noStrike">
                <a:solidFill>
                  <a:srgbClr val="FF6B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 b="0" i="0" sz="2144" u="none" cap="none" strike="noStrike"/>
          </a:p>
        </p:txBody>
      </p:sp>
      <p:sp>
        <p:nvSpPr>
          <p:cNvPr id="435" name="Google Shape;435;p16"/>
          <p:cNvSpPr/>
          <p:nvPr/>
        </p:nvSpPr>
        <p:spPr>
          <a:xfrm>
            <a:off x="1158287" y="3412680"/>
            <a:ext cx="2209500" cy="2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85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Scan ALL available channels</a:t>
            </a:r>
            <a:endParaRPr b="0" i="0" sz="2144" u="none" cap="none" strike="noStrike"/>
          </a:p>
        </p:txBody>
      </p:sp>
      <p:sp>
        <p:nvSpPr>
          <p:cNvPr id="436" name="Google Shape;436;p16"/>
          <p:cNvSpPr/>
          <p:nvPr/>
        </p:nvSpPr>
        <p:spPr>
          <a:xfrm>
            <a:off x="729568" y="3819413"/>
            <a:ext cx="329824" cy="329824"/>
          </a:xfrm>
          <a:custGeom>
            <a:rect b="b" l="l" r="r" t="t"/>
            <a:pathLst>
              <a:path extrusionOk="0" h="246137" w="246137">
                <a:moveTo>
                  <a:pt x="0" y="0"/>
                </a:moveTo>
                <a:lnTo>
                  <a:pt x="246137" y="0"/>
                </a:lnTo>
                <a:lnTo>
                  <a:pt x="246137" y="246137"/>
                </a:lnTo>
                <a:lnTo>
                  <a:pt x="0" y="2461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flat" cmpd="sng" w="34025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36127" rotWithShape="0" algn="bl" dir="2700000" dist="65956">
              <a:srgbClr val="2D3436"/>
            </a:outerShdw>
          </a:effectLst>
        </p:spPr>
      </p:sp>
      <p:sp>
        <p:nvSpPr>
          <p:cNvPr id="437" name="Google Shape;437;p16"/>
          <p:cNvSpPr/>
          <p:nvPr/>
        </p:nvSpPr>
        <p:spPr>
          <a:xfrm>
            <a:off x="853787" y="3874377"/>
            <a:ext cx="1539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11" u="none" cap="none" strike="noStrike">
                <a:solidFill>
                  <a:srgbClr val="FF6B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 b="0" i="0" sz="2144" u="none" cap="none" strike="noStrike"/>
          </a:p>
        </p:txBody>
      </p:sp>
      <p:sp>
        <p:nvSpPr>
          <p:cNvPr id="438" name="Google Shape;438;p16"/>
          <p:cNvSpPr/>
          <p:nvPr/>
        </p:nvSpPr>
        <p:spPr>
          <a:xfrm>
            <a:off x="1158287" y="3852392"/>
            <a:ext cx="1714500" cy="2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85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Find one or more APs</a:t>
            </a:r>
            <a:endParaRPr b="0" i="0" sz="2144" u="none" cap="none" strike="noStrike"/>
          </a:p>
        </p:txBody>
      </p:sp>
      <p:sp>
        <p:nvSpPr>
          <p:cNvPr id="439" name="Google Shape;439;p16"/>
          <p:cNvSpPr/>
          <p:nvPr/>
        </p:nvSpPr>
        <p:spPr>
          <a:xfrm>
            <a:off x="729568" y="4259125"/>
            <a:ext cx="329824" cy="329824"/>
          </a:xfrm>
          <a:custGeom>
            <a:rect b="b" l="l" r="r" t="t"/>
            <a:pathLst>
              <a:path extrusionOk="0" h="246137" w="246137">
                <a:moveTo>
                  <a:pt x="0" y="0"/>
                </a:moveTo>
                <a:lnTo>
                  <a:pt x="246137" y="0"/>
                </a:lnTo>
                <a:lnTo>
                  <a:pt x="246137" y="246137"/>
                </a:lnTo>
                <a:lnTo>
                  <a:pt x="0" y="2461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flat" cmpd="sng" w="34025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36127" rotWithShape="0" algn="bl" dir="2700000" dist="65956">
              <a:srgbClr val="2D3436"/>
            </a:outerShdw>
          </a:effectLst>
        </p:spPr>
      </p:sp>
      <p:sp>
        <p:nvSpPr>
          <p:cNvPr id="440" name="Google Shape;440;p16"/>
          <p:cNvSpPr/>
          <p:nvPr/>
        </p:nvSpPr>
        <p:spPr>
          <a:xfrm>
            <a:off x="851771" y="4314089"/>
            <a:ext cx="1647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11" u="none" cap="none" strike="noStrike">
                <a:solidFill>
                  <a:srgbClr val="FF6B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 b="0" i="0" sz="2144" u="none" cap="none" strike="noStrike"/>
          </a:p>
        </p:txBody>
      </p:sp>
      <p:sp>
        <p:nvSpPr>
          <p:cNvPr id="441" name="Google Shape;441;p16"/>
          <p:cNvSpPr/>
          <p:nvPr/>
        </p:nvSpPr>
        <p:spPr>
          <a:xfrm>
            <a:off x="1158287" y="4292103"/>
            <a:ext cx="1681800" cy="2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85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Authenticate with AP</a:t>
            </a:r>
            <a:endParaRPr b="0" i="0" sz="2144" u="none" cap="none" strike="noStrike"/>
          </a:p>
        </p:txBody>
      </p:sp>
      <p:sp>
        <p:nvSpPr>
          <p:cNvPr id="442" name="Google Shape;442;p16"/>
          <p:cNvSpPr/>
          <p:nvPr/>
        </p:nvSpPr>
        <p:spPr>
          <a:xfrm>
            <a:off x="729568" y="4698836"/>
            <a:ext cx="329824" cy="329824"/>
          </a:xfrm>
          <a:custGeom>
            <a:rect b="b" l="l" r="r" t="t"/>
            <a:pathLst>
              <a:path extrusionOk="0" h="246137" w="246137">
                <a:moveTo>
                  <a:pt x="0" y="0"/>
                </a:moveTo>
                <a:lnTo>
                  <a:pt x="246137" y="0"/>
                </a:lnTo>
                <a:lnTo>
                  <a:pt x="246137" y="246137"/>
                </a:lnTo>
                <a:lnTo>
                  <a:pt x="0" y="2461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flat" cmpd="sng" w="34025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36127" rotWithShape="0" algn="bl" dir="2700000" dist="65956">
              <a:srgbClr val="2D3436"/>
            </a:outerShdw>
          </a:effectLst>
        </p:spPr>
      </p:sp>
      <p:sp>
        <p:nvSpPr>
          <p:cNvPr id="443" name="Google Shape;443;p16"/>
          <p:cNvSpPr/>
          <p:nvPr/>
        </p:nvSpPr>
        <p:spPr>
          <a:xfrm>
            <a:off x="853787" y="4753800"/>
            <a:ext cx="1539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11" u="none" cap="none" strike="noStrike">
                <a:solidFill>
                  <a:srgbClr val="FF6B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 b="0" i="0" sz="2144" u="none" cap="none" strike="noStrike"/>
          </a:p>
        </p:txBody>
      </p:sp>
      <p:sp>
        <p:nvSpPr>
          <p:cNvPr id="444" name="Google Shape;444;p16"/>
          <p:cNvSpPr/>
          <p:nvPr/>
        </p:nvSpPr>
        <p:spPr>
          <a:xfrm>
            <a:off x="1158287" y="4731815"/>
            <a:ext cx="1527900" cy="2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85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Associate with BSS</a:t>
            </a:r>
            <a:endParaRPr b="0" i="0" sz="2144" u="none" cap="none" strike="noStrike"/>
          </a:p>
        </p:txBody>
      </p:sp>
      <p:sp>
        <p:nvSpPr>
          <p:cNvPr id="445" name="Google Shape;445;p16"/>
          <p:cNvSpPr/>
          <p:nvPr/>
        </p:nvSpPr>
        <p:spPr>
          <a:xfrm>
            <a:off x="570152" y="5352890"/>
            <a:ext cx="6839539" cy="494797"/>
          </a:xfrm>
          <a:custGeom>
            <a:rect b="b" l="l" r="r" t="t"/>
            <a:pathLst>
              <a:path extrusionOk="0" h="418433" w="5332974">
                <a:moveTo>
                  <a:pt x="0" y="0"/>
                </a:moveTo>
                <a:lnTo>
                  <a:pt x="5332974" y="0"/>
                </a:lnTo>
                <a:lnTo>
                  <a:pt x="5332974" y="418433"/>
                </a:lnTo>
                <a:lnTo>
                  <a:pt x="0" y="418433"/>
                </a:lnTo>
                <a:lnTo>
                  <a:pt x="0" y="0"/>
                </a:lnTo>
                <a:close/>
              </a:path>
            </a:pathLst>
          </a:custGeom>
          <a:solidFill>
            <a:srgbClr val="2D3436"/>
          </a:solidFill>
          <a:ln cap="flat" cmpd="sng" w="5105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  <a:effectLst>
            <a:outerShdw blurRad="136127" rotWithShape="0" algn="bl" dir="2700000" dist="65956">
              <a:srgbClr val="2D3436"/>
            </a:outerShdw>
          </a:effectLst>
        </p:spPr>
      </p:sp>
      <p:sp>
        <p:nvSpPr>
          <p:cNvPr id="446" name="Google Shape;446;p16"/>
          <p:cNvSpPr/>
          <p:nvPr/>
        </p:nvSpPr>
        <p:spPr>
          <a:xfrm>
            <a:off x="2961288" y="5523297"/>
            <a:ext cx="219883" cy="175906"/>
          </a:xfrm>
          <a:custGeom>
            <a:rect b="b" l="l" r="r" t="t"/>
            <a:pathLst>
              <a:path extrusionOk="0" h="131273" w="164092">
                <a:moveTo>
                  <a:pt x="135376" y="32818"/>
                </a:moveTo>
                <a:cubicBezTo>
                  <a:pt x="137632" y="32818"/>
                  <a:pt x="139478" y="34664"/>
                  <a:pt x="139478" y="36921"/>
                </a:cubicBezTo>
                <a:lnTo>
                  <a:pt x="139478" y="94353"/>
                </a:lnTo>
                <a:cubicBezTo>
                  <a:pt x="139478" y="96609"/>
                  <a:pt x="137632" y="98455"/>
                  <a:pt x="135376" y="98455"/>
                </a:cubicBezTo>
                <a:lnTo>
                  <a:pt x="28716" y="98455"/>
                </a:lnTo>
                <a:cubicBezTo>
                  <a:pt x="26460" y="98455"/>
                  <a:pt x="24614" y="96609"/>
                  <a:pt x="24614" y="94353"/>
                </a:cubicBezTo>
                <a:lnTo>
                  <a:pt x="24614" y="36921"/>
                </a:lnTo>
                <a:cubicBezTo>
                  <a:pt x="24614" y="34664"/>
                  <a:pt x="26460" y="32818"/>
                  <a:pt x="28716" y="32818"/>
                </a:cubicBezTo>
                <a:lnTo>
                  <a:pt x="135376" y="32818"/>
                </a:lnTo>
                <a:close/>
                <a:moveTo>
                  <a:pt x="28716" y="16409"/>
                </a:moveTo>
                <a:cubicBezTo>
                  <a:pt x="17383" y="16409"/>
                  <a:pt x="8205" y="25588"/>
                  <a:pt x="8205" y="36921"/>
                </a:cubicBezTo>
                <a:lnTo>
                  <a:pt x="8205" y="94353"/>
                </a:lnTo>
                <a:cubicBezTo>
                  <a:pt x="8205" y="105685"/>
                  <a:pt x="17383" y="114864"/>
                  <a:pt x="28716" y="114864"/>
                </a:cubicBezTo>
                <a:lnTo>
                  <a:pt x="135376" y="114864"/>
                </a:lnTo>
                <a:cubicBezTo>
                  <a:pt x="146708" y="114864"/>
                  <a:pt x="155887" y="105685"/>
                  <a:pt x="155887" y="94353"/>
                </a:cubicBezTo>
                <a:lnTo>
                  <a:pt x="155887" y="82046"/>
                </a:lnTo>
                <a:cubicBezTo>
                  <a:pt x="160425" y="82046"/>
                  <a:pt x="164092" y="78379"/>
                  <a:pt x="164092" y="73841"/>
                </a:cubicBezTo>
                <a:lnTo>
                  <a:pt x="164092" y="57432"/>
                </a:lnTo>
                <a:cubicBezTo>
                  <a:pt x="164092" y="52894"/>
                  <a:pt x="160425" y="49227"/>
                  <a:pt x="155887" y="49227"/>
                </a:cubicBezTo>
                <a:lnTo>
                  <a:pt x="155887" y="36921"/>
                </a:lnTo>
                <a:cubicBezTo>
                  <a:pt x="155887" y="25588"/>
                  <a:pt x="146708" y="16409"/>
                  <a:pt x="135376" y="16409"/>
                </a:cubicBezTo>
                <a:lnTo>
                  <a:pt x="28716" y="16409"/>
                </a:lnTo>
                <a:close/>
                <a:moveTo>
                  <a:pt x="43074" y="45125"/>
                </a:moveTo>
                <a:cubicBezTo>
                  <a:pt x="39664" y="45125"/>
                  <a:pt x="36921" y="47869"/>
                  <a:pt x="36921" y="51279"/>
                </a:cubicBezTo>
                <a:lnTo>
                  <a:pt x="36921" y="79995"/>
                </a:lnTo>
                <a:cubicBezTo>
                  <a:pt x="36921" y="83405"/>
                  <a:pt x="39664" y="86148"/>
                  <a:pt x="43074" y="86148"/>
                </a:cubicBezTo>
                <a:lnTo>
                  <a:pt x="59483" y="86148"/>
                </a:lnTo>
                <a:cubicBezTo>
                  <a:pt x="62893" y="86148"/>
                  <a:pt x="65637" y="83405"/>
                  <a:pt x="65637" y="79995"/>
                </a:cubicBezTo>
                <a:lnTo>
                  <a:pt x="65637" y="51279"/>
                </a:lnTo>
                <a:cubicBezTo>
                  <a:pt x="65637" y="47869"/>
                  <a:pt x="62893" y="45125"/>
                  <a:pt x="59483" y="45125"/>
                </a:cubicBezTo>
                <a:lnTo>
                  <a:pt x="43074" y="4512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122500" lIns="122500" spcFirstLastPara="1" rIns="122500" wrap="square" tIns="122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6"/>
          <p:cNvSpPr/>
          <p:nvPr/>
        </p:nvSpPr>
        <p:spPr>
          <a:xfrm>
            <a:off x="921246" y="5471282"/>
            <a:ext cx="6660000" cy="2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85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Extremely power hungry!</a:t>
            </a:r>
            <a:endParaRPr b="0" i="0" sz="2144" u="none" cap="none" strike="noStrike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5F5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17"/>
          <p:cNvSpPr/>
          <p:nvPr/>
        </p:nvSpPr>
        <p:spPr>
          <a:xfrm rot="-719078">
            <a:off x="11435179" y="6100632"/>
            <a:ext cx="500119" cy="500119"/>
          </a:xfrm>
          <a:custGeom>
            <a:rect b="b" l="l" r="r" t="t"/>
            <a:pathLst>
              <a:path extrusionOk="0" h="500479" w="500479">
                <a:moveTo>
                  <a:pt x="0" y="0"/>
                </a:moveTo>
                <a:lnTo>
                  <a:pt x="500479" y="0"/>
                </a:lnTo>
                <a:lnTo>
                  <a:pt x="500479" y="500479"/>
                </a:lnTo>
                <a:lnTo>
                  <a:pt x="0" y="500479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cap="flat" cmpd="sng" w="381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49227">
              <a:srgbClr val="2D3436"/>
            </a:outerShdw>
          </a:effectLst>
        </p:spPr>
      </p:sp>
      <p:sp>
        <p:nvSpPr>
          <p:cNvPr id="454" name="Google Shape;454;p17"/>
          <p:cNvSpPr/>
          <p:nvPr/>
        </p:nvSpPr>
        <p:spPr>
          <a:xfrm>
            <a:off x="340490" y="340490"/>
            <a:ext cx="1887052" cy="352797"/>
          </a:xfrm>
          <a:custGeom>
            <a:rect b="b" l="l" r="r" t="t"/>
            <a:pathLst>
              <a:path extrusionOk="0" h="352797" w="1887052">
                <a:moveTo>
                  <a:pt x="0" y="0"/>
                </a:moveTo>
                <a:lnTo>
                  <a:pt x="1887052" y="0"/>
                </a:lnTo>
                <a:lnTo>
                  <a:pt x="1887052" y="352797"/>
                </a:lnTo>
                <a:lnTo>
                  <a:pt x="0" y="352797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cap="flat" cmpd="sng" w="381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49227">
              <a:srgbClr val="2D3436"/>
            </a:outerShdw>
          </a:effectLst>
        </p:spPr>
      </p:sp>
      <p:sp>
        <p:nvSpPr>
          <p:cNvPr id="455" name="Google Shape;455;p17"/>
          <p:cNvSpPr/>
          <p:nvPr/>
        </p:nvSpPr>
        <p:spPr>
          <a:xfrm>
            <a:off x="484070" y="438945"/>
            <a:ext cx="1661400" cy="1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34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NETWORK MAINTENANCE</a:t>
            </a:r>
            <a:endParaRPr b="0" i="0" sz="1600" u="none" cap="none" strike="noStrike"/>
          </a:p>
        </p:txBody>
      </p:sp>
      <p:sp>
        <p:nvSpPr>
          <p:cNvPr id="456" name="Google Shape;456;p17"/>
          <p:cNvSpPr/>
          <p:nvPr/>
        </p:nvSpPr>
        <p:spPr>
          <a:xfrm>
            <a:off x="328180" y="811471"/>
            <a:ext cx="4288800" cy="32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26" u="none" cap="none" strike="noStrike">
                <a:solidFill>
                  <a:srgbClr val="2D3436"/>
                </a:solidFill>
                <a:latin typeface="Coda"/>
                <a:ea typeface="Coda"/>
                <a:cs typeface="Coda"/>
                <a:sym typeface="Coda"/>
              </a:rPr>
              <a:t>Re-Discovery: Finding Your AP</a:t>
            </a:r>
            <a:endParaRPr b="0" i="0" sz="1600" u="none" cap="none" strike="noStrike"/>
          </a:p>
        </p:txBody>
      </p:sp>
      <p:sp>
        <p:nvSpPr>
          <p:cNvPr id="457" name="Google Shape;457;p17"/>
          <p:cNvSpPr/>
          <p:nvPr/>
        </p:nvSpPr>
        <p:spPr>
          <a:xfrm>
            <a:off x="328175" y="1560925"/>
            <a:ext cx="6684617" cy="3834081"/>
          </a:xfrm>
          <a:custGeom>
            <a:rect b="b" l="l" r="r" t="t"/>
            <a:pathLst>
              <a:path extrusionOk="0" h="3642832" w="5652953">
                <a:moveTo>
                  <a:pt x="0" y="0"/>
                </a:moveTo>
                <a:lnTo>
                  <a:pt x="5652953" y="0"/>
                </a:lnTo>
                <a:lnTo>
                  <a:pt x="5652953" y="3642832"/>
                </a:lnTo>
                <a:lnTo>
                  <a:pt x="0" y="3642832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cap="flat" cmpd="sng" w="6485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29736" rotWithShape="0" algn="bl" dir="2700000" dist="62859">
              <a:srgbClr val="2D3436"/>
            </a:outerShdw>
          </a:effectLst>
        </p:spPr>
      </p:sp>
      <p:sp>
        <p:nvSpPr>
          <p:cNvPr id="458" name="Google Shape;458;p17"/>
          <p:cNvSpPr/>
          <p:nvPr/>
        </p:nvSpPr>
        <p:spPr>
          <a:xfrm>
            <a:off x="498951" y="3102193"/>
            <a:ext cx="6279577" cy="1977816"/>
          </a:xfrm>
          <a:custGeom>
            <a:rect b="b" l="l" r="r" t="t"/>
            <a:pathLst>
              <a:path extrusionOk="0" h="1435801" w="5332974">
                <a:moveTo>
                  <a:pt x="0" y="0"/>
                </a:moveTo>
                <a:lnTo>
                  <a:pt x="5332974" y="0"/>
                </a:lnTo>
                <a:lnTo>
                  <a:pt x="5332974" y="1435801"/>
                </a:lnTo>
                <a:lnTo>
                  <a:pt x="0" y="143580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flat" cmpd="sng" w="48675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29736" rotWithShape="0" algn="bl" dir="2700000" dist="62859">
              <a:srgbClr val="2D3436"/>
            </a:outerShdw>
          </a:effectLst>
        </p:spPr>
      </p:sp>
      <p:sp>
        <p:nvSpPr>
          <p:cNvPr id="459" name="Google Shape;459;p17"/>
          <p:cNvSpPr/>
          <p:nvPr/>
        </p:nvSpPr>
        <p:spPr>
          <a:xfrm>
            <a:off x="1145360" y="1833308"/>
            <a:ext cx="17283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79" u="none" cap="none" strike="noStrike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rPr>
              <a:t>WUR Solution</a:t>
            </a:r>
            <a:endParaRPr b="0" i="0" sz="2043" u="none" cap="none" strike="noStrike">
              <a:solidFill>
                <a:schemeClr val="dk1"/>
              </a:solidFill>
            </a:endParaRPr>
          </a:p>
        </p:txBody>
      </p:sp>
      <p:sp>
        <p:nvSpPr>
          <p:cNvPr id="460" name="Google Shape;460;p17"/>
          <p:cNvSpPr/>
          <p:nvPr/>
        </p:nvSpPr>
        <p:spPr>
          <a:xfrm>
            <a:off x="1099605" y="3288625"/>
            <a:ext cx="27447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All APs send </a:t>
            </a:r>
            <a:r>
              <a:rPr b="1" i="0" lang="en-US" sz="132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WUR Discovery Frames</a:t>
            </a:r>
            <a:endParaRPr b="1" i="0" sz="2043" u="none" cap="none" strike="noStrike"/>
          </a:p>
        </p:txBody>
      </p:sp>
      <p:sp>
        <p:nvSpPr>
          <p:cNvPr id="461" name="Google Shape;461;p17"/>
          <p:cNvSpPr/>
          <p:nvPr/>
        </p:nvSpPr>
        <p:spPr>
          <a:xfrm>
            <a:off x="1072774" y="3707688"/>
            <a:ext cx="30696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Contains: </a:t>
            </a:r>
            <a:r>
              <a:rPr b="1" i="0" lang="en-US" sz="132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 address + operating channel</a:t>
            </a:r>
            <a:endParaRPr b="1" i="0" sz="2043" u="none" cap="none" strike="noStrike"/>
          </a:p>
        </p:txBody>
      </p:sp>
      <p:sp>
        <p:nvSpPr>
          <p:cNvPr id="462" name="Google Shape;462;p17"/>
          <p:cNvSpPr/>
          <p:nvPr/>
        </p:nvSpPr>
        <p:spPr>
          <a:xfrm>
            <a:off x="1086189" y="4126751"/>
            <a:ext cx="26091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Device monitors </a:t>
            </a:r>
            <a:r>
              <a:rPr b="1" i="0" lang="en-US" sz="132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ONE channel</a:t>
            </a:r>
            <a:r>
              <a:rPr b="0" i="0" lang="en-US" sz="1320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only</a:t>
            </a:r>
            <a:endParaRPr b="0" i="0" sz="2043" u="none" cap="none" strike="noStrike"/>
          </a:p>
        </p:txBody>
      </p:sp>
      <p:sp>
        <p:nvSpPr>
          <p:cNvPr id="463" name="Google Shape;463;p17"/>
          <p:cNvSpPr/>
          <p:nvPr/>
        </p:nvSpPr>
        <p:spPr>
          <a:xfrm>
            <a:off x="539151" y="2378100"/>
            <a:ext cx="6128400" cy="5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Engineer's optimization: Dedicate a single channel for discovery instead of scanning all channels.</a:t>
            </a:r>
            <a:endParaRPr b="0" i="0" sz="2043" u="none" cap="none" strike="noStrike">
              <a:solidFill>
                <a:schemeClr val="dk1"/>
              </a:solidFill>
            </a:endParaRPr>
          </a:p>
        </p:txBody>
      </p:sp>
      <p:sp>
        <p:nvSpPr>
          <p:cNvPr id="464" name="Google Shape;464;p17"/>
          <p:cNvSpPr/>
          <p:nvPr/>
        </p:nvSpPr>
        <p:spPr>
          <a:xfrm>
            <a:off x="532473" y="1765210"/>
            <a:ext cx="471661" cy="471661"/>
          </a:xfrm>
          <a:custGeom>
            <a:rect b="b" l="l" r="r" t="t"/>
            <a:pathLst>
              <a:path extrusionOk="0" h="369206" w="369206">
                <a:moveTo>
                  <a:pt x="0" y="0"/>
                </a:moveTo>
                <a:lnTo>
                  <a:pt x="369206" y="0"/>
                </a:lnTo>
                <a:lnTo>
                  <a:pt x="369206" y="369206"/>
                </a:lnTo>
                <a:lnTo>
                  <a:pt x="0" y="3692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flat" cmpd="sng" w="48675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29736" rotWithShape="0" algn="bl" dir="2700000" dist="62859">
              <a:srgbClr val="2D3436"/>
            </a:outerShdw>
          </a:effectLst>
        </p:spPr>
      </p:sp>
      <p:sp>
        <p:nvSpPr>
          <p:cNvPr id="465" name="Google Shape;465;p17"/>
          <p:cNvSpPr/>
          <p:nvPr/>
        </p:nvSpPr>
        <p:spPr>
          <a:xfrm>
            <a:off x="663431" y="1896167"/>
            <a:ext cx="209628" cy="209628"/>
          </a:xfrm>
          <a:custGeom>
            <a:rect b="b" l="l" r="r" t="t"/>
            <a:pathLst>
              <a:path extrusionOk="0" h="164092" w="164092">
                <a:moveTo>
                  <a:pt x="74354" y="0"/>
                </a:moveTo>
                <a:cubicBezTo>
                  <a:pt x="123902" y="0"/>
                  <a:pt x="164092" y="40190"/>
                  <a:pt x="164092" y="89738"/>
                </a:cubicBezTo>
                <a:cubicBezTo>
                  <a:pt x="164092" y="94000"/>
                  <a:pt x="160662" y="97429"/>
                  <a:pt x="156400" y="97429"/>
                </a:cubicBezTo>
                <a:cubicBezTo>
                  <a:pt x="152137" y="97429"/>
                  <a:pt x="148708" y="94000"/>
                  <a:pt x="148708" y="89738"/>
                </a:cubicBezTo>
                <a:cubicBezTo>
                  <a:pt x="148708" y="48683"/>
                  <a:pt x="115409" y="15384"/>
                  <a:pt x="74354" y="15384"/>
                </a:cubicBezTo>
                <a:cubicBezTo>
                  <a:pt x="70091" y="15384"/>
                  <a:pt x="66662" y="11954"/>
                  <a:pt x="66662" y="7692"/>
                </a:cubicBezTo>
                <a:cubicBezTo>
                  <a:pt x="66662" y="3429"/>
                  <a:pt x="70091" y="0"/>
                  <a:pt x="74354" y="0"/>
                </a:cubicBezTo>
                <a:close/>
                <a:moveTo>
                  <a:pt x="66662" y="38459"/>
                </a:moveTo>
                <a:cubicBezTo>
                  <a:pt x="66662" y="34196"/>
                  <a:pt x="70091" y="30767"/>
                  <a:pt x="74354" y="30767"/>
                </a:cubicBezTo>
                <a:cubicBezTo>
                  <a:pt x="106916" y="30767"/>
                  <a:pt x="133324" y="57176"/>
                  <a:pt x="133324" y="89738"/>
                </a:cubicBezTo>
                <a:cubicBezTo>
                  <a:pt x="133324" y="94000"/>
                  <a:pt x="129895" y="97429"/>
                  <a:pt x="125633" y="97429"/>
                </a:cubicBezTo>
                <a:cubicBezTo>
                  <a:pt x="121370" y="97429"/>
                  <a:pt x="117941" y="94000"/>
                  <a:pt x="117941" y="89738"/>
                </a:cubicBezTo>
                <a:cubicBezTo>
                  <a:pt x="117941" y="65669"/>
                  <a:pt x="98423" y="46151"/>
                  <a:pt x="74354" y="46151"/>
                </a:cubicBezTo>
                <a:cubicBezTo>
                  <a:pt x="70091" y="46151"/>
                  <a:pt x="66662" y="42721"/>
                  <a:pt x="66662" y="38459"/>
                </a:cubicBezTo>
                <a:close/>
                <a:moveTo>
                  <a:pt x="8461" y="45734"/>
                </a:moveTo>
                <a:cubicBezTo>
                  <a:pt x="11281" y="39997"/>
                  <a:pt x="18845" y="39356"/>
                  <a:pt x="23364" y="43875"/>
                </a:cubicBezTo>
                <a:lnTo>
                  <a:pt x="64547" y="85058"/>
                </a:lnTo>
                <a:lnTo>
                  <a:pt x="74803" y="74803"/>
                </a:lnTo>
                <a:cubicBezTo>
                  <a:pt x="78809" y="70797"/>
                  <a:pt x="85315" y="70797"/>
                  <a:pt x="89321" y="74803"/>
                </a:cubicBezTo>
                <a:cubicBezTo>
                  <a:pt x="93327" y="78809"/>
                  <a:pt x="93327" y="85315"/>
                  <a:pt x="89321" y="89321"/>
                </a:cubicBezTo>
                <a:lnTo>
                  <a:pt x="79065" y="99577"/>
                </a:lnTo>
                <a:lnTo>
                  <a:pt x="120248" y="140760"/>
                </a:lnTo>
                <a:cubicBezTo>
                  <a:pt x="124767" y="145279"/>
                  <a:pt x="124094" y="152810"/>
                  <a:pt x="118389" y="155663"/>
                </a:cubicBezTo>
                <a:cubicBezTo>
                  <a:pt x="107429" y="161079"/>
                  <a:pt x="95122" y="164124"/>
                  <a:pt x="82078" y="164124"/>
                </a:cubicBezTo>
                <a:cubicBezTo>
                  <a:pt x="36760" y="164124"/>
                  <a:pt x="32" y="127395"/>
                  <a:pt x="32" y="82078"/>
                </a:cubicBezTo>
                <a:cubicBezTo>
                  <a:pt x="32" y="69034"/>
                  <a:pt x="3077" y="56695"/>
                  <a:pt x="8493" y="45766"/>
                </a:cubicBezTo>
                <a:close/>
              </a:path>
            </a:pathLst>
          </a:custGeom>
          <a:solidFill>
            <a:srgbClr val="4ECDC4"/>
          </a:solidFill>
          <a:ln>
            <a:noFill/>
          </a:ln>
        </p:spPr>
        <p:txBody>
          <a:bodyPr anchorCtr="0" anchor="ctr" bIns="116725" lIns="116725" spcFirstLastPara="1" rIns="116725" wrap="square" tIns="116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7"/>
          <p:cNvSpPr/>
          <p:nvPr/>
        </p:nvSpPr>
        <p:spPr>
          <a:xfrm>
            <a:off x="650767" y="3257195"/>
            <a:ext cx="314440" cy="314440"/>
          </a:xfrm>
          <a:custGeom>
            <a:rect b="b" l="l" r="r" t="t"/>
            <a:pathLst>
              <a:path extrusionOk="0" h="246137" w="246137">
                <a:moveTo>
                  <a:pt x="0" y="0"/>
                </a:moveTo>
                <a:lnTo>
                  <a:pt x="246137" y="0"/>
                </a:lnTo>
                <a:lnTo>
                  <a:pt x="246137" y="246137"/>
                </a:lnTo>
                <a:lnTo>
                  <a:pt x="0" y="246137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cap="flat" cmpd="sng" w="3245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29736" rotWithShape="0" algn="bl" dir="2700000" dist="62859">
              <a:srgbClr val="2D3436"/>
            </a:outerShdw>
          </a:effectLst>
        </p:spPr>
      </p:sp>
      <p:sp>
        <p:nvSpPr>
          <p:cNvPr id="467" name="Google Shape;467;p17"/>
          <p:cNvSpPr/>
          <p:nvPr/>
        </p:nvSpPr>
        <p:spPr>
          <a:xfrm>
            <a:off x="728033" y="3341008"/>
            <a:ext cx="165081" cy="146739"/>
          </a:xfrm>
          <a:custGeom>
            <a:rect b="b" l="l" r="r" t="t"/>
            <a:pathLst>
              <a:path extrusionOk="0" h="114864" w="129222">
                <a:moveTo>
                  <a:pt x="19720" y="2580"/>
                </a:moveTo>
                <a:cubicBezTo>
                  <a:pt x="17185" y="1032"/>
                  <a:pt x="13864" y="1862"/>
                  <a:pt x="12316" y="4397"/>
                </a:cubicBezTo>
                <a:cubicBezTo>
                  <a:pt x="6753" y="13595"/>
                  <a:pt x="3567" y="24386"/>
                  <a:pt x="3567" y="35895"/>
                </a:cubicBezTo>
                <a:cubicBezTo>
                  <a:pt x="3567" y="47404"/>
                  <a:pt x="6753" y="58195"/>
                  <a:pt x="12316" y="67393"/>
                </a:cubicBezTo>
                <a:cubicBezTo>
                  <a:pt x="13864" y="69928"/>
                  <a:pt x="17162" y="70758"/>
                  <a:pt x="19720" y="69210"/>
                </a:cubicBezTo>
                <a:cubicBezTo>
                  <a:pt x="22277" y="67662"/>
                  <a:pt x="23085" y="64364"/>
                  <a:pt x="21537" y="61807"/>
                </a:cubicBezTo>
                <a:cubicBezTo>
                  <a:pt x="16983" y="54269"/>
                  <a:pt x="14358" y="45385"/>
                  <a:pt x="14358" y="35895"/>
                </a:cubicBezTo>
                <a:cubicBezTo>
                  <a:pt x="14358" y="26405"/>
                  <a:pt x="16983" y="17521"/>
                  <a:pt x="21559" y="9961"/>
                </a:cubicBezTo>
                <a:cubicBezTo>
                  <a:pt x="23107" y="7426"/>
                  <a:pt x="22277" y="4105"/>
                  <a:pt x="19742" y="2558"/>
                </a:cubicBezTo>
                <a:close/>
                <a:moveTo>
                  <a:pt x="109480" y="2580"/>
                </a:moveTo>
                <a:cubicBezTo>
                  <a:pt x="106945" y="4128"/>
                  <a:pt x="106115" y="7426"/>
                  <a:pt x="107663" y="9983"/>
                </a:cubicBezTo>
                <a:cubicBezTo>
                  <a:pt x="112239" y="17544"/>
                  <a:pt x="114864" y="26428"/>
                  <a:pt x="114864" y="35917"/>
                </a:cubicBezTo>
                <a:cubicBezTo>
                  <a:pt x="114864" y="45407"/>
                  <a:pt x="112239" y="54291"/>
                  <a:pt x="107663" y="61852"/>
                </a:cubicBezTo>
                <a:cubicBezTo>
                  <a:pt x="106115" y="64387"/>
                  <a:pt x="106945" y="67707"/>
                  <a:pt x="109480" y="69255"/>
                </a:cubicBezTo>
                <a:cubicBezTo>
                  <a:pt x="112015" y="70803"/>
                  <a:pt x="115335" y="69973"/>
                  <a:pt x="116883" y="67438"/>
                </a:cubicBezTo>
                <a:cubicBezTo>
                  <a:pt x="122447" y="58240"/>
                  <a:pt x="125633" y="47449"/>
                  <a:pt x="125633" y="35940"/>
                </a:cubicBezTo>
                <a:cubicBezTo>
                  <a:pt x="125633" y="24431"/>
                  <a:pt x="122447" y="13595"/>
                  <a:pt x="116883" y="4397"/>
                </a:cubicBezTo>
                <a:cubicBezTo>
                  <a:pt x="115335" y="1862"/>
                  <a:pt x="112037" y="1032"/>
                  <a:pt x="109480" y="2580"/>
                </a:cubicBezTo>
                <a:close/>
                <a:moveTo>
                  <a:pt x="71790" y="48324"/>
                </a:moveTo>
                <a:cubicBezTo>
                  <a:pt x="76075" y="45833"/>
                  <a:pt x="78969" y="41212"/>
                  <a:pt x="78969" y="35895"/>
                </a:cubicBezTo>
                <a:cubicBezTo>
                  <a:pt x="78969" y="27976"/>
                  <a:pt x="72530" y="21537"/>
                  <a:pt x="64611" y="21537"/>
                </a:cubicBezTo>
                <a:cubicBezTo>
                  <a:pt x="56692" y="21537"/>
                  <a:pt x="50253" y="27976"/>
                  <a:pt x="50253" y="35895"/>
                </a:cubicBezTo>
                <a:cubicBezTo>
                  <a:pt x="50253" y="41212"/>
                  <a:pt x="53147" y="45856"/>
                  <a:pt x="57432" y="48324"/>
                </a:cubicBezTo>
                <a:lnTo>
                  <a:pt x="57432" y="107685"/>
                </a:lnTo>
                <a:cubicBezTo>
                  <a:pt x="57432" y="111656"/>
                  <a:pt x="60640" y="114864"/>
                  <a:pt x="64611" y="114864"/>
                </a:cubicBezTo>
                <a:cubicBezTo>
                  <a:pt x="68582" y="114864"/>
                  <a:pt x="71790" y="111656"/>
                  <a:pt x="71790" y="107685"/>
                </a:cubicBezTo>
                <a:lnTo>
                  <a:pt x="71790" y="48324"/>
                </a:lnTo>
                <a:close/>
                <a:moveTo>
                  <a:pt x="40427" y="20415"/>
                </a:moveTo>
                <a:cubicBezTo>
                  <a:pt x="42042" y="17903"/>
                  <a:pt x="41302" y="14582"/>
                  <a:pt x="38811" y="12967"/>
                </a:cubicBezTo>
                <a:cubicBezTo>
                  <a:pt x="36321" y="11352"/>
                  <a:pt x="32979" y="12092"/>
                  <a:pt x="31363" y="14582"/>
                </a:cubicBezTo>
                <a:cubicBezTo>
                  <a:pt x="27415" y="20729"/>
                  <a:pt x="25127" y="28043"/>
                  <a:pt x="25127" y="35895"/>
                </a:cubicBezTo>
                <a:cubicBezTo>
                  <a:pt x="25127" y="43747"/>
                  <a:pt x="27415" y="51061"/>
                  <a:pt x="31363" y="57208"/>
                </a:cubicBezTo>
                <a:cubicBezTo>
                  <a:pt x="32979" y="59720"/>
                  <a:pt x="36299" y="60438"/>
                  <a:pt x="38811" y="58823"/>
                </a:cubicBezTo>
                <a:cubicBezTo>
                  <a:pt x="41324" y="57208"/>
                  <a:pt x="42042" y="53887"/>
                  <a:pt x="40427" y="51375"/>
                </a:cubicBezTo>
                <a:cubicBezTo>
                  <a:pt x="37555" y="46910"/>
                  <a:pt x="35895" y="41593"/>
                  <a:pt x="35895" y="35895"/>
                </a:cubicBezTo>
                <a:cubicBezTo>
                  <a:pt x="35895" y="30197"/>
                  <a:pt x="37555" y="24880"/>
                  <a:pt x="40427" y="20415"/>
                </a:cubicBezTo>
                <a:close/>
                <a:moveTo>
                  <a:pt x="97859" y="14582"/>
                </a:moveTo>
                <a:cubicBezTo>
                  <a:pt x="96244" y="12070"/>
                  <a:pt x="92923" y="11352"/>
                  <a:pt x="90411" y="12967"/>
                </a:cubicBezTo>
                <a:cubicBezTo>
                  <a:pt x="87898" y="14582"/>
                  <a:pt x="87180" y="17903"/>
                  <a:pt x="88795" y="20415"/>
                </a:cubicBezTo>
                <a:cubicBezTo>
                  <a:pt x="91667" y="24880"/>
                  <a:pt x="93327" y="30197"/>
                  <a:pt x="93327" y="35895"/>
                </a:cubicBezTo>
                <a:cubicBezTo>
                  <a:pt x="93327" y="41593"/>
                  <a:pt x="91667" y="46910"/>
                  <a:pt x="88795" y="51375"/>
                </a:cubicBezTo>
                <a:cubicBezTo>
                  <a:pt x="87180" y="53887"/>
                  <a:pt x="87920" y="57208"/>
                  <a:pt x="90411" y="58823"/>
                </a:cubicBezTo>
                <a:cubicBezTo>
                  <a:pt x="92901" y="60438"/>
                  <a:pt x="96244" y="59698"/>
                  <a:pt x="97859" y="57208"/>
                </a:cubicBezTo>
                <a:cubicBezTo>
                  <a:pt x="101807" y="51061"/>
                  <a:pt x="104096" y="43747"/>
                  <a:pt x="104096" y="35895"/>
                </a:cubicBezTo>
                <a:cubicBezTo>
                  <a:pt x="104096" y="28043"/>
                  <a:pt x="101807" y="20729"/>
                  <a:pt x="97859" y="1458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116725" lIns="116725" spcFirstLastPara="1" rIns="116725" wrap="square" tIns="116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7"/>
          <p:cNvSpPr/>
          <p:nvPr/>
        </p:nvSpPr>
        <p:spPr>
          <a:xfrm>
            <a:off x="650767" y="3676258"/>
            <a:ext cx="314440" cy="314440"/>
          </a:xfrm>
          <a:custGeom>
            <a:rect b="b" l="l" r="r" t="t"/>
            <a:pathLst>
              <a:path extrusionOk="0" h="246137" w="246137">
                <a:moveTo>
                  <a:pt x="0" y="0"/>
                </a:moveTo>
                <a:lnTo>
                  <a:pt x="246137" y="0"/>
                </a:lnTo>
                <a:lnTo>
                  <a:pt x="246137" y="246137"/>
                </a:lnTo>
                <a:lnTo>
                  <a:pt x="0" y="246137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cap="flat" cmpd="sng" w="3245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29736" rotWithShape="0" algn="bl" dir="2700000" dist="62859">
              <a:srgbClr val="2D3436"/>
            </a:outerShdw>
          </a:effectLst>
        </p:spPr>
      </p:sp>
      <p:sp>
        <p:nvSpPr>
          <p:cNvPr id="469" name="Google Shape;469;p17"/>
          <p:cNvSpPr/>
          <p:nvPr/>
        </p:nvSpPr>
        <p:spPr>
          <a:xfrm>
            <a:off x="755535" y="3748865"/>
            <a:ext cx="110054" cy="146739"/>
          </a:xfrm>
          <a:custGeom>
            <a:rect b="b" l="l" r="r" t="t"/>
            <a:pathLst>
              <a:path extrusionOk="0" h="114864" w="86148">
                <a:moveTo>
                  <a:pt x="0" y="42311"/>
                </a:moveTo>
                <a:cubicBezTo>
                  <a:pt x="0" y="18935"/>
                  <a:pt x="19294" y="0"/>
                  <a:pt x="43074" y="0"/>
                </a:cubicBezTo>
                <a:cubicBezTo>
                  <a:pt x="66854" y="0"/>
                  <a:pt x="86148" y="18935"/>
                  <a:pt x="86148" y="42311"/>
                </a:cubicBezTo>
                <a:cubicBezTo>
                  <a:pt x="86148" y="69075"/>
                  <a:pt x="59182" y="101157"/>
                  <a:pt x="47920" y="113383"/>
                </a:cubicBezTo>
                <a:cubicBezTo>
                  <a:pt x="45273" y="116255"/>
                  <a:pt x="40853" y="116255"/>
                  <a:pt x="38206" y="113383"/>
                </a:cubicBezTo>
                <a:cubicBezTo>
                  <a:pt x="26944" y="101157"/>
                  <a:pt x="-22" y="69075"/>
                  <a:pt x="-22" y="42311"/>
                </a:cubicBezTo>
                <a:close/>
                <a:moveTo>
                  <a:pt x="43074" y="57432"/>
                </a:moveTo>
                <a:cubicBezTo>
                  <a:pt x="50998" y="57432"/>
                  <a:pt x="57432" y="50998"/>
                  <a:pt x="57432" y="43074"/>
                </a:cubicBezTo>
                <a:cubicBezTo>
                  <a:pt x="57432" y="35150"/>
                  <a:pt x="50998" y="28716"/>
                  <a:pt x="43074" y="28716"/>
                </a:cubicBezTo>
                <a:cubicBezTo>
                  <a:pt x="35150" y="28716"/>
                  <a:pt x="28716" y="35150"/>
                  <a:pt x="28716" y="43074"/>
                </a:cubicBezTo>
                <a:cubicBezTo>
                  <a:pt x="28716" y="50998"/>
                  <a:pt x="35150" y="57432"/>
                  <a:pt x="43074" y="57432"/>
                </a:cubicBezTo>
                <a:close/>
              </a:path>
            </a:pathLst>
          </a:custGeom>
          <a:solidFill>
            <a:srgbClr val="2D3436"/>
          </a:solidFill>
          <a:ln>
            <a:noFill/>
          </a:ln>
        </p:spPr>
        <p:txBody>
          <a:bodyPr anchorCtr="0" anchor="ctr" bIns="116725" lIns="116725" spcFirstLastPara="1" rIns="116725" wrap="square" tIns="116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17"/>
          <p:cNvSpPr/>
          <p:nvPr/>
        </p:nvSpPr>
        <p:spPr>
          <a:xfrm>
            <a:off x="650767" y="4095571"/>
            <a:ext cx="314440" cy="314440"/>
          </a:xfrm>
          <a:custGeom>
            <a:rect b="b" l="l" r="r" t="t"/>
            <a:pathLst>
              <a:path extrusionOk="0" h="246137" w="246137">
                <a:moveTo>
                  <a:pt x="0" y="0"/>
                </a:moveTo>
                <a:lnTo>
                  <a:pt x="246137" y="0"/>
                </a:lnTo>
                <a:lnTo>
                  <a:pt x="246137" y="246137"/>
                </a:lnTo>
                <a:lnTo>
                  <a:pt x="0" y="246137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cap="flat" cmpd="sng" w="3245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29736" rotWithShape="0" algn="bl" dir="2700000" dist="62859">
              <a:srgbClr val="2D3436"/>
            </a:outerShdw>
          </a:effectLst>
        </p:spPr>
      </p:sp>
      <p:sp>
        <p:nvSpPr>
          <p:cNvPr id="471" name="Google Shape;471;p17"/>
          <p:cNvSpPr/>
          <p:nvPr/>
        </p:nvSpPr>
        <p:spPr>
          <a:xfrm>
            <a:off x="728033" y="4179384"/>
            <a:ext cx="165081" cy="146739"/>
          </a:xfrm>
          <a:custGeom>
            <a:rect b="b" l="l" r="r" t="t"/>
            <a:pathLst>
              <a:path extrusionOk="0" h="114864" w="129222">
                <a:moveTo>
                  <a:pt x="64611" y="7179"/>
                </a:moveTo>
                <a:cubicBezTo>
                  <a:pt x="46484" y="7179"/>
                  <a:pt x="31969" y="15435"/>
                  <a:pt x="21402" y="25261"/>
                </a:cubicBezTo>
                <a:cubicBezTo>
                  <a:pt x="10903" y="35020"/>
                  <a:pt x="3881" y="46664"/>
                  <a:pt x="538" y="54673"/>
                </a:cubicBezTo>
                <a:cubicBezTo>
                  <a:pt x="-202" y="56445"/>
                  <a:pt x="-202" y="58419"/>
                  <a:pt x="538" y="60191"/>
                </a:cubicBezTo>
                <a:cubicBezTo>
                  <a:pt x="3881" y="68201"/>
                  <a:pt x="10903" y="79866"/>
                  <a:pt x="21402" y="89603"/>
                </a:cubicBezTo>
                <a:cubicBezTo>
                  <a:pt x="31969" y="99407"/>
                  <a:pt x="46484" y="107685"/>
                  <a:pt x="64611" y="107685"/>
                </a:cubicBezTo>
                <a:cubicBezTo>
                  <a:pt x="82738" y="107685"/>
                  <a:pt x="97253" y="99429"/>
                  <a:pt x="107820" y="89603"/>
                </a:cubicBezTo>
                <a:cubicBezTo>
                  <a:pt x="118319" y="79844"/>
                  <a:pt x="125341" y="68201"/>
                  <a:pt x="128684" y="60191"/>
                </a:cubicBezTo>
                <a:cubicBezTo>
                  <a:pt x="129424" y="58419"/>
                  <a:pt x="129424" y="56445"/>
                  <a:pt x="128684" y="54673"/>
                </a:cubicBezTo>
                <a:cubicBezTo>
                  <a:pt x="125341" y="46664"/>
                  <a:pt x="118319" y="34998"/>
                  <a:pt x="107820" y="25261"/>
                </a:cubicBezTo>
                <a:cubicBezTo>
                  <a:pt x="97253" y="15457"/>
                  <a:pt x="82738" y="7179"/>
                  <a:pt x="64611" y="7179"/>
                </a:cubicBezTo>
                <a:close/>
                <a:moveTo>
                  <a:pt x="32306" y="57432"/>
                </a:moveTo>
                <a:cubicBezTo>
                  <a:pt x="32306" y="39602"/>
                  <a:pt x="46781" y="25127"/>
                  <a:pt x="64611" y="25127"/>
                </a:cubicBezTo>
                <a:cubicBezTo>
                  <a:pt x="82441" y="25127"/>
                  <a:pt x="96917" y="39602"/>
                  <a:pt x="96917" y="57432"/>
                </a:cubicBezTo>
                <a:cubicBezTo>
                  <a:pt x="96917" y="75262"/>
                  <a:pt x="82441" y="89738"/>
                  <a:pt x="64611" y="89738"/>
                </a:cubicBezTo>
                <a:cubicBezTo>
                  <a:pt x="46781" y="89738"/>
                  <a:pt x="32306" y="75262"/>
                  <a:pt x="32306" y="57432"/>
                </a:cubicBezTo>
                <a:close/>
                <a:moveTo>
                  <a:pt x="64611" y="43074"/>
                </a:moveTo>
                <a:cubicBezTo>
                  <a:pt x="64611" y="50993"/>
                  <a:pt x="58172" y="57432"/>
                  <a:pt x="50253" y="57432"/>
                </a:cubicBezTo>
                <a:cubicBezTo>
                  <a:pt x="47673" y="57432"/>
                  <a:pt x="45250" y="56759"/>
                  <a:pt x="43141" y="55548"/>
                </a:cubicBezTo>
                <a:cubicBezTo>
                  <a:pt x="42917" y="57993"/>
                  <a:pt x="43119" y="60506"/>
                  <a:pt x="43792" y="62996"/>
                </a:cubicBezTo>
                <a:cubicBezTo>
                  <a:pt x="46865" y="74482"/>
                  <a:pt x="58688" y="81302"/>
                  <a:pt x="70175" y="78229"/>
                </a:cubicBezTo>
                <a:cubicBezTo>
                  <a:pt x="81661" y="75155"/>
                  <a:pt x="88481" y="63332"/>
                  <a:pt x="85408" y="51846"/>
                </a:cubicBezTo>
                <a:cubicBezTo>
                  <a:pt x="82671" y="41593"/>
                  <a:pt x="72957" y="35065"/>
                  <a:pt x="62727" y="35962"/>
                </a:cubicBezTo>
                <a:cubicBezTo>
                  <a:pt x="63916" y="38049"/>
                  <a:pt x="64611" y="40472"/>
                  <a:pt x="64611" y="4307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116725" lIns="116725" spcFirstLastPara="1" rIns="116725" wrap="square" tIns="116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7"/>
          <p:cNvSpPr/>
          <p:nvPr/>
        </p:nvSpPr>
        <p:spPr>
          <a:xfrm>
            <a:off x="650767" y="4564771"/>
            <a:ext cx="314440" cy="314440"/>
          </a:xfrm>
          <a:custGeom>
            <a:rect b="b" l="l" r="r" t="t"/>
            <a:pathLst>
              <a:path extrusionOk="0" h="246137" w="246137">
                <a:moveTo>
                  <a:pt x="0" y="0"/>
                </a:moveTo>
                <a:lnTo>
                  <a:pt x="246137" y="0"/>
                </a:lnTo>
                <a:lnTo>
                  <a:pt x="246137" y="246137"/>
                </a:lnTo>
                <a:lnTo>
                  <a:pt x="0" y="246137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cap="flat" cmpd="sng" w="3245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29736" rotWithShape="0" algn="bl" dir="2700000" dist="62859">
              <a:srgbClr val="2D3436"/>
            </a:outerShdw>
          </a:effectLst>
        </p:spPr>
      </p:sp>
      <p:sp>
        <p:nvSpPr>
          <p:cNvPr id="473" name="Google Shape;473;p17"/>
          <p:cNvSpPr/>
          <p:nvPr/>
        </p:nvSpPr>
        <p:spPr>
          <a:xfrm>
            <a:off x="1086188" y="4596437"/>
            <a:ext cx="35241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2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It picks one AP to </a:t>
            </a:r>
            <a:r>
              <a:rPr b="1" lang="en-US" sz="132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authenticate and associate</a:t>
            </a:r>
            <a:r>
              <a:rPr lang="en-US" sz="1320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to</a:t>
            </a:r>
            <a:endParaRPr b="0" i="0" sz="2043" u="none" cap="none" strike="noStrike"/>
          </a:p>
        </p:txBody>
      </p:sp>
      <p:sp>
        <p:nvSpPr>
          <p:cNvPr id="474" name="Google Shape;474;p17"/>
          <p:cNvSpPr/>
          <p:nvPr/>
        </p:nvSpPr>
        <p:spPr>
          <a:xfrm>
            <a:off x="703129" y="4638289"/>
            <a:ext cx="209700" cy="167400"/>
          </a:xfrm>
          <a:prstGeom prst="flowChar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5F5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18"/>
          <p:cNvSpPr/>
          <p:nvPr/>
        </p:nvSpPr>
        <p:spPr>
          <a:xfrm rot="-719078">
            <a:off x="9590419" y="572188"/>
            <a:ext cx="1704391" cy="1704391"/>
          </a:xfrm>
          <a:custGeom>
            <a:rect b="b" l="l" r="r" t="t"/>
            <a:pathLst>
              <a:path extrusionOk="0" h="1705617" w="1705617">
                <a:moveTo>
                  <a:pt x="0" y="0"/>
                </a:moveTo>
                <a:lnTo>
                  <a:pt x="1705617" y="0"/>
                </a:lnTo>
                <a:lnTo>
                  <a:pt x="1705617" y="1705617"/>
                </a:lnTo>
                <a:lnTo>
                  <a:pt x="0" y="1705617"/>
                </a:lnTo>
                <a:lnTo>
                  <a:pt x="0" y="0"/>
                </a:lnTo>
                <a:close/>
              </a:path>
            </a:pathLst>
          </a:custGeom>
          <a:solidFill>
            <a:srgbClr val="4ECDC4">
              <a:alpha val="20000"/>
            </a:srgbClr>
          </a:solidFill>
          <a:ln cap="flat" cmpd="sng" w="381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1" name="Google Shape;481;p18"/>
          <p:cNvSpPr/>
          <p:nvPr/>
        </p:nvSpPr>
        <p:spPr>
          <a:xfrm rot="2700000">
            <a:off x="1038157" y="2985881"/>
            <a:ext cx="1995507" cy="1995507"/>
          </a:xfrm>
          <a:custGeom>
            <a:rect b="b" l="l" r="r" t="t"/>
            <a:pathLst>
              <a:path extrusionOk="0" h="1994398" w="1994398">
                <a:moveTo>
                  <a:pt x="0" y="0"/>
                </a:moveTo>
                <a:lnTo>
                  <a:pt x="1994398" y="0"/>
                </a:lnTo>
                <a:lnTo>
                  <a:pt x="1994398" y="1994398"/>
                </a:lnTo>
                <a:lnTo>
                  <a:pt x="0" y="1994398"/>
                </a:lnTo>
                <a:lnTo>
                  <a:pt x="0" y="0"/>
                </a:lnTo>
                <a:close/>
              </a:path>
            </a:pathLst>
          </a:custGeom>
          <a:solidFill>
            <a:srgbClr val="FFE66D">
              <a:alpha val="20000"/>
            </a:srgbClr>
          </a:solidFill>
          <a:ln cap="flat" cmpd="sng" w="381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2" name="Google Shape;482;p18"/>
          <p:cNvSpPr/>
          <p:nvPr/>
        </p:nvSpPr>
        <p:spPr>
          <a:xfrm rot="2700000">
            <a:off x="583611" y="4734385"/>
            <a:ext cx="695267" cy="695267"/>
          </a:xfrm>
          <a:custGeom>
            <a:rect b="b" l="l" r="r" t="t"/>
            <a:pathLst>
              <a:path extrusionOk="0" h="694881" w="694881">
                <a:moveTo>
                  <a:pt x="0" y="0"/>
                </a:moveTo>
                <a:lnTo>
                  <a:pt x="694881" y="0"/>
                </a:lnTo>
                <a:lnTo>
                  <a:pt x="694881" y="694881"/>
                </a:lnTo>
                <a:lnTo>
                  <a:pt x="0" y="694881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cap="flat" cmpd="sng" w="381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4147">
              <a:srgbClr val="2D3436"/>
            </a:outerShdw>
          </a:effectLst>
        </p:spPr>
      </p:sp>
      <p:sp>
        <p:nvSpPr>
          <p:cNvPr id="483" name="Google Shape;483;p18"/>
          <p:cNvSpPr/>
          <p:nvPr/>
        </p:nvSpPr>
        <p:spPr>
          <a:xfrm rot="-720000">
            <a:off x="11286549" y="248621"/>
            <a:ext cx="550490" cy="550490"/>
          </a:xfrm>
          <a:custGeom>
            <a:rect b="b" l="l" r="r" t="t"/>
            <a:pathLst>
              <a:path extrusionOk="0" h="550490" w="550490">
                <a:moveTo>
                  <a:pt x="0" y="0"/>
                </a:moveTo>
                <a:lnTo>
                  <a:pt x="550490" y="0"/>
                </a:lnTo>
                <a:lnTo>
                  <a:pt x="550490" y="550490"/>
                </a:lnTo>
                <a:lnTo>
                  <a:pt x="0" y="55049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cap="flat" cmpd="sng" w="381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4147">
              <a:srgbClr val="2D3436"/>
            </a:outerShdw>
          </a:effectLst>
        </p:spPr>
      </p:sp>
      <p:sp>
        <p:nvSpPr>
          <p:cNvPr id="484" name="Google Shape;484;p18"/>
          <p:cNvSpPr/>
          <p:nvPr/>
        </p:nvSpPr>
        <p:spPr>
          <a:xfrm>
            <a:off x="2071557" y="1987403"/>
            <a:ext cx="8049788" cy="2084642"/>
          </a:xfrm>
          <a:custGeom>
            <a:rect b="b" l="l" r="r" t="t"/>
            <a:pathLst>
              <a:path extrusionOk="0" h="2084642" w="8049788">
                <a:moveTo>
                  <a:pt x="0" y="0"/>
                </a:moveTo>
                <a:lnTo>
                  <a:pt x="8049788" y="0"/>
                </a:lnTo>
                <a:lnTo>
                  <a:pt x="8049788" y="2084642"/>
                </a:lnTo>
                <a:lnTo>
                  <a:pt x="0" y="208464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flat" cmpd="sng" w="508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4147">
              <a:srgbClr val="2D3436"/>
            </a:outerShdw>
          </a:effectLst>
        </p:spPr>
      </p:sp>
      <p:sp>
        <p:nvSpPr>
          <p:cNvPr id="485" name="Google Shape;485;p18"/>
          <p:cNvSpPr/>
          <p:nvPr/>
        </p:nvSpPr>
        <p:spPr>
          <a:xfrm>
            <a:off x="2252046" y="2222038"/>
            <a:ext cx="7688700" cy="70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5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Wake-Up Radio technology </a:t>
            </a:r>
            <a:r>
              <a:rPr b="1" i="0" lang="en-US" sz="1705" u="none" cap="none" strike="noStrike">
                <a:solidFill>
                  <a:srgbClr val="2D3436"/>
                </a:solidFill>
                <a:highlight>
                  <a:srgbClr val="FFE66D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breaks the fundamental power-range tradeoff </a:t>
            </a:r>
            <a:r>
              <a:rPr b="0" i="0" lang="en-US" sz="1705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enabling always-connected devices that last for years on a single battery.</a:t>
            </a:r>
            <a:endParaRPr b="0" i="0" sz="1600" u="none" cap="none" strike="noStrike"/>
          </a:p>
        </p:txBody>
      </p:sp>
      <p:sp>
        <p:nvSpPr>
          <p:cNvPr id="486" name="Google Shape;486;p18"/>
          <p:cNvSpPr/>
          <p:nvPr/>
        </p:nvSpPr>
        <p:spPr>
          <a:xfrm>
            <a:off x="2306192" y="3150827"/>
            <a:ext cx="7580518" cy="36098"/>
          </a:xfrm>
          <a:custGeom>
            <a:rect b="b" l="l" r="r" t="t"/>
            <a:pathLst>
              <a:path extrusionOk="0" h="36098" w="7580518">
                <a:moveTo>
                  <a:pt x="0" y="0"/>
                </a:moveTo>
                <a:lnTo>
                  <a:pt x="7580518" y="0"/>
                </a:lnTo>
                <a:lnTo>
                  <a:pt x="7580518" y="36098"/>
                </a:lnTo>
                <a:lnTo>
                  <a:pt x="0" y="36098"/>
                </a:lnTo>
                <a:lnTo>
                  <a:pt x="0" y="0"/>
                </a:lnTo>
                <a:close/>
              </a:path>
            </a:pathLst>
          </a:custGeom>
          <a:solidFill>
            <a:srgbClr val="2D3436"/>
          </a:solidFill>
          <a:ln>
            <a:noFill/>
          </a:ln>
        </p:spPr>
      </p:sp>
      <p:sp>
        <p:nvSpPr>
          <p:cNvPr id="487" name="Google Shape;487;p18"/>
          <p:cNvSpPr/>
          <p:nvPr/>
        </p:nvSpPr>
        <p:spPr>
          <a:xfrm>
            <a:off x="2261070" y="3250823"/>
            <a:ext cx="7670700" cy="58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1" u="none" cap="none" strike="noStrike">
                <a:solidFill>
                  <a:srgbClr val="FFFFFF"/>
                </a:solidFill>
                <a:highlight>
                  <a:srgbClr val="4ECDC4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IEEE 802.11ba </a:t>
            </a:r>
            <a:r>
              <a:rPr b="0" i="0" lang="en-US" sz="1421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represents a paradigm shift in wireless communication design</a:t>
            </a:r>
            <a:endParaRPr b="0" i="0" sz="1600" u="none" cap="none" strike="noStrike"/>
          </a:p>
        </p:txBody>
      </p:sp>
      <p:sp>
        <p:nvSpPr>
          <p:cNvPr id="488" name="Google Shape;488;p18"/>
          <p:cNvSpPr/>
          <p:nvPr/>
        </p:nvSpPr>
        <p:spPr>
          <a:xfrm>
            <a:off x="3161557" y="4324730"/>
            <a:ext cx="1786836" cy="1173175"/>
          </a:xfrm>
          <a:custGeom>
            <a:rect b="b" l="l" r="r" t="t"/>
            <a:pathLst>
              <a:path extrusionOk="0" h="1173175" w="1786836">
                <a:moveTo>
                  <a:pt x="0" y="0"/>
                </a:moveTo>
                <a:lnTo>
                  <a:pt x="1786836" y="0"/>
                </a:lnTo>
                <a:lnTo>
                  <a:pt x="1786836" y="1173175"/>
                </a:lnTo>
                <a:lnTo>
                  <a:pt x="0" y="1173175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cap="flat" cmpd="sng" w="508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4147">
              <a:srgbClr val="2D3436"/>
            </a:outerShdw>
          </a:effectLst>
        </p:spPr>
      </p:sp>
      <p:sp>
        <p:nvSpPr>
          <p:cNvPr id="489" name="Google Shape;489;p18"/>
          <p:cNvSpPr/>
          <p:nvPr/>
        </p:nvSpPr>
        <p:spPr>
          <a:xfrm>
            <a:off x="3922467" y="4487169"/>
            <a:ext cx="270733" cy="270733"/>
          </a:xfrm>
          <a:custGeom>
            <a:rect b="b" l="l" r="r" t="t"/>
            <a:pathLst>
              <a:path extrusionOk="0" h="270733" w="270733">
                <a:moveTo>
                  <a:pt x="249212" y="3543"/>
                </a:moveTo>
                <a:cubicBezTo>
                  <a:pt x="252596" y="317"/>
                  <a:pt x="257513" y="-846"/>
                  <a:pt x="262061" y="635"/>
                </a:cubicBezTo>
                <a:cubicBezTo>
                  <a:pt x="267243" y="2379"/>
                  <a:pt x="270733" y="7244"/>
                  <a:pt x="270733" y="12691"/>
                </a:cubicBezTo>
                <a:lnTo>
                  <a:pt x="270733" y="111519"/>
                </a:lnTo>
                <a:cubicBezTo>
                  <a:pt x="270733" y="180894"/>
                  <a:pt x="213572" y="236891"/>
                  <a:pt x="144461" y="236891"/>
                </a:cubicBezTo>
                <a:cubicBezTo>
                  <a:pt x="103746" y="236891"/>
                  <a:pt x="68635" y="210717"/>
                  <a:pt x="55892" y="174126"/>
                </a:cubicBezTo>
                <a:cubicBezTo>
                  <a:pt x="37173" y="190412"/>
                  <a:pt x="25381" y="214365"/>
                  <a:pt x="25381" y="241121"/>
                </a:cubicBezTo>
                <a:cubicBezTo>
                  <a:pt x="25381" y="248154"/>
                  <a:pt x="19723" y="253812"/>
                  <a:pt x="12691" y="253812"/>
                </a:cubicBezTo>
                <a:cubicBezTo>
                  <a:pt x="5658" y="253812"/>
                  <a:pt x="0" y="248154"/>
                  <a:pt x="0" y="241121"/>
                </a:cubicBezTo>
                <a:cubicBezTo>
                  <a:pt x="0" y="201516"/>
                  <a:pt x="20199" y="166617"/>
                  <a:pt x="50815" y="146101"/>
                </a:cubicBezTo>
                <a:cubicBezTo>
                  <a:pt x="69481" y="133621"/>
                  <a:pt x="91742" y="126906"/>
                  <a:pt x="114215" y="126906"/>
                </a:cubicBezTo>
                <a:lnTo>
                  <a:pt x="156517" y="126906"/>
                </a:lnTo>
                <a:cubicBezTo>
                  <a:pt x="163550" y="126906"/>
                  <a:pt x="169208" y="121248"/>
                  <a:pt x="169208" y="114215"/>
                </a:cubicBezTo>
                <a:cubicBezTo>
                  <a:pt x="169208" y="107183"/>
                  <a:pt x="163550" y="101525"/>
                  <a:pt x="156517" y="101525"/>
                </a:cubicBezTo>
                <a:lnTo>
                  <a:pt x="114215" y="101525"/>
                </a:lnTo>
                <a:cubicBezTo>
                  <a:pt x="93223" y="101525"/>
                  <a:pt x="73341" y="106178"/>
                  <a:pt x="55521" y="114480"/>
                </a:cubicBezTo>
                <a:cubicBezTo>
                  <a:pt x="67842" y="77466"/>
                  <a:pt x="102688" y="50762"/>
                  <a:pt x="143827" y="50762"/>
                </a:cubicBezTo>
                <a:cubicBezTo>
                  <a:pt x="178937" y="50762"/>
                  <a:pt x="205059" y="39076"/>
                  <a:pt x="222456" y="27496"/>
                </a:cubicBezTo>
                <a:cubicBezTo>
                  <a:pt x="232608" y="20728"/>
                  <a:pt x="241227" y="12638"/>
                  <a:pt x="249265" y="354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18"/>
          <p:cNvSpPr/>
          <p:nvPr/>
        </p:nvSpPr>
        <p:spPr>
          <a:xfrm>
            <a:off x="3278875" y="4830097"/>
            <a:ext cx="1552200" cy="2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1" u="none" cap="none" strike="noStrike">
                <a:solidFill>
                  <a:srgbClr val="FFFFFF"/>
                </a:solidFill>
                <a:latin typeface="Coda"/>
                <a:ea typeface="Coda"/>
                <a:cs typeface="Coda"/>
                <a:sym typeface="Coda"/>
              </a:rPr>
              <a:t>Ultra Low Power</a:t>
            </a:r>
            <a:endParaRPr b="0" i="0" sz="1600" u="none" cap="none" strike="noStrike"/>
          </a:p>
        </p:txBody>
      </p:sp>
      <p:sp>
        <p:nvSpPr>
          <p:cNvPr id="491" name="Google Shape;491;p18"/>
          <p:cNvSpPr/>
          <p:nvPr/>
        </p:nvSpPr>
        <p:spPr>
          <a:xfrm>
            <a:off x="3287899" y="5118879"/>
            <a:ext cx="1534200" cy="21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37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&lt;1 mW consumption</a:t>
            </a:r>
            <a:endParaRPr b="0" i="0" sz="1600" u="none" cap="none" strike="noStrike"/>
          </a:p>
        </p:txBody>
      </p:sp>
      <p:sp>
        <p:nvSpPr>
          <p:cNvPr id="492" name="Google Shape;492;p18"/>
          <p:cNvSpPr/>
          <p:nvPr/>
        </p:nvSpPr>
        <p:spPr>
          <a:xfrm>
            <a:off x="5202431" y="4324730"/>
            <a:ext cx="1786836" cy="1173175"/>
          </a:xfrm>
          <a:custGeom>
            <a:rect b="b" l="l" r="r" t="t"/>
            <a:pathLst>
              <a:path extrusionOk="0" h="1173175" w="1786836">
                <a:moveTo>
                  <a:pt x="0" y="0"/>
                </a:moveTo>
                <a:lnTo>
                  <a:pt x="1786836" y="0"/>
                </a:lnTo>
                <a:lnTo>
                  <a:pt x="1786836" y="1173175"/>
                </a:lnTo>
                <a:lnTo>
                  <a:pt x="0" y="1173175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cap="flat" cmpd="sng" w="508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4147">
              <a:srgbClr val="2D3436"/>
            </a:outerShdw>
          </a:effectLst>
        </p:spPr>
      </p:sp>
      <p:sp>
        <p:nvSpPr>
          <p:cNvPr id="493" name="Google Shape;493;p18"/>
          <p:cNvSpPr/>
          <p:nvPr/>
        </p:nvSpPr>
        <p:spPr>
          <a:xfrm>
            <a:off x="5963341" y="4487169"/>
            <a:ext cx="270733" cy="270733"/>
          </a:xfrm>
          <a:custGeom>
            <a:rect b="b" l="l" r="r" t="t"/>
            <a:pathLst>
              <a:path extrusionOk="0" h="270733" w="270733">
                <a:moveTo>
                  <a:pt x="270733" y="50762"/>
                </a:moveTo>
                <a:cubicBezTo>
                  <a:pt x="270733" y="77307"/>
                  <a:pt x="239482" y="116912"/>
                  <a:pt x="225998" y="132723"/>
                </a:cubicBezTo>
                <a:cubicBezTo>
                  <a:pt x="223989" y="135049"/>
                  <a:pt x="221028" y="135948"/>
                  <a:pt x="218331" y="135366"/>
                </a:cubicBezTo>
                <a:lnTo>
                  <a:pt x="169208" y="135366"/>
                </a:lnTo>
                <a:cubicBezTo>
                  <a:pt x="159849" y="135366"/>
                  <a:pt x="152287" y="142928"/>
                  <a:pt x="152287" y="152287"/>
                </a:cubicBezTo>
                <a:cubicBezTo>
                  <a:pt x="152287" y="161647"/>
                  <a:pt x="159849" y="169208"/>
                  <a:pt x="169208" y="169208"/>
                </a:cubicBezTo>
                <a:lnTo>
                  <a:pt x="219970" y="169208"/>
                </a:lnTo>
                <a:cubicBezTo>
                  <a:pt x="247995" y="169208"/>
                  <a:pt x="270733" y="191945"/>
                  <a:pt x="270733" y="219970"/>
                </a:cubicBezTo>
                <a:cubicBezTo>
                  <a:pt x="270733" y="247995"/>
                  <a:pt x="247995" y="270733"/>
                  <a:pt x="219970" y="270733"/>
                </a:cubicBezTo>
                <a:lnTo>
                  <a:pt x="73817" y="270733"/>
                </a:lnTo>
                <a:cubicBezTo>
                  <a:pt x="78417" y="265498"/>
                  <a:pt x="84022" y="258782"/>
                  <a:pt x="89680" y="251274"/>
                </a:cubicBezTo>
                <a:cubicBezTo>
                  <a:pt x="93012" y="246832"/>
                  <a:pt x="96449" y="241967"/>
                  <a:pt x="99727" y="236891"/>
                </a:cubicBezTo>
                <a:lnTo>
                  <a:pt x="219970" y="236891"/>
                </a:lnTo>
                <a:cubicBezTo>
                  <a:pt x="229330" y="236891"/>
                  <a:pt x="236891" y="229330"/>
                  <a:pt x="236891" y="219970"/>
                </a:cubicBezTo>
                <a:cubicBezTo>
                  <a:pt x="236891" y="210611"/>
                  <a:pt x="229330" y="203050"/>
                  <a:pt x="219970" y="203050"/>
                </a:cubicBezTo>
                <a:lnTo>
                  <a:pt x="169208" y="203050"/>
                </a:lnTo>
                <a:cubicBezTo>
                  <a:pt x="141183" y="203050"/>
                  <a:pt x="118446" y="180312"/>
                  <a:pt x="118446" y="152287"/>
                </a:cubicBezTo>
                <a:cubicBezTo>
                  <a:pt x="118446" y="124262"/>
                  <a:pt x="141183" y="101525"/>
                  <a:pt x="169208" y="101525"/>
                </a:cubicBezTo>
                <a:lnTo>
                  <a:pt x="190253" y="101525"/>
                </a:lnTo>
                <a:cubicBezTo>
                  <a:pt x="179149" y="84868"/>
                  <a:pt x="169208" y="65727"/>
                  <a:pt x="169208" y="50762"/>
                </a:cubicBezTo>
                <a:cubicBezTo>
                  <a:pt x="169208" y="22737"/>
                  <a:pt x="191945" y="0"/>
                  <a:pt x="219970" y="0"/>
                </a:cubicBezTo>
                <a:cubicBezTo>
                  <a:pt x="247995" y="0"/>
                  <a:pt x="270733" y="22737"/>
                  <a:pt x="270733" y="50762"/>
                </a:cubicBezTo>
                <a:close/>
                <a:moveTo>
                  <a:pt x="61920" y="258624"/>
                </a:moveTo>
                <a:cubicBezTo>
                  <a:pt x="59910" y="260898"/>
                  <a:pt x="58112" y="262907"/>
                  <a:pt x="56579" y="264599"/>
                </a:cubicBezTo>
                <a:lnTo>
                  <a:pt x="55627" y="265657"/>
                </a:lnTo>
                <a:lnTo>
                  <a:pt x="55521" y="265551"/>
                </a:lnTo>
                <a:cubicBezTo>
                  <a:pt x="52349" y="267983"/>
                  <a:pt x="47801" y="267666"/>
                  <a:pt x="44946" y="264599"/>
                </a:cubicBezTo>
                <a:cubicBezTo>
                  <a:pt x="31621" y="250111"/>
                  <a:pt x="0" y="212832"/>
                  <a:pt x="0" y="186129"/>
                </a:cubicBezTo>
                <a:cubicBezTo>
                  <a:pt x="0" y="158104"/>
                  <a:pt x="22737" y="135366"/>
                  <a:pt x="50762" y="135366"/>
                </a:cubicBezTo>
                <a:cubicBezTo>
                  <a:pt x="78787" y="135366"/>
                  <a:pt x="101525" y="158104"/>
                  <a:pt x="101525" y="186129"/>
                </a:cubicBezTo>
                <a:cubicBezTo>
                  <a:pt x="101525" y="201992"/>
                  <a:pt x="90368" y="221557"/>
                  <a:pt x="78523" y="237896"/>
                </a:cubicBezTo>
                <a:cubicBezTo>
                  <a:pt x="72865" y="245669"/>
                  <a:pt x="67049" y="252702"/>
                  <a:pt x="62237" y="258254"/>
                </a:cubicBezTo>
                <a:lnTo>
                  <a:pt x="61920" y="258624"/>
                </a:lnTo>
                <a:close/>
                <a:moveTo>
                  <a:pt x="67683" y="186129"/>
                </a:moveTo>
                <a:cubicBezTo>
                  <a:pt x="67683" y="176790"/>
                  <a:pt x="60101" y="169208"/>
                  <a:pt x="50762" y="169208"/>
                </a:cubicBezTo>
                <a:cubicBezTo>
                  <a:pt x="41424" y="169208"/>
                  <a:pt x="33842" y="176790"/>
                  <a:pt x="33842" y="186129"/>
                </a:cubicBezTo>
                <a:cubicBezTo>
                  <a:pt x="33842" y="195468"/>
                  <a:pt x="41424" y="203050"/>
                  <a:pt x="50762" y="203050"/>
                </a:cubicBezTo>
                <a:cubicBezTo>
                  <a:pt x="60101" y="203050"/>
                  <a:pt x="67683" y="195468"/>
                  <a:pt x="67683" y="186129"/>
                </a:cubicBezTo>
                <a:close/>
                <a:moveTo>
                  <a:pt x="219970" y="67683"/>
                </a:moveTo>
                <a:cubicBezTo>
                  <a:pt x="229309" y="67683"/>
                  <a:pt x="236891" y="60101"/>
                  <a:pt x="236891" y="50762"/>
                </a:cubicBezTo>
                <a:cubicBezTo>
                  <a:pt x="236891" y="41424"/>
                  <a:pt x="229309" y="33842"/>
                  <a:pt x="219970" y="33842"/>
                </a:cubicBezTo>
                <a:cubicBezTo>
                  <a:pt x="210632" y="33842"/>
                  <a:pt x="203050" y="41424"/>
                  <a:pt x="203050" y="50762"/>
                </a:cubicBezTo>
                <a:cubicBezTo>
                  <a:pt x="203050" y="60101"/>
                  <a:pt x="210632" y="67683"/>
                  <a:pt x="219970" y="6768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18"/>
          <p:cNvSpPr/>
          <p:nvPr/>
        </p:nvSpPr>
        <p:spPr>
          <a:xfrm>
            <a:off x="5319749" y="4830097"/>
            <a:ext cx="1552200" cy="2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1" u="none" cap="none" strike="noStrike">
                <a:solidFill>
                  <a:srgbClr val="FFFFFF"/>
                </a:solidFill>
                <a:latin typeface="Coda"/>
                <a:ea typeface="Coda"/>
                <a:cs typeface="Coda"/>
                <a:sym typeface="Coda"/>
              </a:rPr>
              <a:t>Full Range</a:t>
            </a:r>
            <a:endParaRPr b="0" i="0" sz="1600" u="none" cap="none" strike="noStrike"/>
          </a:p>
        </p:txBody>
      </p:sp>
      <p:sp>
        <p:nvSpPr>
          <p:cNvPr id="495" name="Google Shape;495;p18"/>
          <p:cNvSpPr/>
          <p:nvPr/>
        </p:nvSpPr>
        <p:spPr>
          <a:xfrm>
            <a:off x="5328773" y="5118879"/>
            <a:ext cx="1534200" cy="21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37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Whole-home coverage</a:t>
            </a:r>
            <a:endParaRPr b="0" i="0" sz="1600" u="none" cap="none" strike="noStrike"/>
          </a:p>
        </p:txBody>
      </p:sp>
      <p:sp>
        <p:nvSpPr>
          <p:cNvPr id="496" name="Google Shape;496;p18"/>
          <p:cNvSpPr/>
          <p:nvPr/>
        </p:nvSpPr>
        <p:spPr>
          <a:xfrm>
            <a:off x="7243305" y="4324730"/>
            <a:ext cx="1786836" cy="1173175"/>
          </a:xfrm>
          <a:custGeom>
            <a:rect b="b" l="l" r="r" t="t"/>
            <a:pathLst>
              <a:path extrusionOk="0" h="1173175" w="1786836">
                <a:moveTo>
                  <a:pt x="0" y="0"/>
                </a:moveTo>
                <a:lnTo>
                  <a:pt x="1786836" y="0"/>
                </a:lnTo>
                <a:lnTo>
                  <a:pt x="1786836" y="1173175"/>
                </a:lnTo>
                <a:lnTo>
                  <a:pt x="0" y="1173175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cap="flat" cmpd="sng" w="508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54147">
              <a:srgbClr val="2D3436"/>
            </a:outerShdw>
          </a:effectLst>
        </p:spPr>
      </p:sp>
      <p:sp>
        <p:nvSpPr>
          <p:cNvPr id="497" name="Google Shape;497;p18"/>
          <p:cNvSpPr/>
          <p:nvPr/>
        </p:nvSpPr>
        <p:spPr>
          <a:xfrm>
            <a:off x="8004215" y="4487169"/>
            <a:ext cx="270733" cy="270733"/>
          </a:xfrm>
          <a:custGeom>
            <a:rect b="b" l="l" r="r" t="t"/>
            <a:pathLst>
              <a:path extrusionOk="0" h="270733" w="270733">
                <a:moveTo>
                  <a:pt x="135366" y="0"/>
                </a:moveTo>
                <a:cubicBezTo>
                  <a:pt x="210077" y="0"/>
                  <a:pt x="270733" y="60656"/>
                  <a:pt x="270733" y="135366"/>
                </a:cubicBezTo>
                <a:cubicBezTo>
                  <a:pt x="270733" y="210077"/>
                  <a:pt x="210077" y="270733"/>
                  <a:pt x="135366" y="270733"/>
                </a:cubicBezTo>
                <a:cubicBezTo>
                  <a:pt x="60656" y="270733"/>
                  <a:pt x="0" y="210077"/>
                  <a:pt x="0" y="135366"/>
                </a:cubicBezTo>
                <a:cubicBezTo>
                  <a:pt x="0" y="60656"/>
                  <a:pt x="60656" y="0"/>
                  <a:pt x="135366" y="0"/>
                </a:cubicBezTo>
                <a:close/>
                <a:moveTo>
                  <a:pt x="122676" y="63453"/>
                </a:moveTo>
                <a:lnTo>
                  <a:pt x="122676" y="135366"/>
                </a:lnTo>
                <a:cubicBezTo>
                  <a:pt x="122676" y="139597"/>
                  <a:pt x="124791" y="143562"/>
                  <a:pt x="128334" y="145942"/>
                </a:cubicBezTo>
                <a:lnTo>
                  <a:pt x="179096" y="179783"/>
                </a:lnTo>
                <a:cubicBezTo>
                  <a:pt x="184913" y="183696"/>
                  <a:pt x="192791" y="182110"/>
                  <a:pt x="196704" y="176241"/>
                </a:cubicBezTo>
                <a:cubicBezTo>
                  <a:pt x="200617" y="170371"/>
                  <a:pt x="199031" y="162545"/>
                  <a:pt x="193162" y="158632"/>
                </a:cubicBezTo>
                <a:lnTo>
                  <a:pt x="148057" y="128598"/>
                </a:lnTo>
                <a:lnTo>
                  <a:pt x="148057" y="63453"/>
                </a:lnTo>
                <a:cubicBezTo>
                  <a:pt x="148057" y="56420"/>
                  <a:pt x="142399" y="50762"/>
                  <a:pt x="135366" y="50762"/>
                </a:cubicBezTo>
                <a:cubicBezTo>
                  <a:pt x="128334" y="50762"/>
                  <a:pt x="122676" y="56420"/>
                  <a:pt x="122676" y="63453"/>
                </a:cubicBezTo>
                <a:close/>
              </a:path>
            </a:pathLst>
          </a:custGeom>
          <a:solidFill>
            <a:srgbClr val="2D34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18"/>
          <p:cNvSpPr/>
          <p:nvPr/>
        </p:nvSpPr>
        <p:spPr>
          <a:xfrm>
            <a:off x="7360623" y="4830097"/>
            <a:ext cx="1552200" cy="2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1" u="none" cap="none" strike="noStrike">
                <a:solidFill>
                  <a:srgbClr val="2D3436"/>
                </a:solidFill>
                <a:latin typeface="Coda"/>
                <a:ea typeface="Coda"/>
                <a:cs typeface="Coda"/>
                <a:sym typeface="Coda"/>
              </a:rPr>
              <a:t>Years of Life</a:t>
            </a:r>
            <a:endParaRPr b="0" i="0" sz="1600" u="none" cap="none" strike="noStrike"/>
          </a:p>
        </p:txBody>
      </p:sp>
      <p:sp>
        <p:nvSpPr>
          <p:cNvPr id="499" name="Google Shape;499;p18"/>
          <p:cNvSpPr/>
          <p:nvPr/>
        </p:nvSpPr>
        <p:spPr>
          <a:xfrm>
            <a:off x="7369647" y="5118879"/>
            <a:ext cx="1534200" cy="21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37" u="none" cap="none" strike="noStrike">
                <a:solidFill>
                  <a:srgbClr val="2D34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Extended battery life</a:t>
            </a:r>
            <a:endParaRPr b="0" i="0" sz="1600" u="none" cap="none" strike="noStrike"/>
          </a:p>
        </p:txBody>
      </p:sp>
      <p:sp>
        <p:nvSpPr>
          <p:cNvPr id="500" name="Google Shape;500;p18"/>
          <p:cNvSpPr/>
          <p:nvPr/>
        </p:nvSpPr>
        <p:spPr>
          <a:xfrm rot="-719078">
            <a:off x="11435179" y="6100632"/>
            <a:ext cx="500119" cy="500119"/>
          </a:xfrm>
          <a:custGeom>
            <a:rect b="b" l="l" r="r" t="t"/>
            <a:pathLst>
              <a:path extrusionOk="0" h="500479" w="500479">
                <a:moveTo>
                  <a:pt x="0" y="0"/>
                </a:moveTo>
                <a:lnTo>
                  <a:pt x="500479" y="0"/>
                </a:lnTo>
                <a:lnTo>
                  <a:pt x="500479" y="500479"/>
                </a:lnTo>
                <a:lnTo>
                  <a:pt x="0" y="500479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cap="flat" cmpd="sng" w="381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49227">
              <a:srgbClr val="2D3436"/>
            </a:outerShdw>
          </a:effectLst>
        </p:spPr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5F5"/>
        </a:solidFill>
      </p:bgPr>
    </p:bg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19"/>
          <p:cNvSpPr/>
          <p:nvPr/>
        </p:nvSpPr>
        <p:spPr>
          <a:xfrm>
            <a:off x="384516" y="498786"/>
            <a:ext cx="1198278" cy="352797"/>
          </a:xfrm>
          <a:custGeom>
            <a:rect b="b" l="l" r="r" t="t"/>
            <a:pathLst>
              <a:path extrusionOk="0" h="352797" w="1887052">
                <a:moveTo>
                  <a:pt x="0" y="0"/>
                </a:moveTo>
                <a:lnTo>
                  <a:pt x="1887052" y="0"/>
                </a:lnTo>
                <a:lnTo>
                  <a:pt x="1887052" y="352797"/>
                </a:lnTo>
                <a:lnTo>
                  <a:pt x="0" y="352797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cap="flat" cmpd="sng" w="381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49227">
              <a:srgbClr val="2D3436"/>
            </a:outerShdw>
          </a:effectLst>
        </p:spPr>
      </p:sp>
      <p:sp>
        <p:nvSpPr>
          <p:cNvPr id="507" name="Google Shape;507;p19"/>
          <p:cNvSpPr/>
          <p:nvPr/>
        </p:nvSpPr>
        <p:spPr>
          <a:xfrm>
            <a:off x="468558" y="580222"/>
            <a:ext cx="1661400" cy="1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34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References</a:t>
            </a:r>
            <a:endParaRPr b="0" i="0" sz="1834" u="none" cap="none" strike="noStrike"/>
          </a:p>
        </p:txBody>
      </p:sp>
      <p:sp>
        <p:nvSpPr>
          <p:cNvPr id="508" name="Google Shape;508;p19"/>
          <p:cNvSpPr/>
          <p:nvPr/>
        </p:nvSpPr>
        <p:spPr>
          <a:xfrm>
            <a:off x="424550" y="1247100"/>
            <a:ext cx="7362971" cy="1958022"/>
          </a:xfrm>
          <a:custGeom>
            <a:rect b="b" l="l" r="r" t="t"/>
            <a:pathLst>
              <a:path extrusionOk="0" h="3642832" w="5652953">
                <a:moveTo>
                  <a:pt x="0" y="0"/>
                </a:moveTo>
                <a:lnTo>
                  <a:pt x="5652953" y="0"/>
                </a:lnTo>
                <a:lnTo>
                  <a:pt x="5652953" y="3642832"/>
                </a:lnTo>
                <a:lnTo>
                  <a:pt x="0" y="364283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flat" cmpd="sng" w="6805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36127" rotWithShape="0" algn="bl" dir="2700000" dist="65956">
              <a:srgbClr val="2D3436"/>
            </a:outerShdw>
          </a:effectLst>
        </p:spPr>
      </p:sp>
      <p:sp>
        <p:nvSpPr>
          <p:cNvPr id="509" name="Google Shape;509;p19"/>
          <p:cNvSpPr/>
          <p:nvPr/>
        </p:nvSpPr>
        <p:spPr>
          <a:xfrm>
            <a:off x="693841" y="1598870"/>
            <a:ext cx="247368" cy="219883"/>
          </a:xfrm>
          <a:custGeom>
            <a:rect b="b" l="l" r="r" t="t"/>
            <a:pathLst>
              <a:path extrusionOk="0" h="164092" w="184603">
                <a:moveTo>
                  <a:pt x="92301" y="30767"/>
                </a:moveTo>
                <a:cubicBezTo>
                  <a:pt x="63169" y="30767"/>
                  <a:pt x="36792" y="42305"/>
                  <a:pt x="17403" y="61086"/>
                </a:cubicBezTo>
                <a:cubicBezTo>
                  <a:pt x="13332" y="65028"/>
                  <a:pt x="6826" y="64932"/>
                  <a:pt x="2916" y="60861"/>
                </a:cubicBezTo>
                <a:cubicBezTo>
                  <a:pt x="-994" y="56791"/>
                  <a:pt x="-929" y="50285"/>
                  <a:pt x="3141" y="46375"/>
                </a:cubicBezTo>
                <a:cubicBezTo>
                  <a:pt x="26184" y="24005"/>
                  <a:pt x="57656" y="10256"/>
                  <a:pt x="92301" y="10256"/>
                </a:cubicBezTo>
                <a:cubicBezTo>
                  <a:pt x="126947" y="10256"/>
                  <a:pt x="158419" y="24005"/>
                  <a:pt x="181494" y="46375"/>
                </a:cubicBezTo>
                <a:cubicBezTo>
                  <a:pt x="185564" y="50317"/>
                  <a:pt x="185661" y="56823"/>
                  <a:pt x="181719" y="60861"/>
                </a:cubicBezTo>
                <a:cubicBezTo>
                  <a:pt x="177776" y="64899"/>
                  <a:pt x="171271" y="65028"/>
                  <a:pt x="167232" y="61086"/>
                </a:cubicBezTo>
                <a:cubicBezTo>
                  <a:pt x="147811" y="42305"/>
                  <a:pt x="121434" y="30767"/>
                  <a:pt x="92301" y="30767"/>
                </a:cubicBezTo>
                <a:close/>
                <a:moveTo>
                  <a:pt x="76918" y="138452"/>
                </a:moveTo>
                <a:cubicBezTo>
                  <a:pt x="76918" y="129962"/>
                  <a:pt x="83811" y="123069"/>
                  <a:pt x="92301" y="123069"/>
                </a:cubicBezTo>
                <a:cubicBezTo>
                  <a:pt x="100792" y="123069"/>
                  <a:pt x="107685" y="129962"/>
                  <a:pt x="107685" y="138452"/>
                </a:cubicBezTo>
                <a:cubicBezTo>
                  <a:pt x="107685" y="146943"/>
                  <a:pt x="100792" y="153836"/>
                  <a:pt x="92301" y="153836"/>
                </a:cubicBezTo>
                <a:cubicBezTo>
                  <a:pt x="83811" y="153836"/>
                  <a:pt x="76918" y="146943"/>
                  <a:pt x="76918" y="138452"/>
                </a:cubicBezTo>
                <a:close/>
                <a:moveTo>
                  <a:pt x="53843" y="104544"/>
                </a:moveTo>
                <a:cubicBezTo>
                  <a:pt x="50093" y="108807"/>
                  <a:pt x="43619" y="109191"/>
                  <a:pt x="39356" y="105442"/>
                </a:cubicBezTo>
                <a:cubicBezTo>
                  <a:pt x="35094" y="101692"/>
                  <a:pt x="34709" y="95218"/>
                  <a:pt x="38459" y="90955"/>
                </a:cubicBezTo>
                <a:cubicBezTo>
                  <a:pt x="51599" y="76085"/>
                  <a:pt x="70861" y="66662"/>
                  <a:pt x="92301" y="66662"/>
                </a:cubicBezTo>
                <a:cubicBezTo>
                  <a:pt x="113742" y="66662"/>
                  <a:pt x="133004" y="76085"/>
                  <a:pt x="146144" y="90955"/>
                </a:cubicBezTo>
                <a:cubicBezTo>
                  <a:pt x="149894" y="95218"/>
                  <a:pt x="149477" y="101692"/>
                  <a:pt x="145247" y="105442"/>
                </a:cubicBezTo>
                <a:cubicBezTo>
                  <a:pt x="141016" y="109191"/>
                  <a:pt x="134510" y="108775"/>
                  <a:pt x="130760" y="104544"/>
                </a:cubicBezTo>
                <a:cubicBezTo>
                  <a:pt x="121338" y="93872"/>
                  <a:pt x="107621" y="87174"/>
                  <a:pt x="92301" y="87174"/>
                </a:cubicBezTo>
                <a:cubicBezTo>
                  <a:pt x="76982" y="87174"/>
                  <a:pt x="63265" y="93872"/>
                  <a:pt x="53843" y="10454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122500" lIns="122500" spcFirstLastPara="1" rIns="122500" wrap="square" tIns="122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19"/>
          <p:cNvSpPr/>
          <p:nvPr/>
        </p:nvSpPr>
        <p:spPr>
          <a:xfrm>
            <a:off x="551618" y="1422351"/>
            <a:ext cx="329824" cy="329824"/>
          </a:xfrm>
          <a:custGeom>
            <a:rect b="b" l="l" r="r" t="t"/>
            <a:pathLst>
              <a:path extrusionOk="0" h="246137" w="246137">
                <a:moveTo>
                  <a:pt x="0" y="0"/>
                </a:moveTo>
                <a:lnTo>
                  <a:pt x="246137" y="0"/>
                </a:lnTo>
                <a:lnTo>
                  <a:pt x="246137" y="246137"/>
                </a:lnTo>
                <a:lnTo>
                  <a:pt x="0" y="2461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flat" cmpd="sng" w="34025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36127" rotWithShape="0" algn="bl" dir="2700000" dist="65956">
              <a:srgbClr val="2D3436"/>
            </a:outerShdw>
          </a:effectLst>
        </p:spPr>
      </p:sp>
      <p:sp>
        <p:nvSpPr>
          <p:cNvPr id="511" name="Google Shape;511;p19"/>
          <p:cNvSpPr/>
          <p:nvPr/>
        </p:nvSpPr>
        <p:spPr>
          <a:xfrm>
            <a:off x="690494" y="1477316"/>
            <a:ext cx="1317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11" u="none" cap="none" strike="noStrike">
                <a:solidFill>
                  <a:srgbClr val="FF6B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 b="0" i="0" sz="2144" u="none" cap="none" strike="noStrike"/>
          </a:p>
        </p:txBody>
      </p:sp>
      <p:sp>
        <p:nvSpPr>
          <p:cNvPr id="512" name="Google Shape;512;p19"/>
          <p:cNvSpPr/>
          <p:nvPr/>
        </p:nvSpPr>
        <p:spPr>
          <a:xfrm>
            <a:off x="551618" y="2284678"/>
            <a:ext cx="329824" cy="329824"/>
          </a:xfrm>
          <a:custGeom>
            <a:rect b="b" l="l" r="r" t="t"/>
            <a:pathLst>
              <a:path extrusionOk="0" h="246137" w="246137">
                <a:moveTo>
                  <a:pt x="0" y="0"/>
                </a:moveTo>
                <a:lnTo>
                  <a:pt x="246137" y="0"/>
                </a:lnTo>
                <a:lnTo>
                  <a:pt x="246137" y="246137"/>
                </a:lnTo>
                <a:lnTo>
                  <a:pt x="0" y="2461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flat" cmpd="sng" w="34025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36127" rotWithShape="0" algn="bl" dir="2700000" dist="65956">
              <a:srgbClr val="2D3436"/>
            </a:outerShdw>
          </a:effectLst>
        </p:spPr>
      </p:sp>
      <p:sp>
        <p:nvSpPr>
          <p:cNvPr id="513" name="Google Shape;513;p19"/>
          <p:cNvSpPr/>
          <p:nvPr/>
        </p:nvSpPr>
        <p:spPr>
          <a:xfrm>
            <a:off x="675837" y="2339642"/>
            <a:ext cx="1539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11" u="none" cap="none" strike="noStrike">
                <a:solidFill>
                  <a:srgbClr val="FF6B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 b="0" i="0" sz="2144" u="none" cap="none" strike="noStrike"/>
          </a:p>
        </p:txBody>
      </p:sp>
      <p:sp>
        <p:nvSpPr>
          <p:cNvPr id="514" name="Google Shape;514;p19"/>
          <p:cNvSpPr/>
          <p:nvPr/>
        </p:nvSpPr>
        <p:spPr>
          <a:xfrm>
            <a:off x="2961288" y="5523297"/>
            <a:ext cx="219883" cy="175906"/>
          </a:xfrm>
          <a:custGeom>
            <a:rect b="b" l="l" r="r" t="t"/>
            <a:pathLst>
              <a:path extrusionOk="0" h="131273" w="164092">
                <a:moveTo>
                  <a:pt x="135376" y="32818"/>
                </a:moveTo>
                <a:cubicBezTo>
                  <a:pt x="137632" y="32818"/>
                  <a:pt x="139478" y="34664"/>
                  <a:pt x="139478" y="36921"/>
                </a:cubicBezTo>
                <a:lnTo>
                  <a:pt x="139478" y="94353"/>
                </a:lnTo>
                <a:cubicBezTo>
                  <a:pt x="139478" y="96609"/>
                  <a:pt x="137632" y="98455"/>
                  <a:pt x="135376" y="98455"/>
                </a:cubicBezTo>
                <a:lnTo>
                  <a:pt x="28716" y="98455"/>
                </a:lnTo>
                <a:cubicBezTo>
                  <a:pt x="26460" y="98455"/>
                  <a:pt x="24614" y="96609"/>
                  <a:pt x="24614" y="94353"/>
                </a:cubicBezTo>
                <a:lnTo>
                  <a:pt x="24614" y="36921"/>
                </a:lnTo>
                <a:cubicBezTo>
                  <a:pt x="24614" y="34664"/>
                  <a:pt x="26460" y="32818"/>
                  <a:pt x="28716" y="32818"/>
                </a:cubicBezTo>
                <a:lnTo>
                  <a:pt x="135376" y="32818"/>
                </a:lnTo>
                <a:close/>
                <a:moveTo>
                  <a:pt x="28716" y="16409"/>
                </a:moveTo>
                <a:cubicBezTo>
                  <a:pt x="17383" y="16409"/>
                  <a:pt x="8205" y="25588"/>
                  <a:pt x="8205" y="36921"/>
                </a:cubicBezTo>
                <a:lnTo>
                  <a:pt x="8205" y="94353"/>
                </a:lnTo>
                <a:cubicBezTo>
                  <a:pt x="8205" y="105685"/>
                  <a:pt x="17383" y="114864"/>
                  <a:pt x="28716" y="114864"/>
                </a:cubicBezTo>
                <a:lnTo>
                  <a:pt x="135376" y="114864"/>
                </a:lnTo>
                <a:cubicBezTo>
                  <a:pt x="146708" y="114864"/>
                  <a:pt x="155887" y="105685"/>
                  <a:pt x="155887" y="94353"/>
                </a:cubicBezTo>
                <a:lnTo>
                  <a:pt x="155887" y="82046"/>
                </a:lnTo>
                <a:cubicBezTo>
                  <a:pt x="160425" y="82046"/>
                  <a:pt x="164092" y="78379"/>
                  <a:pt x="164092" y="73841"/>
                </a:cubicBezTo>
                <a:lnTo>
                  <a:pt x="164092" y="57432"/>
                </a:lnTo>
                <a:cubicBezTo>
                  <a:pt x="164092" y="52894"/>
                  <a:pt x="160425" y="49227"/>
                  <a:pt x="155887" y="49227"/>
                </a:cubicBezTo>
                <a:lnTo>
                  <a:pt x="155887" y="36921"/>
                </a:lnTo>
                <a:cubicBezTo>
                  <a:pt x="155887" y="25588"/>
                  <a:pt x="146708" y="16409"/>
                  <a:pt x="135376" y="16409"/>
                </a:cubicBezTo>
                <a:lnTo>
                  <a:pt x="28716" y="16409"/>
                </a:lnTo>
                <a:close/>
                <a:moveTo>
                  <a:pt x="43074" y="45125"/>
                </a:moveTo>
                <a:cubicBezTo>
                  <a:pt x="39664" y="45125"/>
                  <a:pt x="36921" y="47869"/>
                  <a:pt x="36921" y="51279"/>
                </a:cubicBezTo>
                <a:lnTo>
                  <a:pt x="36921" y="79995"/>
                </a:lnTo>
                <a:cubicBezTo>
                  <a:pt x="36921" y="83405"/>
                  <a:pt x="39664" y="86148"/>
                  <a:pt x="43074" y="86148"/>
                </a:cubicBezTo>
                <a:lnTo>
                  <a:pt x="59483" y="86148"/>
                </a:lnTo>
                <a:cubicBezTo>
                  <a:pt x="62893" y="86148"/>
                  <a:pt x="65637" y="83405"/>
                  <a:pt x="65637" y="79995"/>
                </a:cubicBezTo>
                <a:lnTo>
                  <a:pt x="65637" y="51279"/>
                </a:lnTo>
                <a:cubicBezTo>
                  <a:pt x="65637" y="47869"/>
                  <a:pt x="62893" y="45125"/>
                  <a:pt x="59483" y="45125"/>
                </a:cubicBezTo>
                <a:lnTo>
                  <a:pt x="43074" y="4512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122500" lIns="122500" spcFirstLastPara="1" rIns="122500" wrap="square" tIns="122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19"/>
          <p:cNvSpPr txBox="1"/>
          <p:nvPr/>
        </p:nvSpPr>
        <p:spPr>
          <a:xfrm>
            <a:off x="921125" y="1360724"/>
            <a:ext cx="6667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Deng, D.-J., Lien, S.-Y., Lin, C.-C., Gan, M., &amp; Chen, H.-C. (2020).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/>
              <a:t>IEEE 802.11ba wake-up radio: Performance evaluation and practical designs</a:t>
            </a:r>
            <a:r>
              <a:rPr lang="en-US"/>
              <a:t>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https://doi.org/10.1109/ACCESS.2020.3013023</a:t>
            </a:r>
            <a:endParaRPr/>
          </a:p>
        </p:txBody>
      </p:sp>
      <p:sp>
        <p:nvSpPr>
          <p:cNvPr id="516" name="Google Shape;516;p19"/>
          <p:cNvSpPr txBox="1"/>
          <p:nvPr/>
        </p:nvSpPr>
        <p:spPr>
          <a:xfrm>
            <a:off x="941200" y="2192025"/>
            <a:ext cx="5981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Google Nest Protect Technical Specs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https://support.google.com/googlenest/answer/9229922?hl=en#zippy=%2Cnd-gen-nest-protect</a:t>
            </a:r>
            <a:endParaRPr/>
          </a:p>
        </p:txBody>
      </p:sp>
      <p:sp>
        <p:nvSpPr>
          <p:cNvPr id="517" name="Google Shape;517;p19"/>
          <p:cNvSpPr/>
          <p:nvPr/>
        </p:nvSpPr>
        <p:spPr>
          <a:xfrm rot="-719078">
            <a:off x="11435179" y="6100632"/>
            <a:ext cx="500119" cy="500119"/>
          </a:xfrm>
          <a:custGeom>
            <a:rect b="b" l="l" r="r" t="t"/>
            <a:pathLst>
              <a:path extrusionOk="0" h="500479" w="500479">
                <a:moveTo>
                  <a:pt x="0" y="0"/>
                </a:moveTo>
                <a:lnTo>
                  <a:pt x="500479" y="0"/>
                </a:lnTo>
                <a:lnTo>
                  <a:pt x="500479" y="500479"/>
                </a:lnTo>
                <a:lnTo>
                  <a:pt x="0" y="500479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cap="flat" cmpd="sng" w="38100">
            <a:solidFill>
              <a:srgbClr val="2D343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49227">
              <a:srgbClr val="2D3436"/>
            </a:outerShdw>
          </a:effectLst>
        </p:spPr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